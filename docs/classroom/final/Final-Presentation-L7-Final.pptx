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29ca2a352794cec" /><Relationship Type="http://schemas.openxmlformats.org/officeDocument/2006/relationships/extended-properties" Target="/docProps/app.xml" Id="Rb705ec883c674b4f" /><Relationship Type="http://schemas.openxmlformats.org/officeDocument/2006/relationships/officeDocument" Target="/ppt/presentation.xml" Id="R471ac2c01ec54167" /></Relationships>
</file>

<file path=ppt/presentation.xml><?xml version="1.0" encoding="utf-8"?>
<p:presentation xmlns:p="http://schemas.openxmlformats.org/presentationml/2006/main">
  <p:sldMasterIdLst>
    <p:sldMasterId xmlns:r="http://schemas.openxmlformats.org/officeDocument/2006/relationships" id="2147483648" r:id="Rf0b5de5cc8404117"/>
  </p:sldMasterIdLst>
  <p:notesMasterIdLst>
    <p:notesMasterId xmlns:r="http://schemas.openxmlformats.org/officeDocument/2006/relationships" r:id="R97adba1be8d74392"/>
  </p:notesMasterIdLst>
  <p:sldIdLst>
    <p:sldId xmlns:r="http://schemas.openxmlformats.org/officeDocument/2006/relationships" id="256" r:id="R61d51d72f0044f7e"/>
    <p:sldId xmlns:r="http://schemas.openxmlformats.org/officeDocument/2006/relationships" id="257" r:id="Rdbe7a62b47134b00"/>
    <p:sldId xmlns:r="http://schemas.openxmlformats.org/officeDocument/2006/relationships" id="258" r:id="R87ccbe187c544548"/>
    <p:sldId xmlns:r="http://schemas.openxmlformats.org/officeDocument/2006/relationships" id="259" r:id="R93b43c7cb0ea4d60"/>
    <p:sldId xmlns:r="http://schemas.openxmlformats.org/officeDocument/2006/relationships" id="260" r:id="R36f40b4cfa6544d8"/>
    <p:sldId xmlns:r="http://schemas.openxmlformats.org/officeDocument/2006/relationships" id="261" r:id="Rdc227cfd22324c2f"/>
    <p:sldId xmlns:r="http://schemas.openxmlformats.org/officeDocument/2006/relationships" id="262" r:id="R84554e4c8dd545d0"/>
    <p:sldId xmlns:r="http://schemas.openxmlformats.org/officeDocument/2006/relationships" id="263" r:id="R78259e4cf1014a64"/>
    <p:sldId xmlns:r="http://schemas.openxmlformats.org/officeDocument/2006/relationships" id="264" r:id="R5078f6f8b00949b5"/>
    <p:sldId xmlns:r="http://schemas.openxmlformats.org/officeDocument/2006/relationships" id="265" r:id="Rea8d6d73667046bc"/>
    <p:sldId xmlns:r="http://schemas.openxmlformats.org/officeDocument/2006/relationships" id="266" r:id="R8ea9e4436b3240d9"/>
    <p:sldId xmlns:r="http://schemas.openxmlformats.org/officeDocument/2006/relationships" id="267" r:id="Re974219cacd549d8"/>
    <p:sldId xmlns:r="http://schemas.openxmlformats.org/officeDocument/2006/relationships" id="268" r:id="R972d902230c24918"/>
    <p:sldId xmlns:r="http://schemas.openxmlformats.org/officeDocument/2006/relationships" id="269" r:id="R967d6eeeea5c4ff9"/>
    <p:sldId xmlns:r="http://schemas.openxmlformats.org/officeDocument/2006/relationships" id="270" r:id="Re077a6df8acc44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0dd662cd334998" /><Relationship Type="http://schemas.openxmlformats.org/officeDocument/2006/relationships/slideMaster" Target="/ppt/slideMasters/slideMaster1.xml" Id="Rf0b5de5cc8404117" /><Relationship Type="http://schemas.openxmlformats.org/officeDocument/2006/relationships/notesMaster" Target="/ppt/notesMasters/notesMaster1.xml" Id="R97adba1be8d74392" /><Relationship Type="http://schemas.openxmlformats.org/officeDocument/2006/relationships/presProps" Target="/ppt/presProps.xml" Id="R15ec3eed0bd74458" /><Relationship Type="http://schemas.openxmlformats.org/officeDocument/2006/relationships/tableStyles" Target="/ppt/tableStyles.xml" Id="Rccd58d3e052b4484" /><Relationship Type="http://schemas.openxmlformats.org/officeDocument/2006/relationships/slide" Target="/ppt/slides/slide1.xml" Id="R61d51d72f0044f7e" /><Relationship Type="http://schemas.openxmlformats.org/officeDocument/2006/relationships/slide" Target="/ppt/slides/slide2.xml" Id="Rdbe7a62b47134b00" /><Relationship Type="http://schemas.openxmlformats.org/officeDocument/2006/relationships/slide" Target="/ppt/slides/slide3.xml" Id="R87ccbe187c544548" /><Relationship Type="http://schemas.openxmlformats.org/officeDocument/2006/relationships/slide" Target="/ppt/slides/slide4.xml" Id="R93b43c7cb0ea4d60" /><Relationship Type="http://schemas.openxmlformats.org/officeDocument/2006/relationships/slide" Target="/ppt/slides/slide5.xml" Id="R36f40b4cfa6544d8" /><Relationship Type="http://schemas.openxmlformats.org/officeDocument/2006/relationships/slide" Target="/ppt/slides/slide6.xml" Id="Rdc227cfd22324c2f" /><Relationship Type="http://schemas.openxmlformats.org/officeDocument/2006/relationships/slide" Target="/ppt/slides/slide7.xml" Id="R84554e4c8dd545d0" /><Relationship Type="http://schemas.openxmlformats.org/officeDocument/2006/relationships/slide" Target="/ppt/slides/slide8.xml" Id="R78259e4cf1014a64" /><Relationship Type="http://schemas.openxmlformats.org/officeDocument/2006/relationships/slide" Target="/ppt/slides/slide9.xml" Id="R5078f6f8b00949b5" /><Relationship Type="http://schemas.openxmlformats.org/officeDocument/2006/relationships/slide" Target="/ppt/slides/slide10.xml" Id="Rea8d6d73667046bc" /><Relationship Type="http://schemas.openxmlformats.org/officeDocument/2006/relationships/slide" Target="/ppt/slides/slide11.xml" Id="R8ea9e4436b3240d9" /><Relationship Type="http://schemas.openxmlformats.org/officeDocument/2006/relationships/slide" Target="/ppt/slides/slide12.xml" Id="Re974219cacd549d8" /><Relationship Type="http://schemas.openxmlformats.org/officeDocument/2006/relationships/slide" Target="/ppt/slides/slide13.xml" Id="R972d902230c24918" /><Relationship Type="http://schemas.openxmlformats.org/officeDocument/2006/relationships/slide" Target="/ppt/slides/slide14.xml" Id="R967d6eeeea5c4ff9" /><Relationship Type="http://schemas.openxmlformats.org/officeDocument/2006/relationships/slide" Target="/ppt/slides/slide15.xml" Id="Re077a6df8acc44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bd0b6357204f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75a45f34d441be" /><Relationship Type="http://schemas.openxmlformats.org/officeDocument/2006/relationships/notesMaster" Target="/ppt/notesMasters/notesMaster1.xml" Id="Rf326169957dd48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2a2196d0784803" /><Relationship Type="http://schemas.openxmlformats.org/officeDocument/2006/relationships/notesMaster" Target="/ppt/notesMasters/notesMaster1.xml" Id="R308d2f1dcce340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7c875e79924a5f" /><Relationship Type="http://schemas.openxmlformats.org/officeDocument/2006/relationships/notesMaster" Target="/ppt/notesMasters/notesMaster1.xml" Id="Rb6cf6591ebc34b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c503d7cdcf4505" /><Relationship Type="http://schemas.openxmlformats.org/officeDocument/2006/relationships/notesMaster" Target="/ppt/notesMasters/notesMaster1.xml" Id="R74f0dac92e674d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1293a1324b4228" /><Relationship Type="http://schemas.openxmlformats.org/officeDocument/2006/relationships/notesMaster" Target="/ppt/notesMasters/notesMaster1.xml" Id="R1a8b4418896542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55bd8a41694ef0" /><Relationship Type="http://schemas.openxmlformats.org/officeDocument/2006/relationships/notesMaster" Target="/ppt/notesMasters/notesMaster1.xml" Id="R460fdcbec67e43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f1b75eec304a5c" /><Relationship Type="http://schemas.openxmlformats.org/officeDocument/2006/relationships/notesMaster" Target="/ppt/notesMasters/notesMaster1.xml" Id="Raf0405af9ebf4a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8496cf9f5f4ee1" /><Relationship Type="http://schemas.openxmlformats.org/officeDocument/2006/relationships/notesMaster" Target="/ppt/notesMasters/notesMaster1.xml" Id="Rcbd648a2d2c746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bec14bde8c94f9c" /><Relationship Type="http://schemas.openxmlformats.org/officeDocument/2006/relationships/notesMaster" Target="/ppt/notesMasters/notesMaster1.xml" Id="Ra4e534b509494c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f5965c84aa424b" /><Relationship Type="http://schemas.openxmlformats.org/officeDocument/2006/relationships/notesMaster" Target="/ppt/notesMasters/notesMaster1.xml" Id="R3916017a5ece40d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a195338ba7435a" /><Relationship Type="http://schemas.openxmlformats.org/officeDocument/2006/relationships/notesMaster" Target="/ppt/notesMasters/notesMaster1.xml" Id="Rfaccf2f6b92c49e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f45dff188aa47d3" /><Relationship Type="http://schemas.openxmlformats.org/officeDocument/2006/relationships/notesMaster" Target="/ppt/notesMasters/notesMaster1.xml" Id="R40f290fb2329451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d42201dcd76460d" /><Relationship Type="http://schemas.openxmlformats.org/officeDocument/2006/relationships/notesMaster" Target="/ppt/notesMasters/notesMaster1.xml" Id="R2bbde7f460824bd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15ec1704a44b43" /><Relationship Type="http://schemas.openxmlformats.org/officeDocument/2006/relationships/notesMaster" Target="/ppt/notesMasters/notesMaster1.xml" Id="R83ee7fcc682048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47953e87beb45f9" /><Relationship Type="http://schemas.openxmlformats.org/officeDocument/2006/relationships/notesMaster" Target="/ppt/notesMasters/notesMaster1.xml" Id="R49abc877ec6e40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visual geolocation from pixels. Distinguish our bounded regional experiment from global state of the art. Group: Prajwal Kumar K, Chandra Teja P, ShivKarthik Suresh, Hari Krishnan S. Confirm title-page roll numbers and institution separately. Image source: OSV-5M, image 319636679783973, official test archive images/test/03.zip at revision cff33609b56b54d8743b7ee7a416eb8433e9a681. License CC-BY-SA-4.0, https://huggingface.co/datasets/osv5m/osv5m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left to right. This slide shows the base classifier path; slide 13 adds the final KNN refinement. GPS labels supervise training but are absent from inference inputs. Evaluation converts RGB pixels, resizes the short edge to 256, center crops to 224, and normalizes with ImageNet statistics. ResNet-50 produces 2048 features. The linear head produces 300 logits. Softmax and argmax choose a cell and its saved centroid. The app does not retrieve the caption or inspect a filename for the answer. https://github.com/Prajwal-k-tech/KPlaceNet/blob/main/demo/app.py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K-means groups training GPS coordinates, not image pixels. Longitude scaling by cos(mean latitude) approximates local geometry. Each cell has a center and bounds; the boxes can overlap and assignment resolves overlap by haversine distance. The scatter plot contains all 300 actual saved centers with angular axes. It is not an administrative-boundary map. K-means builds these cells; the final optional L7 KNN extension retrieves training image features and votes over the same cells. Geometry is unchanged from L5 to L6. Source https://github.com/Prajwal-k-tech/KPlaceNet/blob/b826f63445fb537390aa5f6f0202c0f4d772c639/docs/results/l6_kerala_20261020.md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bounding box contains 16939 source-training images. Seed 42 holds out 1000 for validation, leaving 15939 for training. The official test has 357. All IDs are disjoint. L6 restores the same original images; it adds no new training data. This source filter is a bounding box, not an audited Kerala administrative polygon. Source https://github.com/Prajwal-k-tech/KPlaceNet/blob/b826f63445fb537390aa5f6f0202c0f4d772c639/docs/results/l6_kerala_20261020.md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Freeze the L5 backbone and 300-cell geometry. Only the 614700-parameter linear head changes. Uniform smoothing spreads 10% mass across all classes; the geographic recipe distributes it with softmax(-haversine distance/15 km), using each training image's coordinate. The assigned class retains 90% hard-label mass. Both use AdamW lr .0001, weight decay .01, batch 256, 12 epochs, seed 42. Deterministic cached views differ from L5 stochastic training views, so do not attribute the whole gain to a single isolated ingredient. This is a boundary-awareness adaptation, not the ETH paper's prototype interpolation. Source https://github.com/Prajwal-k-tech/KPlaceNet/blob/b826f63445fb537390aa5f6f0202c0f4d772c639/docs/results/l6_kerala_20261020.md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recipes start from the same original head and reset the seed. Evaluate validation within 25 km after every epoch, tie-breaking with median distance. The unchanged original head is eligible. Before looking at test performance save the winner: geographic smoothing, epoch 12. Validation improves from 64.6% to 70.9%. The predefined deployment condition is at least .5 percentage point gain with median no more than 2% worse. Selection is already frozen when the 357 official test images are evaluated. Source https://github.com/Prajwal-k-tech/KPlaceNet/blob/b826f63445fb537390aa5f6f0202c0f4d772c639/docs/results/l6_kerala_20261020.md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same 357 official Kerala test photographs, L5 is within 25 km on 147 images (41.18%) and L6 on 170 (47.62%). This is an observed gain of 6.44 percentage points. Forty-one images move inside that radius while eighteen regress outside it. Median distance falls from 42.08 to 28.41 km, and mean distance from 102.85 to 85.33 km. Exact cell accuracy rises from 17.93% to 20.73%. Within 1 km remains 0.56%, only two images. The chart rounds percentages for readability; the exact counts are recorded. Selection happened on validation before this test. This is one seeded experiment with spatially dependent samples, not a significance claim. The fixed L7 hybrid later reaches 191/357 (53.50%), median 21.84km and mean 80.65km on this same reused benchmark after validation selection. Its p90 worsens to 239.82km. This follow-up is not fresh independent confirmation. Source: https://github.com/Prajwal-k-tech/KPlaceNet/blob/b826f63445fb537390aa5f6f0202c0f4d772c639/docs/results/l6_kerala_20261020.md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 IDs are disjoint, but geographic independence is a different question. In the recovered Kerala subset, 982 of the 1,000 random validation coordinates lie within 1 km of a training coordinate. The median nearest-training distance is about 99 meters. None of the 357 official test coordinates lies within 1 km, with minimum distance 1.005 km and median 2.520 km. Nearby street scenes can share visual structure, explaining why random validation is optimistic. This audit covers the recovered subset, not the entire source dataset. A stronger future study should define geographic and sequence groups before fitting the backbone. Source: https://github.com/Prajwal-k-tech/KPlaceNet/blob/b826f63445fb537390aa5f6f0202c0f4d772c639/docs/results/l6_kerala_20261020.md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Kerala L6 reports raw, uncalibrated softmax. The default global demo applies a historical temperature, but its calibration artifact has no checkpoint hash and its identity remains unverified. The UI now states this. A separate corrected 20,000-image global study uses 500 rows for temperature fitting, 1,000 other rows for conformal calibration and 1,500 other rows for evaluation. Its ECE falls from 0.4171 to 0.0453. Empirical class-set coverage is 90.8%, with a mean set containing 159.7 of 300 classes. That is not 90.8% top-location accuracy. Temperature scaling preserves the winning class, so it does not improve distance by itself. Source: https://github.com/Prajwal-k-tech/KPlaceNet/blob/main/docs/results/l3_uncertainty_osv_test_20261009.md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confirmed ETH Zurich paper is Scaling Image Geo-Localization to Continent Level, by Lindenberger and colleagues, NeurIPS 2025, with ETH Zurich, Google and Politecnico di Milano affiliations. It combines learned ground-view prototypes, aerial embeddings and geographic interpolation for retrieval. L6 adapts broad geographic boundary awareness through soft labels. It does not implement the paper's aerial encoder, S2 hierarchy, interpolation rule or multi-similarity loss, and its benchmark is not comparable. The repository's original stated inspiration is PlaNet. A future cross-view extension would need licensed aerial imagery, alignment and a separate evaluation. Sources: https://arxiv.org/abs/2510.26795 and https://scaling-geoloc.github.io/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Click the Kottayam thumbnail to load the photograph and its matching model. Then press Locate photo. The final live GPU run predicts cell 196 at latitude 9.67606339 and longitude 76.40408516. The final hybrid combines classifier and training-only neighbor votes. Its score is uncalibrated and is not probability of being within 25 km. Do not memorize a particular score; browser decoding may change it slightly. Open in Google Maps displays that same coordinate and does not correct the prediction. Then show Southern Kerala as a failure: L6 alone predicts about 10.49834435, 76.25760402; the hybrid instead predicts 12.46153060, 75.08052619 and makes this particular error worse. All ten gallery photographs came from official test archives, but they were selected deliberately and do not estimate average accuracy. Image source: OSV-5M official images/test/03.zip, image 1083931132408866, pinned revision cff33609b56b54d8743b7ee7a416eb8433e9a681, CC-BY-SA-4.0. https://huggingface.co/datasets/osv5m/osv5m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Wikimedia collector returned 350 unique coordinate and license metadata records around seven Kerala cities. The Munnar query was temporarily unavailable. These are candidate records, not 350 reviewed training photographs. None contributed to L6 learning, selection or reported evaluation. Review actual camera coordinates, scene suitability, file licenses, visual duplicates and capture sequences before defining geographic splits. None is within 1 km of the recovered official test coordinates, but that alone does not prove label quality or independence. Mapillary also needs access and overlap checks because OSV-5M derives from that source. Remaining model limitations include its regional assumption, centroid resolution, street-view bias and raw scores. Source: https://commons.wikimedia.org/wiki/Commons:API/MediaWiki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ResNet extracts a 2048-dimensional vector. Cosine similarity retrieves k=5 neighbors from the 15939 training images only. Softmax over their similarities with temperature .07 weights their cell votes. Blend 80% L6 classifier probability with 20% KNN vote and select the highest cell score. Fixed settings pass validation before test reporting: within25 improves 70.9 to74.4%, median4.78 to4.02km. On the reused357-image benchmark the hybrid reaches191/357 or53.50%, median21.84km andmean80.65km. P90 worsens230.99 to239.82km. KNN alone is diagnostic, not chosen after seeing test results. No outside-region detection is claimed. The Great Wall can still receive a regional answer. The source rectangle includes neighboring territory. Source: https://github.com/Prajwal-k-tech/KPlaceNet/blob/main/docs/results/l7_kerala_knn_20261020.md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separate historical global experiment, not the L6 regional model or the legacy live global checkpoint. Across three paired seeds, increasing training data from 10,000 to 20,000 images raises within-200-km accuracy from 3.756% to 5.300% and reduces mean distance from 5,977.3 to 5,521.6 km. Absolute global accuracy remains weak. Fixed cells and paired seeds make this a bounded data-scale comparison. Inverse-frequency cell sampling did not give a consistent benefit. Source: https://github.com/Prajwal-k-tech/KPlaceNet/blob/main/docs/results/l2_data_scale_osv_test_20261009.md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scores equal to one minus the true-class probability on an independent conformal calibration subset. For desired miscoverage alpha, choose k = ceil((n + 1)(1 - alpha)) and the kth smallest score. If k exceeds n, use infinity. For four ordered scores [0.1, 0.2, 0.4, 0.8] and alpha 0.2, k is 4 and the cutoff is 0.8. With alpha 0.1, k is 5, beyond n, so the conservative cutoff is infinity. This finite-sample order statistic differs from an interpolated percentile. Coverage is marginal under exchangeability and does not guarantee performance in every town or under domain shift. The corrected workflow keeps temperature fitting, conformal fitting and evaluation rows separate. Source: https://github.com/Prajwal-k-tech/KPlaceNet/blob/main/src/uncertainty.py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50edb484c74f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ee8e38112b4c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fde7b3a589f480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1ca9924fa74a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ea47b6747e8423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2cd7d1030c48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F20948-07ED-4B37-BC3A-9E6F57BD806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E88923-B1A6-4227-9C2D-08FBCE85912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DB3E0A8-FE6D-409A-BCEF-65EFB58955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008964-4C76-4DA7-9DFE-15877297AE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E9ADEA-08D3-414C-B6E9-8C6B969FC4E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E902D05-4191-470D-914F-1A3D730DC6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2B0BC9-1754-4C28-B28F-8C2E1A18D6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551B71-3174-46FB-A5A7-25D7BD56B1C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631C3C-826C-48FD-B38D-15C366776A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4ED417-1E16-47FB-9EC8-EEDF762CE7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3ece79656a45d9" /><Relationship Type="http://schemas.openxmlformats.org/officeDocument/2006/relationships/slideLayout" Target="/ppt/slideLayouts/slideLayout1.xml" Id="Rd8b99c2aa2ab4415" /><Relationship Type="http://schemas.openxmlformats.org/officeDocument/2006/relationships/slideLayout" Target="/ppt/slideLayouts/slideLayout2.xml" Id="Rdfcde944fdf8499a" /><Relationship Type="http://schemas.openxmlformats.org/officeDocument/2006/relationships/slideLayout" Target="/ppt/slideLayouts/slideLayout3.xml" Id="R98fea2750db34582" /><Relationship Type="http://schemas.openxmlformats.org/officeDocument/2006/relationships/slideLayout" Target="/ppt/slideLayouts/slideLayout4.xml" Id="R4cc70dc39c1c4d7b" /><Relationship Type="http://schemas.openxmlformats.org/officeDocument/2006/relationships/slideLayout" Target="/ppt/slideLayouts/slideLayout5.xml" Id="R53f5e92c12224b09" /><Relationship Type="http://schemas.openxmlformats.org/officeDocument/2006/relationships/slideLayout" Target="/ppt/slideLayouts/slideLayout6.xml" Id="Rb6b91ce40c8f4c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b99c2aa2ab4415"/>
    <p:sldLayoutId xmlns:r="http://schemas.openxmlformats.org/officeDocument/2006/relationships" id="2147483650" r:id="Rdfcde944fdf8499a"/>
    <p:sldLayoutId xmlns:r="http://schemas.openxmlformats.org/officeDocument/2006/relationships" id="2147483651" r:id="R98fea2750db34582"/>
    <p:sldLayoutId xmlns:r="http://schemas.openxmlformats.org/officeDocument/2006/relationships" id="2147483652" r:id="R4cc70dc39c1c4d7b"/>
    <p:sldLayoutId xmlns:r="http://schemas.openxmlformats.org/officeDocument/2006/relationships" id="2147483653" r:id="R53f5e92c12224b09"/>
    <p:sldLayoutId xmlns:r="http://schemas.openxmlformats.org/officeDocument/2006/relationships" id="2147483654" r:id="Rb6b91ce40c8f4c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0e04d754c714c2b" /><Relationship Type="http://schemas.openxmlformats.org/officeDocument/2006/relationships/image" Target="/ppt/media/image.jpeg" Id="Ra460583c81b647d9" /><Relationship Type="http://schemas.openxmlformats.org/officeDocument/2006/relationships/notesSlide" Target="/ppt/notesSlides/notesSlide1.xml" Id="Rff1bf7dc190945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96a384bbd774fd5" /><Relationship Type="http://schemas.openxmlformats.org/officeDocument/2006/relationships/notesSlide" Target="/ppt/notesSlides/notesSlide2.xml" Id="R3165cc36381049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b164bd974e4cb9" /><Relationship Type="http://schemas.openxmlformats.org/officeDocument/2006/relationships/chart" Target="/ppt/slides/charts/chart1.xml" Id="R66c587bf56334481" /><Relationship Type="http://schemas.openxmlformats.org/officeDocument/2006/relationships/notesSlide" Target="/ppt/notesSlides/notesSlide3.xml" Id="R66aa0b67fcd649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2606275cede421a" /><Relationship Type="http://schemas.openxmlformats.org/officeDocument/2006/relationships/chart" Target="/ppt/slides/charts/chart2.xml" Id="R04fe383fb7374e19" /><Relationship Type="http://schemas.openxmlformats.org/officeDocument/2006/relationships/notesSlide" Target="/ppt/notesSlides/notesSlide4.xml" Id="R5e8dd1f03cfd4a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f0029eadc7946d2" /><Relationship Type="http://schemas.openxmlformats.org/officeDocument/2006/relationships/notesSlide" Target="/ppt/notesSlides/notesSlide5.xml" Id="R37d4d3ff8d3d45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4a2be4fb3a94a75" /><Relationship Type="http://schemas.openxmlformats.org/officeDocument/2006/relationships/notesSlide" Target="/ppt/notesSlides/notesSlide6.xml" Id="Rfa159775abeb44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76da87231eb40b2" /><Relationship Type="http://schemas.openxmlformats.org/officeDocument/2006/relationships/chart" Target="/ppt/slides/charts/chart3.xml" Id="Refccb8121db4481d" /><Relationship Type="http://schemas.openxmlformats.org/officeDocument/2006/relationships/notesSlide" Target="/ppt/notesSlides/notesSlide7.xml" Id="R59895bf883f740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651e5ce2eff4ff7" /><Relationship Type="http://schemas.openxmlformats.org/officeDocument/2006/relationships/chart" Target="/ppt/slides/charts/chart4.xml" Id="Rcf589dea16094751" /><Relationship Type="http://schemas.openxmlformats.org/officeDocument/2006/relationships/notesSlide" Target="/ppt/notesSlides/notesSlide8.xml" Id="Re5a46489d1f34d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c1ffe98a2f34e69" /><Relationship Type="http://schemas.openxmlformats.org/officeDocument/2006/relationships/notesSlide" Target="/ppt/notesSlides/notesSlide9.xml" Id="R92205acfd22447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ecd51bf251b4b4d" /><Relationship Type="http://schemas.openxmlformats.org/officeDocument/2006/relationships/notesSlide" Target="/ppt/notesSlides/notesSlide10.xml" Id="R9a3fd4d83ab94c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dd7ca2d663c4dbf" /><Relationship Type="http://schemas.openxmlformats.org/officeDocument/2006/relationships/image" Target="/ppt/media/image2.jpeg" Id="Rf6edce29c3224435" /><Relationship Type="http://schemas.openxmlformats.org/officeDocument/2006/relationships/notesSlide" Target="/ppt/notesSlides/notesSlide11.xml" Id="R5998be0a3c5b41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ce3193fc484406a" /><Relationship Type="http://schemas.openxmlformats.org/officeDocument/2006/relationships/notesSlide" Target="/ppt/notesSlides/notesSlide12.xml" Id="R65330086af9245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596f91aa6ea49f4" /><Relationship Type="http://schemas.openxmlformats.org/officeDocument/2006/relationships/notesSlide" Target="/ppt/notesSlides/notesSlide13.xml" Id="R679a445e3553481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6f400cc97c142e4" /><Relationship Type="http://schemas.openxmlformats.org/officeDocument/2006/relationships/chart" Target="/ppt/slides/charts/chart5.xml" Id="Rb0b4b6d783754e4d" /><Relationship Type="http://schemas.openxmlformats.org/officeDocument/2006/relationships/notesSlide" Target="/ppt/notesSlides/notesSlide14.xml" Id="Raa2bc0377be5491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caf4ee2906647ca" /><Relationship Type="http://schemas.openxmlformats.org/officeDocument/2006/relationships/notesSlide" Target="/ppt/notesSlides/notesSlide15.xml" Id="Rc84bd3a3d5a749f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Cell centers</c:v>
          </c:tx>
          <c:spPr>
            <a:ln xmlns:a="http://schemas.openxmlformats.org/drawingml/2006/main" w="0">
              <a:noFill/>
            </a:ln>
          </c:spPr>
          <c:marker>
            <c:symbol val="circle"/>
            <c:size val="5"/>
            <c:spPr>
              <a:solidFill xmlns:a="http://schemas.openxmlformats.org/drawingml/2006/main">
                <a:srgbClr val="D5663F"/>
              </a:solidFill>
            </c:spPr>
          </c:marker>
          <c:xVal>
            <c:numRef>
              <c:f>'Chart Data'!$A$2:$A$301</c:f>
              <c:numCache>
                <c:formatCode>General</c:formatCode>
                <c:ptCount val="300"/>
                <c:pt idx="0">
                  <c:v>76.252164</c:v>
                </c:pt>
                <c:pt idx="1">
                  <c:v>76.651311</c:v>
                </c:pt>
                <c:pt idx="2">
                  <c:v>76.295472</c:v>
                </c:pt>
                <c:pt idx="3">
                  <c:v>76.460866</c:v>
                </c:pt>
                <c:pt idx="4">
                  <c:v>76.947556</c:v>
                </c:pt>
                <c:pt idx="5">
                  <c:v>76.68395</c:v>
                </c:pt>
                <c:pt idx="6">
                  <c:v>77.17394</c:v>
                </c:pt>
                <c:pt idx="7">
                  <c:v>75.835556</c:v>
                </c:pt>
                <c:pt idx="8">
                  <c:v>75.121433</c:v>
                </c:pt>
                <c:pt idx="9">
                  <c:v>76.280489</c:v>
                </c:pt>
                <c:pt idx="10">
                  <c:v>76.66508</c:v>
                </c:pt>
                <c:pt idx="11">
                  <c:v>76.544343</c:v>
                </c:pt>
                <c:pt idx="12">
                  <c:v>76.990183</c:v>
                </c:pt>
                <c:pt idx="13">
                  <c:v>76.992508</c:v>
                </c:pt>
                <c:pt idx="14">
                  <c:v>76.518851</c:v>
                </c:pt>
                <c:pt idx="15">
                  <c:v>76.711093</c:v>
                </c:pt>
                <c:pt idx="16">
                  <c:v>75.795034</c:v>
                </c:pt>
                <c:pt idx="17">
                  <c:v>76.475591</c:v>
                </c:pt>
                <c:pt idx="18">
                  <c:v>76.411141</c:v>
                </c:pt>
                <c:pt idx="19">
                  <c:v>76.050798</c:v>
                </c:pt>
                <c:pt idx="20">
                  <c:v>76.186886</c:v>
                </c:pt>
                <c:pt idx="21">
                  <c:v>77.191117</c:v>
                </c:pt>
                <c:pt idx="22">
                  <c:v>76.367013</c:v>
                </c:pt>
                <c:pt idx="23">
                  <c:v>76.580374</c:v>
                </c:pt>
                <c:pt idx="24">
                  <c:v>76.169865</c:v>
                </c:pt>
                <c:pt idx="25">
                  <c:v>76.716094</c:v>
                </c:pt>
                <c:pt idx="26">
                  <c:v>76.841503</c:v>
                </c:pt>
                <c:pt idx="27">
                  <c:v>76.49865</c:v>
                </c:pt>
                <c:pt idx="28">
                  <c:v>76.24095</c:v>
                </c:pt>
                <c:pt idx="29">
                  <c:v>76.709724</c:v>
                </c:pt>
                <c:pt idx="30">
                  <c:v>76.060158</c:v>
                </c:pt>
                <c:pt idx="31">
                  <c:v>77.243345</c:v>
                </c:pt>
                <c:pt idx="32">
                  <c:v>76.325881</c:v>
                </c:pt>
                <c:pt idx="33">
                  <c:v>75.759709</c:v>
                </c:pt>
                <c:pt idx="34">
                  <c:v>76.25763</c:v>
                </c:pt>
                <c:pt idx="35">
                  <c:v>76.487617</c:v>
                </c:pt>
                <c:pt idx="36">
                  <c:v>76.585181</c:v>
                </c:pt>
                <c:pt idx="37">
                  <c:v>76.498649</c:v>
                </c:pt>
                <c:pt idx="38">
                  <c:v>76.820883</c:v>
                </c:pt>
                <c:pt idx="39">
                  <c:v>76.828002</c:v>
                </c:pt>
                <c:pt idx="40">
                  <c:v>76.11192</c:v>
                </c:pt>
                <c:pt idx="41">
                  <c:v>77.332867</c:v>
                </c:pt>
                <c:pt idx="42">
                  <c:v>75.00276</c:v>
                </c:pt>
                <c:pt idx="43">
                  <c:v>77.360338</c:v>
                </c:pt>
                <c:pt idx="44">
                  <c:v>76.514604</c:v>
                </c:pt>
                <c:pt idx="45">
                  <c:v>76.435529</c:v>
                </c:pt>
                <c:pt idx="46">
                  <c:v>76.583455</c:v>
                </c:pt>
                <c:pt idx="47">
                  <c:v>76.140533</c:v>
                </c:pt>
                <c:pt idx="48">
                  <c:v>76.586675</c:v>
                </c:pt>
                <c:pt idx="49">
                  <c:v>77.042087</c:v>
                </c:pt>
                <c:pt idx="50">
                  <c:v>76.949331</c:v>
                </c:pt>
                <c:pt idx="51">
                  <c:v>76.032261</c:v>
                </c:pt>
                <c:pt idx="52">
                  <c:v>76.34594</c:v>
                </c:pt>
                <c:pt idx="53">
                  <c:v>76.400109</c:v>
                </c:pt>
                <c:pt idx="54">
                  <c:v>76.800192</c:v>
                </c:pt>
                <c:pt idx="55">
                  <c:v>76.2453</c:v>
                </c:pt>
                <c:pt idx="56">
                  <c:v>75.670777</c:v>
                </c:pt>
                <c:pt idx="57">
                  <c:v>77.35362</c:v>
                </c:pt>
                <c:pt idx="58">
                  <c:v>76.599368</c:v>
                </c:pt>
                <c:pt idx="59">
                  <c:v>76.357203</c:v>
                </c:pt>
                <c:pt idx="60">
                  <c:v>76.206733</c:v>
                </c:pt>
                <c:pt idx="61">
                  <c:v>76.558913</c:v>
                </c:pt>
                <c:pt idx="62">
                  <c:v>76.68312</c:v>
                </c:pt>
                <c:pt idx="63">
                  <c:v>76.892732</c:v>
                </c:pt>
                <c:pt idx="64">
                  <c:v>75.489432</c:v>
                </c:pt>
                <c:pt idx="65">
                  <c:v>76.057388</c:v>
                </c:pt>
                <c:pt idx="66">
                  <c:v>76.224651</c:v>
                </c:pt>
                <c:pt idx="67">
                  <c:v>76.212862</c:v>
                </c:pt>
                <c:pt idx="68">
                  <c:v>77.170011</c:v>
                </c:pt>
                <c:pt idx="69">
                  <c:v>77.132699</c:v>
                </c:pt>
                <c:pt idx="70">
                  <c:v>77.444236</c:v>
                </c:pt>
                <c:pt idx="71">
                  <c:v>76.963433</c:v>
                </c:pt>
                <c:pt idx="72">
                  <c:v>77.006028</c:v>
                </c:pt>
                <c:pt idx="73">
                  <c:v>77.088374</c:v>
                </c:pt>
                <c:pt idx="74">
                  <c:v>76.257101</c:v>
                </c:pt>
                <c:pt idx="75">
                  <c:v>75.192986</c:v>
                </c:pt>
                <c:pt idx="76">
                  <c:v>77.070008</c:v>
                </c:pt>
                <c:pt idx="77">
                  <c:v>77.180981</c:v>
                </c:pt>
                <c:pt idx="78">
                  <c:v>76.299642</c:v>
                </c:pt>
                <c:pt idx="79">
                  <c:v>76.571442</c:v>
                </c:pt>
                <c:pt idx="80">
                  <c:v>76.947856</c:v>
                </c:pt>
                <c:pt idx="81">
                  <c:v>76.165908</c:v>
                </c:pt>
                <c:pt idx="82">
                  <c:v>77.45418</c:v>
                </c:pt>
                <c:pt idx="83">
                  <c:v>76.310318</c:v>
                </c:pt>
                <c:pt idx="84">
                  <c:v>76.40944</c:v>
                </c:pt>
                <c:pt idx="85">
                  <c:v>76.349126</c:v>
                </c:pt>
                <c:pt idx="86">
                  <c:v>76.442823</c:v>
                </c:pt>
                <c:pt idx="87">
                  <c:v>77.271236</c:v>
                </c:pt>
                <c:pt idx="88">
                  <c:v>76.063295</c:v>
                </c:pt>
                <c:pt idx="89">
                  <c:v>75.770199</c:v>
                </c:pt>
                <c:pt idx="90">
                  <c:v>76.522094</c:v>
                </c:pt>
                <c:pt idx="91">
                  <c:v>76.594426</c:v>
                </c:pt>
                <c:pt idx="92">
                  <c:v>76.380991</c:v>
                </c:pt>
                <c:pt idx="93">
                  <c:v>76.515704</c:v>
                </c:pt>
                <c:pt idx="94">
                  <c:v>76.706449</c:v>
                </c:pt>
                <c:pt idx="95">
                  <c:v>76.724682</c:v>
                </c:pt>
                <c:pt idx="96">
                  <c:v>76.738532</c:v>
                </c:pt>
                <c:pt idx="97">
                  <c:v>76.428724</c:v>
                </c:pt>
                <c:pt idx="98">
                  <c:v>76.704814</c:v>
                </c:pt>
                <c:pt idx="99">
                  <c:v>76.319763</c:v>
                </c:pt>
                <c:pt idx="100">
                  <c:v>76.793562</c:v>
                </c:pt>
                <c:pt idx="101">
                  <c:v>76.552786</c:v>
                </c:pt>
                <c:pt idx="102">
                  <c:v>76.750766</c:v>
                </c:pt>
                <c:pt idx="103">
                  <c:v>76.442075</c:v>
                </c:pt>
                <c:pt idx="104">
                  <c:v>76.530651</c:v>
                </c:pt>
                <c:pt idx="105">
                  <c:v>76.563264</c:v>
                </c:pt>
                <c:pt idx="106">
                  <c:v>76.649091</c:v>
                </c:pt>
                <c:pt idx="107">
                  <c:v>76.961079</c:v>
                </c:pt>
                <c:pt idx="108">
                  <c:v>76.670471</c:v>
                </c:pt>
                <c:pt idx="109">
                  <c:v>76.333981</c:v>
                </c:pt>
                <c:pt idx="110">
                  <c:v>76.403049</c:v>
                </c:pt>
                <c:pt idx="111">
                  <c:v>75.770346</c:v>
                </c:pt>
                <c:pt idx="112">
                  <c:v>77.455036</c:v>
                </c:pt>
                <c:pt idx="113">
                  <c:v>77.136509</c:v>
                </c:pt>
                <c:pt idx="114">
                  <c:v>76.343296</c:v>
                </c:pt>
                <c:pt idx="115">
                  <c:v>75.731738</c:v>
                </c:pt>
                <c:pt idx="116">
                  <c:v>76.329914</c:v>
                </c:pt>
                <c:pt idx="117">
                  <c:v>77.455275</c:v>
                </c:pt>
                <c:pt idx="118">
                  <c:v>75.075593</c:v>
                </c:pt>
                <c:pt idx="119">
                  <c:v>76.868153</c:v>
                </c:pt>
                <c:pt idx="120">
                  <c:v>77.401665</c:v>
                </c:pt>
                <c:pt idx="121">
                  <c:v>76.518249</c:v>
                </c:pt>
                <c:pt idx="122">
                  <c:v>76.943015</c:v>
                </c:pt>
                <c:pt idx="123">
                  <c:v>76.782243</c:v>
                </c:pt>
                <c:pt idx="124">
                  <c:v>76.344478</c:v>
                </c:pt>
                <c:pt idx="125">
                  <c:v>76.19875</c:v>
                </c:pt>
                <c:pt idx="126">
                  <c:v>77.007618</c:v>
                </c:pt>
                <c:pt idx="127">
                  <c:v>76.310439</c:v>
                </c:pt>
                <c:pt idx="128">
                  <c:v>76.325959</c:v>
                </c:pt>
                <c:pt idx="129">
                  <c:v>75.978762</c:v>
                </c:pt>
                <c:pt idx="130">
                  <c:v>76.755531</c:v>
                </c:pt>
                <c:pt idx="131">
                  <c:v>76.093445</c:v>
                </c:pt>
                <c:pt idx="132">
                  <c:v>77.082791</c:v>
                </c:pt>
                <c:pt idx="133">
                  <c:v>76.766209</c:v>
                </c:pt>
                <c:pt idx="134">
                  <c:v>76.56238</c:v>
                </c:pt>
                <c:pt idx="135">
                  <c:v>77.207719</c:v>
                </c:pt>
                <c:pt idx="136">
                  <c:v>76.425757</c:v>
                </c:pt>
                <c:pt idx="137">
                  <c:v>75.867555</c:v>
                </c:pt>
                <c:pt idx="138">
                  <c:v>76.192157</c:v>
                </c:pt>
                <c:pt idx="139">
                  <c:v>76.273797</c:v>
                </c:pt>
                <c:pt idx="140">
                  <c:v>76.150576</c:v>
                </c:pt>
                <c:pt idx="141">
                  <c:v>75.958786</c:v>
                </c:pt>
                <c:pt idx="142">
                  <c:v>76.243925</c:v>
                </c:pt>
                <c:pt idx="143">
                  <c:v>76.830703</c:v>
                </c:pt>
                <c:pt idx="144">
                  <c:v>76.779216</c:v>
                </c:pt>
                <c:pt idx="145">
                  <c:v>76.508858</c:v>
                </c:pt>
                <c:pt idx="146">
                  <c:v>75.275585</c:v>
                </c:pt>
                <c:pt idx="147">
                  <c:v>76.615707</c:v>
                </c:pt>
                <c:pt idx="148">
                  <c:v>76.653608</c:v>
                </c:pt>
                <c:pt idx="149">
                  <c:v>76.342624</c:v>
                </c:pt>
                <c:pt idx="150">
                  <c:v>76.237828</c:v>
                </c:pt>
                <c:pt idx="151">
                  <c:v>76.953505</c:v>
                </c:pt>
                <c:pt idx="152">
                  <c:v>76.595535</c:v>
                </c:pt>
                <c:pt idx="153">
                  <c:v>76.547981</c:v>
                </c:pt>
                <c:pt idx="154">
                  <c:v>76.941908</c:v>
                </c:pt>
                <c:pt idx="155">
                  <c:v>76.808447</c:v>
                </c:pt>
                <c:pt idx="156">
                  <c:v>76.86901</c:v>
                </c:pt>
                <c:pt idx="157">
                  <c:v>76.255483</c:v>
                </c:pt>
                <c:pt idx="158">
                  <c:v>76.170938</c:v>
                </c:pt>
                <c:pt idx="159">
                  <c:v>77.142949</c:v>
                </c:pt>
                <c:pt idx="160">
                  <c:v>76.849699</c:v>
                </c:pt>
                <c:pt idx="161">
                  <c:v>75.613986</c:v>
                </c:pt>
                <c:pt idx="162">
                  <c:v>76.645124</c:v>
                </c:pt>
                <c:pt idx="163">
                  <c:v>76.574509</c:v>
                </c:pt>
                <c:pt idx="164">
                  <c:v>76.530843</c:v>
                </c:pt>
                <c:pt idx="165">
                  <c:v>76.670371</c:v>
                </c:pt>
                <c:pt idx="166">
                  <c:v>77.060119</c:v>
                </c:pt>
                <c:pt idx="167">
                  <c:v>76.251325</c:v>
                </c:pt>
                <c:pt idx="168">
                  <c:v>77.077547</c:v>
                </c:pt>
                <c:pt idx="169">
                  <c:v>76.896569</c:v>
                </c:pt>
                <c:pt idx="170">
                  <c:v>76.644586</c:v>
                </c:pt>
                <c:pt idx="171">
                  <c:v>76.739005</c:v>
                </c:pt>
                <c:pt idx="172">
                  <c:v>76.483416</c:v>
                </c:pt>
                <c:pt idx="173">
                  <c:v>76.729542</c:v>
                </c:pt>
                <c:pt idx="174">
                  <c:v>76.431981</c:v>
                </c:pt>
                <c:pt idx="175">
                  <c:v>76.590618</c:v>
                </c:pt>
                <c:pt idx="176">
                  <c:v>77.091616</c:v>
                </c:pt>
                <c:pt idx="177">
                  <c:v>75.439041</c:v>
                </c:pt>
                <c:pt idx="178">
                  <c:v>75.671541</c:v>
                </c:pt>
                <c:pt idx="179">
                  <c:v>76.778163</c:v>
                </c:pt>
                <c:pt idx="180">
                  <c:v>75.90897</c:v>
                </c:pt>
                <c:pt idx="181">
                  <c:v>77.233804</c:v>
                </c:pt>
                <c:pt idx="182">
                  <c:v>76.221197</c:v>
                </c:pt>
                <c:pt idx="183">
                  <c:v>76.299775</c:v>
                </c:pt>
                <c:pt idx="184">
                  <c:v>76.880605</c:v>
                </c:pt>
                <c:pt idx="185">
                  <c:v>76.935033</c:v>
                </c:pt>
                <c:pt idx="186">
                  <c:v>77.161949</c:v>
                </c:pt>
                <c:pt idx="187">
                  <c:v>76.071685</c:v>
                </c:pt>
                <c:pt idx="188">
                  <c:v>76.543147</c:v>
                </c:pt>
                <c:pt idx="189">
                  <c:v>77.23411</c:v>
                </c:pt>
                <c:pt idx="190">
                  <c:v>75.080526</c:v>
                </c:pt>
                <c:pt idx="191">
                  <c:v>76.526279</c:v>
                </c:pt>
                <c:pt idx="192">
                  <c:v>76.357838</c:v>
                </c:pt>
                <c:pt idx="193">
                  <c:v>76.692311</c:v>
                </c:pt>
                <c:pt idx="194">
                  <c:v>77.113763</c:v>
                </c:pt>
                <c:pt idx="195">
                  <c:v>77.054481</c:v>
                </c:pt>
                <c:pt idx="196">
                  <c:v>76.404085</c:v>
                </c:pt>
                <c:pt idx="197">
                  <c:v>76.487723</c:v>
                </c:pt>
                <c:pt idx="198">
                  <c:v>76.711935</c:v>
                </c:pt>
                <c:pt idx="199">
                  <c:v>76.552281</c:v>
                </c:pt>
                <c:pt idx="200">
                  <c:v>76.683333</c:v>
                </c:pt>
                <c:pt idx="201">
                  <c:v>75.156105</c:v>
                </c:pt>
                <c:pt idx="202">
                  <c:v>76.283331</c:v>
                </c:pt>
                <c:pt idx="203">
                  <c:v>76.314475</c:v>
                </c:pt>
                <c:pt idx="204">
                  <c:v>76.309237</c:v>
                </c:pt>
                <c:pt idx="205">
                  <c:v>75.779141</c:v>
                </c:pt>
                <c:pt idx="206">
                  <c:v>76.303395</c:v>
                </c:pt>
                <c:pt idx="207">
                  <c:v>76.908352</c:v>
                </c:pt>
                <c:pt idx="208">
                  <c:v>76.492805</c:v>
                </c:pt>
                <c:pt idx="209">
                  <c:v>75.864455</c:v>
                </c:pt>
                <c:pt idx="210">
                  <c:v>77.306598</c:v>
                </c:pt>
                <c:pt idx="211">
                  <c:v>76.310948</c:v>
                </c:pt>
                <c:pt idx="212">
                  <c:v>76.517332</c:v>
                </c:pt>
                <c:pt idx="213">
                  <c:v>77.048625</c:v>
                </c:pt>
                <c:pt idx="214">
                  <c:v>76.214121</c:v>
                </c:pt>
                <c:pt idx="215">
                  <c:v>76.672179</c:v>
                </c:pt>
                <c:pt idx="216">
                  <c:v>77.106917</c:v>
                </c:pt>
                <c:pt idx="217">
                  <c:v>75.924693</c:v>
                </c:pt>
                <c:pt idx="218">
                  <c:v>76.743082</c:v>
                </c:pt>
                <c:pt idx="219">
                  <c:v>75.963163</c:v>
                </c:pt>
                <c:pt idx="220">
                  <c:v>76.56204</c:v>
                </c:pt>
                <c:pt idx="221">
                  <c:v>77.132639</c:v>
                </c:pt>
                <c:pt idx="222">
                  <c:v>76.46185</c:v>
                </c:pt>
                <c:pt idx="223">
                  <c:v>76.80493</c:v>
                </c:pt>
                <c:pt idx="224">
                  <c:v>76.655461</c:v>
                </c:pt>
                <c:pt idx="225">
                  <c:v>76.427448</c:v>
                </c:pt>
                <c:pt idx="226">
                  <c:v>76.563698</c:v>
                </c:pt>
                <c:pt idx="227">
                  <c:v>76.299208</c:v>
                </c:pt>
                <c:pt idx="228">
                  <c:v>76.971268</c:v>
                </c:pt>
                <c:pt idx="229">
                  <c:v>76.134246</c:v>
                </c:pt>
                <c:pt idx="230">
                  <c:v>76.751163</c:v>
                </c:pt>
                <c:pt idx="231">
                  <c:v>76.50471</c:v>
                </c:pt>
                <c:pt idx="232">
                  <c:v>76.673027</c:v>
                </c:pt>
                <c:pt idx="233">
                  <c:v>76.446346</c:v>
                </c:pt>
                <c:pt idx="234">
                  <c:v>76.023382</c:v>
                </c:pt>
                <c:pt idx="235">
                  <c:v>76.513953</c:v>
                </c:pt>
                <c:pt idx="236">
                  <c:v>76.467238</c:v>
                </c:pt>
                <c:pt idx="237">
                  <c:v>76.500762</c:v>
                </c:pt>
                <c:pt idx="238">
                  <c:v>76.387895</c:v>
                </c:pt>
                <c:pt idx="239">
                  <c:v>76.863068</c:v>
                </c:pt>
                <c:pt idx="240">
                  <c:v>76.461942</c:v>
                </c:pt>
                <c:pt idx="241">
                  <c:v>76.358148</c:v>
                </c:pt>
                <c:pt idx="242">
                  <c:v>76.455815</c:v>
                </c:pt>
                <c:pt idx="243">
                  <c:v>76.70269</c:v>
                </c:pt>
                <c:pt idx="244">
                  <c:v>76.776405</c:v>
                </c:pt>
                <c:pt idx="245">
                  <c:v>75.073311</c:v>
                </c:pt>
                <c:pt idx="246">
                  <c:v>77.015427</c:v>
                </c:pt>
                <c:pt idx="247">
                  <c:v>77.047468</c:v>
                </c:pt>
                <c:pt idx="248">
                  <c:v>77.02973</c:v>
                </c:pt>
                <c:pt idx="249">
                  <c:v>76.563816</c:v>
                </c:pt>
                <c:pt idx="250">
                  <c:v>76.339832</c:v>
                </c:pt>
                <c:pt idx="251">
                  <c:v>77.146754</c:v>
                </c:pt>
                <c:pt idx="252">
                  <c:v>76.614601</c:v>
                </c:pt>
                <c:pt idx="253">
                  <c:v>76.620032</c:v>
                </c:pt>
                <c:pt idx="254">
                  <c:v>75.805927</c:v>
                </c:pt>
                <c:pt idx="255">
                  <c:v>76.439525</c:v>
                </c:pt>
                <c:pt idx="256">
                  <c:v>76.554365</c:v>
                </c:pt>
                <c:pt idx="257">
                  <c:v>76.738735</c:v>
                </c:pt>
                <c:pt idx="258">
                  <c:v>76.713293</c:v>
                </c:pt>
                <c:pt idx="259">
                  <c:v>76.701295</c:v>
                </c:pt>
                <c:pt idx="260">
                  <c:v>76.405078</c:v>
                </c:pt>
                <c:pt idx="261">
                  <c:v>76.463847</c:v>
                </c:pt>
                <c:pt idx="262">
                  <c:v>75.626329</c:v>
                </c:pt>
                <c:pt idx="263">
                  <c:v>76.240281</c:v>
                </c:pt>
                <c:pt idx="264">
                  <c:v>77.348404</c:v>
                </c:pt>
                <c:pt idx="265">
                  <c:v>77.437736</c:v>
                </c:pt>
                <c:pt idx="266">
                  <c:v>76.520863</c:v>
                </c:pt>
                <c:pt idx="267">
                  <c:v>76.995255</c:v>
                </c:pt>
                <c:pt idx="268">
                  <c:v>76.329137</c:v>
                </c:pt>
                <c:pt idx="269">
                  <c:v>76.346292</c:v>
                </c:pt>
                <c:pt idx="270">
                  <c:v>76.532616</c:v>
                </c:pt>
                <c:pt idx="271">
                  <c:v>76.503287</c:v>
                </c:pt>
                <c:pt idx="272">
                  <c:v>76.937479</c:v>
                </c:pt>
                <c:pt idx="273">
                  <c:v>76.437465</c:v>
                </c:pt>
                <c:pt idx="274">
                  <c:v>76.320013</c:v>
                </c:pt>
                <c:pt idx="275">
                  <c:v>76.742315</c:v>
                </c:pt>
                <c:pt idx="276">
                  <c:v>77.026283</c:v>
                </c:pt>
                <c:pt idx="277">
                  <c:v>76.307084</c:v>
                </c:pt>
                <c:pt idx="278">
                  <c:v>76.967378</c:v>
                </c:pt>
                <c:pt idx="279">
                  <c:v>76.189274</c:v>
                </c:pt>
                <c:pt idx="280">
                  <c:v>76.931849</c:v>
                </c:pt>
                <c:pt idx="281">
                  <c:v>76.329959</c:v>
                </c:pt>
                <c:pt idx="282">
                  <c:v>76.237058</c:v>
                </c:pt>
                <c:pt idx="283">
                  <c:v>76.115122</c:v>
                </c:pt>
                <c:pt idx="284">
                  <c:v>76.334765</c:v>
                </c:pt>
                <c:pt idx="285">
                  <c:v>76.257604</c:v>
                </c:pt>
                <c:pt idx="286">
                  <c:v>76.577803</c:v>
                </c:pt>
                <c:pt idx="287">
                  <c:v>76.479628</c:v>
                </c:pt>
                <c:pt idx="288">
                  <c:v>76.655735</c:v>
                </c:pt>
                <c:pt idx="289">
                  <c:v>76.574403</c:v>
                </c:pt>
                <c:pt idx="290">
                  <c:v>76.066616</c:v>
                </c:pt>
                <c:pt idx="291">
                  <c:v>75.838347</c:v>
                </c:pt>
                <c:pt idx="292">
                  <c:v>76.605212</c:v>
                </c:pt>
                <c:pt idx="293">
                  <c:v>76.530092</c:v>
                </c:pt>
                <c:pt idx="294">
                  <c:v>76.540144</c:v>
                </c:pt>
                <c:pt idx="295">
                  <c:v>77.047709</c:v>
                </c:pt>
                <c:pt idx="296">
                  <c:v>76.032577</c:v>
                </c:pt>
                <c:pt idx="297">
                  <c:v>76.294614</c:v>
                </c:pt>
                <c:pt idx="298">
                  <c:v>76.547962</c:v>
                </c:pt>
                <c:pt idx="299">
                  <c:v>76.858689</c:v>
                </c:pt>
              </c:numCache>
            </c:numRef>
          </c:xVal>
          <c:yVal>
            <c:numRef>
              <c:f>'Chart Data'!$B$2:$B$301</c:f>
              <c:numCache>
                <c:formatCode>General</c:formatCode>
                <c:ptCount val="300"/>
                <c:pt idx="0">
                  <c:v>10.425013</c:v>
                </c:pt>
                <c:pt idx="1">
                  <c:v>12.406767</c:v>
                </c:pt>
                <c:pt idx="2">
                  <c:v>9.727028</c:v>
                </c:pt>
                <c:pt idx="3">
                  <c:v>9.594028</c:v>
                </c:pt>
                <c:pt idx="4">
                  <c:v>11.008939</c:v>
                </c:pt>
                <c:pt idx="5">
                  <c:v>9.185762</c:v>
                </c:pt>
                <c:pt idx="6">
                  <c:v>10.037117</c:v>
                </c:pt>
                <c:pt idx="7">
                  <c:v>11.290658</c:v>
                </c:pt>
                <c:pt idx="8">
                  <c:v>12.320454</c:v>
                </c:pt>
                <c:pt idx="9">
                  <c:v>9.984929</c:v>
                </c:pt>
                <c:pt idx="10">
                  <c:v>9.920801</c:v>
                </c:pt>
                <c:pt idx="11">
                  <c:v>9.443473</c:v>
                </c:pt>
                <c:pt idx="12">
                  <c:v>8.62201</c:v>
                </c:pt>
                <c:pt idx="13">
                  <c:v>9.573277</c:v>
                </c:pt>
                <c:pt idx="14">
                  <c:v>9.64366</c:v>
                </c:pt>
                <c:pt idx="15">
                  <c:v>11.402277</c:v>
                </c:pt>
                <c:pt idx="16">
                  <c:v>12.449573</c:v>
                </c:pt>
                <c:pt idx="17">
                  <c:v>9.343662</c:v>
                </c:pt>
                <c:pt idx="18">
                  <c:v>9.259701</c:v>
                </c:pt>
                <c:pt idx="19">
                  <c:v>11.63821</c:v>
                </c:pt>
                <c:pt idx="20">
                  <c:v>10.25088</c:v>
                </c:pt>
                <c:pt idx="21">
                  <c:v>11.411607</c:v>
                </c:pt>
                <c:pt idx="22">
                  <c:v>9.66642</c:v>
                </c:pt>
                <c:pt idx="23">
                  <c:v>10.68047</c:v>
                </c:pt>
                <c:pt idx="24">
                  <c:v>11.162644</c:v>
                </c:pt>
                <c:pt idx="25">
                  <c:v>11.882896</c:v>
                </c:pt>
                <c:pt idx="26">
                  <c:v>12.167956</c:v>
                </c:pt>
                <c:pt idx="27">
                  <c:v>10.093902</c:v>
                </c:pt>
                <c:pt idx="28">
                  <c:v>10.134721</c:v>
                </c:pt>
                <c:pt idx="29">
                  <c:v>12.719781</c:v>
                </c:pt>
                <c:pt idx="30">
                  <c:v>11.959376</c:v>
                </c:pt>
                <c:pt idx="31">
                  <c:v>11.150543</c:v>
                </c:pt>
                <c:pt idx="32">
                  <c:v>9.538262</c:v>
                </c:pt>
                <c:pt idx="33">
                  <c:v>11.607668</c:v>
                </c:pt>
                <c:pt idx="34">
                  <c:v>12.574115</c:v>
                </c:pt>
                <c:pt idx="35">
                  <c:v>12.125487</c:v>
                </c:pt>
                <c:pt idx="36">
                  <c:v>9.481057</c:v>
                </c:pt>
                <c:pt idx="37">
                  <c:v>9.761458</c:v>
                </c:pt>
                <c:pt idx="38">
                  <c:v>8.974038</c:v>
                </c:pt>
                <c:pt idx="39">
                  <c:v>9.694767</c:v>
                </c:pt>
                <c:pt idx="40">
                  <c:v>10.475772</c:v>
                </c:pt>
                <c:pt idx="41">
                  <c:v>10.263861</c:v>
                </c:pt>
                <c:pt idx="42">
                  <c:v>12.522273</c:v>
                </c:pt>
                <c:pt idx="43">
                  <c:v>9.826967</c:v>
                </c:pt>
                <c:pt idx="44">
                  <c:v>9.564695</c:v>
                </c:pt>
                <c:pt idx="45">
                  <c:v>9.197739</c:v>
                </c:pt>
                <c:pt idx="46">
                  <c:v>9.305734</c:v>
                </c:pt>
                <c:pt idx="47">
                  <c:v>10.322097</c:v>
                </c:pt>
                <c:pt idx="48">
                  <c:v>9.979352</c:v>
                </c:pt>
                <c:pt idx="49">
                  <c:v>12.365445</c:v>
                </c:pt>
                <c:pt idx="50">
                  <c:v>10.90789</c:v>
                </c:pt>
                <c:pt idx="51">
                  <c:v>10.844313</c:v>
                </c:pt>
                <c:pt idx="52">
                  <c:v>9.82107</c:v>
                </c:pt>
                <c:pt idx="53">
                  <c:v>10.174552</c:v>
                </c:pt>
                <c:pt idx="54">
                  <c:v>11.347034</c:v>
                </c:pt>
                <c:pt idx="55">
                  <c:v>11.990147</c:v>
                </c:pt>
                <c:pt idx="56">
                  <c:v>12.713419</c:v>
                </c:pt>
                <c:pt idx="57">
                  <c:v>8.266207</c:v>
                </c:pt>
                <c:pt idx="58">
                  <c:v>9.770998</c:v>
                </c:pt>
                <c:pt idx="59">
                  <c:v>9.641084</c:v>
                </c:pt>
                <c:pt idx="60">
                  <c:v>10.084765</c:v>
                </c:pt>
                <c:pt idx="61">
                  <c:v>10.289195</c:v>
                </c:pt>
                <c:pt idx="62">
                  <c:v>12.27905</c:v>
                </c:pt>
                <c:pt idx="63">
                  <c:v>10.884004</c:v>
                </c:pt>
                <c:pt idx="64">
                  <c:v>12.450781</c:v>
                </c:pt>
                <c:pt idx="65">
                  <c:v>11.797253</c:v>
                </c:pt>
                <c:pt idx="66">
                  <c:v>10.004803</c:v>
                </c:pt>
                <c:pt idx="67">
                  <c:v>10.061376</c:v>
                </c:pt>
                <c:pt idx="68">
                  <c:v>9.615211</c:v>
                </c:pt>
                <c:pt idx="69">
                  <c:v>11.573359</c:v>
                </c:pt>
                <c:pt idx="70">
                  <c:v>10.927527</c:v>
                </c:pt>
                <c:pt idx="71">
                  <c:v>8.473223</c:v>
                </c:pt>
                <c:pt idx="72">
                  <c:v>9.962424</c:v>
                </c:pt>
                <c:pt idx="73">
                  <c:v>12.616193</c:v>
                </c:pt>
                <c:pt idx="74">
                  <c:v>11.22409</c:v>
                </c:pt>
                <c:pt idx="75">
                  <c:v>12.736092</c:v>
                </c:pt>
                <c:pt idx="76">
                  <c:v>11.019923</c:v>
                </c:pt>
                <c:pt idx="77">
                  <c:v>9.893408</c:v>
                </c:pt>
                <c:pt idx="78">
                  <c:v>9.803196</c:v>
                </c:pt>
                <c:pt idx="79">
                  <c:v>10.852904</c:v>
                </c:pt>
                <c:pt idx="80">
                  <c:v>11.261742</c:v>
                </c:pt>
                <c:pt idx="81">
                  <c:v>10.542069</c:v>
                </c:pt>
                <c:pt idx="82">
                  <c:v>12.661283</c:v>
                </c:pt>
                <c:pt idx="83">
                  <c:v>10.021728</c:v>
                </c:pt>
                <c:pt idx="84">
                  <c:v>12.357433</c:v>
                </c:pt>
                <c:pt idx="85">
                  <c:v>9.437095</c:v>
                </c:pt>
                <c:pt idx="86">
                  <c:v>9.383813</c:v>
                </c:pt>
                <c:pt idx="87">
                  <c:v>12.426483</c:v>
                </c:pt>
                <c:pt idx="88">
                  <c:v>11.524294</c:v>
                </c:pt>
                <c:pt idx="89">
                  <c:v>11.292571</c:v>
                </c:pt>
                <c:pt idx="90">
                  <c:v>10.606508</c:v>
                </c:pt>
                <c:pt idx="91">
                  <c:v>9.047145</c:v>
                </c:pt>
                <c:pt idx="92">
                  <c:v>9.863303</c:v>
                </c:pt>
                <c:pt idx="93">
                  <c:v>9.853079</c:v>
                </c:pt>
                <c:pt idx="94">
                  <c:v>12.101777</c:v>
                </c:pt>
                <c:pt idx="95">
                  <c:v>9.804182</c:v>
                </c:pt>
                <c:pt idx="96">
                  <c:v>12.454237</c:v>
                </c:pt>
                <c:pt idx="97">
                  <c:v>11.719664</c:v>
                </c:pt>
                <c:pt idx="98">
                  <c:v>9.558891</c:v>
                </c:pt>
                <c:pt idx="99">
                  <c:v>10.552281</c:v>
                </c:pt>
                <c:pt idx="100">
                  <c:v>10.811307</c:v>
                </c:pt>
                <c:pt idx="101">
                  <c:v>9.678681</c:v>
                </c:pt>
                <c:pt idx="102">
                  <c:v>9.1906</c:v>
                </c:pt>
                <c:pt idx="103">
                  <c:v>9.586041</c:v>
                </c:pt>
                <c:pt idx="104">
                  <c:v>10.110517</c:v>
                </c:pt>
                <c:pt idx="105">
                  <c:v>9.384118</c:v>
                </c:pt>
                <c:pt idx="106">
                  <c:v>10.753363</c:v>
                </c:pt>
                <c:pt idx="107">
                  <c:v>9.566289</c:v>
                </c:pt>
                <c:pt idx="108">
                  <c:v>11.985929</c:v>
                </c:pt>
                <c:pt idx="109">
                  <c:v>9.473049</c:v>
                </c:pt>
                <c:pt idx="110">
                  <c:v>12.725382</c:v>
                </c:pt>
                <c:pt idx="111">
                  <c:v>11.505103</c:v>
                </c:pt>
                <c:pt idx="112">
                  <c:v>10.233325</c:v>
                </c:pt>
                <c:pt idx="113">
                  <c:v>10.036309</c:v>
                </c:pt>
                <c:pt idx="114">
                  <c:v>10.122536</c:v>
                </c:pt>
                <c:pt idx="115">
                  <c:v>12.131484</c:v>
                </c:pt>
                <c:pt idx="116">
                  <c:v>10.333212</c:v>
                </c:pt>
                <c:pt idx="117">
                  <c:v>9.98582</c:v>
                </c:pt>
                <c:pt idx="118">
                  <c:v>12.398949</c:v>
                </c:pt>
                <c:pt idx="119">
                  <c:v>8.878058</c:v>
                </c:pt>
                <c:pt idx="120">
                  <c:v>11.208004</c:v>
                </c:pt>
                <c:pt idx="121">
                  <c:v>9.248298</c:v>
                </c:pt>
                <c:pt idx="122">
                  <c:v>11.128035</c:v>
                </c:pt>
                <c:pt idx="123">
                  <c:v>11.791314</c:v>
                </c:pt>
                <c:pt idx="124">
                  <c:v>9.615711</c:v>
                </c:pt>
                <c:pt idx="125">
                  <c:v>10.170337</c:v>
                </c:pt>
                <c:pt idx="126">
                  <c:v>10.018988</c:v>
                </c:pt>
                <c:pt idx="127">
                  <c:v>10.872807</c:v>
                </c:pt>
                <c:pt idx="128">
                  <c:v>12.093883</c:v>
                </c:pt>
                <c:pt idx="129">
                  <c:v>12.411944</c:v>
                </c:pt>
                <c:pt idx="130">
                  <c:v>9.239487</c:v>
                </c:pt>
                <c:pt idx="131">
                  <c:v>10.422154</c:v>
                </c:pt>
                <c:pt idx="132">
                  <c:v>10.086994</c:v>
                </c:pt>
                <c:pt idx="133">
                  <c:v>10.951097</c:v>
                </c:pt>
                <c:pt idx="134">
                  <c:v>12.210776</c:v>
                </c:pt>
                <c:pt idx="135">
                  <c:v>10.136916</c:v>
                </c:pt>
                <c:pt idx="136">
                  <c:v>9.773353</c:v>
                </c:pt>
                <c:pt idx="137">
                  <c:v>11.188756</c:v>
                </c:pt>
                <c:pt idx="138">
                  <c:v>10.132451</c:v>
                </c:pt>
                <c:pt idx="139">
                  <c:v>9.869838</c:v>
                </c:pt>
                <c:pt idx="140">
                  <c:v>10.243129</c:v>
                </c:pt>
                <c:pt idx="141">
                  <c:v>10.86515</c:v>
                </c:pt>
                <c:pt idx="142">
                  <c:v>9.973329</c:v>
                </c:pt>
                <c:pt idx="143">
                  <c:v>8.685161</c:v>
                </c:pt>
                <c:pt idx="144">
                  <c:v>9.004497</c:v>
                </c:pt>
                <c:pt idx="145">
                  <c:v>9.167727</c:v>
                </c:pt>
                <c:pt idx="146">
                  <c:v>12.30136</c:v>
                </c:pt>
                <c:pt idx="147">
                  <c:v>12.300822</c:v>
                </c:pt>
                <c:pt idx="148">
                  <c:v>9.710814</c:v>
                </c:pt>
                <c:pt idx="149">
                  <c:v>9.685926</c:v>
                </c:pt>
                <c:pt idx="150">
                  <c:v>11.650641</c:v>
                </c:pt>
                <c:pt idx="151">
                  <c:v>9.626722</c:v>
                </c:pt>
                <c:pt idx="152">
                  <c:v>9.166885</c:v>
                </c:pt>
                <c:pt idx="153">
                  <c:v>9.593069</c:v>
                </c:pt>
                <c:pt idx="154">
                  <c:v>10.955938</c:v>
                </c:pt>
                <c:pt idx="155">
                  <c:v>10.030437</c:v>
                </c:pt>
                <c:pt idx="156">
                  <c:v>9.45992</c:v>
                </c:pt>
                <c:pt idx="157">
                  <c:v>9.962878</c:v>
                </c:pt>
                <c:pt idx="158">
                  <c:v>12.692306</c:v>
                </c:pt>
                <c:pt idx="159">
                  <c:v>11.086147</c:v>
                </c:pt>
                <c:pt idx="160">
                  <c:v>11.392349</c:v>
                </c:pt>
                <c:pt idx="161">
                  <c:v>11.624668</c:v>
                </c:pt>
                <c:pt idx="162">
                  <c:v>10.015849</c:v>
                </c:pt>
                <c:pt idx="163">
                  <c:v>9.911834</c:v>
                </c:pt>
                <c:pt idx="164">
                  <c:v>9.345087</c:v>
                </c:pt>
                <c:pt idx="165">
                  <c:v>9.24244</c:v>
                </c:pt>
                <c:pt idx="166">
                  <c:v>11.180465</c:v>
                </c:pt>
                <c:pt idx="167">
                  <c:v>9.947941</c:v>
                </c:pt>
                <c:pt idx="168">
                  <c:v>9.957945</c:v>
                </c:pt>
                <c:pt idx="169">
                  <c:v>11.960067</c:v>
                </c:pt>
                <c:pt idx="170">
                  <c:v>12.326832</c:v>
                </c:pt>
                <c:pt idx="171">
                  <c:v>11.812137</c:v>
                </c:pt>
                <c:pt idx="172">
                  <c:v>9.696838</c:v>
                </c:pt>
                <c:pt idx="173">
                  <c:v>10.690538</c:v>
                </c:pt>
                <c:pt idx="174">
                  <c:v>9.310367</c:v>
                </c:pt>
                <c:pt idx="175">
                  <c:v>9.818359</c:v>
                </c:pt>
                <c:pt idx="176">
                  <c:v>9.574053</c:v>
                </c:pt>
                <c:pt idx="177">
                  <c:v>12.126494</c:v>
                </c:pt>
                <c:pt idx="178">
                  <c:v>12.389532</c:v>
                </c:pt>
                <c:pt idx="179">
                  <c:v>12.14589</c:v>
                </c:pt>
                <c:pt idx="180">
                  <c:v>11.303117</c:v>
                </c:pt>
                <c:pt idx="181">
                  <c:v>9.668423</c:v>
                </c:pt>
                <c:pt idx="182">
                  <c:v>10.04319</c:v>
                </c:pt>
                <c:pt idx="183">
                  <c:v>10.165148</c:v>
                </c:pt>
                <c:pt idx="184">
                  <c:v>10.989955</c:v>
                </c:pt>
                <c:pt idx="185">
                  <c:v>8.567246</c:v>
                </c:pt>
                <c:pt idx="186">
                  <c:v>11.34739</c:v>
                </c:pt>
                <c:pt idx="187">
                  <c:v>11.735142</c:v>
                </c:pt>
                <c:pt idx="188">
                  <c:v>9.871047</c:v>
                </c:pt>
                <c:pt idx="189">
                  <c:v>10.022299</c:v>
                </c:pt>
                <c:pt idx="190">
                  <c:v>12.461531</c:v>
                </c:pt>
                <c:pt idx="191">
                  <c:v>9.522452</c:v>
                </c:pt>
                <c:pt idx="192">
                  <c:v>10.256453</c:v>
                </c:pt>
                <c:pt idx="193">
                  <c:v>9.863321</c:v>
                </c:pt>
                <c:pt idx="194">
                  <c:v>8.63591</c:v>
                </c:pt>
                <c:pt idx="195">
                  <c:v>12.709558</c:v>
                </c:pt>
                <c:pt idx="196">
                  <c:v>9.676063</c:v>
                </c:pt>
                <c:pt idx="197">
                  <c:v>9.624313</c:v>
                </c:pt>
                <c:pt idx="198">
                  <c:v>10.043607</c:v>
                </c:pt>
                <c:pt idx="199">
                  <c:v>9.822716</c:v>
                </c:pt>
                <c:pt idx="200">
                  <c:v>11.823361</c:v>
                </c:pt>
                <c:pt idx="201">
                  <c:v>12.219981</c:v>
                </c:pt>
                <c:pt idx="202">
                  <c:v>10.042197</c:v>
                </c:pt>
                <c:pt idx="203">
                  <c:v>9.654536</c:v>
                </c:pt>
                <c:pt idx="204">
                  <c:v>9.849819</c:v>
                </c:pt>
                <c:pt idx="205">
                  <c:v>11.256457</c:v>
                </c:pt>
                <c:pt idx="206">
                  <c:v>9.987619</c:v>
                </c:pt>
                <c:pt idx="207">
                  <c:v>11.04902</c:v>
                </c:pt>
                <c:pt idx="208">
                  <c:v>9.182907</c:v>
                </c:pt>
                <c:pt idx="209">
                  <c:v>12.289143</c:v>
                </c:pt>
                <c:pt idx="210">
                  <c:v>12.74082</c:v>
                </c:pt>
                <c:pt idx="211">
                  <c:v>9.606633</c:v>
                </c:pt>
                <c:pt idx="212">
                  <c:v>9.976997</c:v>
                </c:pt>
                <c:pt idx="213">
                  <c:v>8.937771</c:v>
                </c:pt>
                <c:pt idx="214">
                  <c:v>10.521615</c:v>
                </c:pt>
                <c:pt idx="215">
                  <c:v>12.532437</c:v>
                </c:pt>
                <c:pt idx="216">
                  <c:v>10.059018</c:v>
                </c:pt>
                <c:pt idx="217">
                  <c:v>12.048089</c:v>
                </c:pt>
                <c:pt idx="218">
                  <c:v>10.963478</c:v>
                </c:pt>
                <c:pt idx="219">
                  <c:v>11.021472</c:v>
                </c:pt>
                <c:pt idx="220">
                  <c:v>10.112701</c:v>
                </c:pt>
                <c:pt idx="221">
                  <c:v>9.968899</c:v>
                </c:pt>
                <c:pt idx="222">
                  <c:v>9.234572</c:v>
                </c:pt>
                <c:pt idx="223">
                  <c:v>12.495681</c:v>
                </c:pt>
                <c:pt idx="224">
                  <c:v>12.303043</c:v>
                </c:pt>
                <c:pt idx="225">
                  <c:v>9.625193</c:v>
                </c:pt>
                <c:pt idx="226">
                  <c:v>9.784191</c:v>
                </c:pt>
                <c:pt idx="227">
                  <c:v>9.959277</c:v>
                </c:pt>
                <c:pt idx="228">
                  <c:v>11.01822</c:v>
                </c:pt>
                <c:pt idx="229">
                  <c:v>10.420399</c:v>
                </c:pt>
                <c:pt idx="230">
                  <c:v>10.959748</c:v>
                </c:pt>
                <c:pt idx="231">
                  <c:v>9.590126</c:v>
                </c:pt>
                <c:pt idx="232">
                  <c:v>8.815029</c:v>
                </c:pt>
                <c:pt idx="233">
                  <c:v>9.276065</c:v>
                </c:pt>
                <c:pt idx="234">
                  <c:v>11.805145</c:v>
                </c:pt>
                <c:pt idx="235">
                  <c:v>9.807675</c:v>
                </c:pt>
                <c:pt idx="236">
                  <c:v>10.297191</c:v>
                </c:pt>
                <c:pt idx="237">
                  <c:v>9.128448</c:v>
                </c:pt>
                <c:pt idx="238">
                  <c:v>10.568099</c:v>
                </c:pt>
                <c:pt idx="239">
                  <c:v>8.910727</c:v>
                </c:pt>
                <c:pt idx="240">
                  <c:v>9.192165</c:v>
                </c:pt>
                <c:pt idx="241">
                  <c:v>9.77255</c:v>
                </c:pt>
                <c:pt idx="242">
                  <c:v>10.588449</c:v>
                </c:pt>
                <c:pt idx="243">
                  <c:v>10.798155</c:v>
                </c:pt>
                <c:pt idx="244">
                  <c:v>9.555992</c:v>
                </c:pt>
                <c:pt idx="245">
                  <c:v>12.525832</c:v>
                </c:pt>
                <c:pt idx="246">
                  <c:v>10.948188</c:v>
                </c:pt>
                <c:pt idx="247">
                  <c:v>11.154032</c:v>
                </c:pt>
                <c:pt idx="248">
                  <c:v>12.273439</c:v>
                </c:pt>
                <c:pt idx="249">
                  <c:v>9.744416</c:v>
                </c:pt>
                <c:pt idx="250">
                  <c:v>9.938357</c:v>
                </c:pt>
                <c:pt idx="251">
                  <c:v>10.120062</c:v>
                </c:pt>
                <c:pt idx="252">
                  <c:v>9.872538</c:v>
                </c:pt>
                <c:pt idx="253">
                  <c:v>9.297267</c:v>
                </c:pt>
                <c:pt idx="254">
                  <c:v>11.28019</c:v>
                </c:pt>
                <c:pt idx="255">
                  <c:v>9.919136</c:v>
                </c:pt>
                <c:pt idx="256">
                  <c:v>10.024196</c:v>
                </c:pt>
                <c:pt idx="257">
                  <c:v>9.153797</c:v>
                </c:pt>
                <c:pt idx="258">
                  <c:v>9.102837</c:v>
                </c:pt>
                <c:pt idx="259">
                  <c:v>9.711662</c:v>
                </c:pt>
                <c:pt idx="260">
                  <c:v>9.745093</c:v>
                </c:pt>
                <c:pt idx="261">
                  <c:v>10.123534</c:v>
                </c:pt>
                <c:pt idx="262">
                  <c:v>12.683441</c:v>
                </c:pt>
                <c:pt idx="263">
                  <c:v>12.323115</c:v>
                </c:pt>
                <c:pt idx="264">
                  <c:v>11.113949</c:v>
                </c:pt>
                <c:pt idx="265">
                  <c:v>11.455708</c:v>
                </c:pt>
                <c:pt idx="266">
                  <c:v>10.054632</c:v>
                </c:pt>
                <c:pt idx="267">
                  <c:v>8.582143</c:v>
                </c:pt>
                <c:pt idx="268">
                  <c:v>9.502257</c:v>
                </c:pt>
                <c:pt idx="269">
                  <c:v>9.716276</c:v>
                </c:pt>
                <c:pt idx="270">
                  <c:v>11.758642</c:v>
                </c:pt>
                <c:pt idx="271">
                  <c:v>10.95356</c:v>
                </c:pt>
                <c:pt idx="272">
                  <c:v>8.930748</c:v>
                </c:pt>
                <c:pt idx="273">
                  <c:v>12.123669</c:v>
                </c:pt>
                <c:pt idx="274">
                  <c:v>9.767767</c:v>
                </c:pt>
                <c:pt idx="275">
                  <c:v>12.776651</c:v>
                </c:pt>
                <c:pt idx="276">
                  <c:v>11.03334</c:v>
                </c:pt>
                <c:pt idx="277">
                  <c:v>9.692166</c:v>
                </c:pt>
                <c:pt idx="278">
                  <c:v>10.002448</c:v>
                </c:pt>
                <c:pt idx="279">
                  <c:v>10.209408</c:v>
                </c:pt>
                <c:pt idx="280">
                  <c:v>8.508809</c:v>
                </c:pt>
                <c:pt idx="281">
                  <c:v>10.057813</c:v>
                </c:pt>
                <c:pt idx="282">
                  <c:v>11.94748</c:v>
                </c:pt>
                <c:pt idx="283">
                  <c:v>10.362876</c:v>
                </c:pt>
                <c:pt idx="284">
                  <c:v>9.573439</c:v>
                </c:pt>
                <c:pt idx="285">
                  <c:v>10.498344</c:v>
                </c:pt>
                <c:pt idx="286">
                  <c:v>12.38972</c:v>
                </c:pt>
                <c:pt idx="287">
                  <c:v>10.011662</c:v>
                </c:pt>
                <c:pt idx="288">
                  <c:v>12.352279</c:v>
                </c:pt>
                <c:pt idx="289">
                  <c:v>9.240632</c:v>
                </c:pt>
                <c:pt idx="290">
                  <c:v>11.928711</c:v>
                </c:pt>
                <c:pt idx="291">
                  <c:v>11.422472</c:v>
                </c:pt>
                <c:pt idx="292">
                  <c:v>9.663218</c:v>
                </c:pt>
                <c:pt idx="293">
                  <c:v>10.750448</c:v>
                </c:pt>
                <c:pt idx="294">
                  <c:v>9.941867</c:v>
                </c:pt>
                <c:pt idx="295">
                  <c:v>9.550292</c:v>
                </c:pt>
                <c:pt idx="296">
                  <c:v>10.745077</c:v>
                </c:pt>
                <c:pt idx="297">
                  <c:v>9.901578</c:v>
                </c:pt>
                <c:pt idx="298">
                  <c:v>9.271718</c:v>
                </c:pt>
                <c:pt idx="299">
                  <c:v>10.863008</c:v>
                </c:pt>
              </c:numCache>
            </c:numRef>
          </c:yVal>
        </c:ser>
        <c:dLbls>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3"/>
          <c:min val="8"/>
        </c:scaling>
        <c:delete val="0"/>
        <c:axPos val="l"/>
        <c:majorGridlines>
          <c:spPr>
            <a:ln xmlns:a="http://schemas.openxmlformats.org/drawingml/2006/main" w="9525">
              <a:solidFill>
                <a:srgbClr val="D8D0C4"/>
              </a:solidFill>
            </a:ln>
          </c:spPr>
        </c:majorGridlines>
        <c:title>
          <c:tx>
            <c:rich>
              <a:bodyPr xmlns:a="http://schemas.openxmlformats.org/drawingml/2006/main"/>
              <a:lstStyle xmlns:a="http://schemas.openxmlformats.org/drawingml/2006/main"/>
              <a:p xmlns:a="http://schemas.openxmlformats.org/drawingml/2006/main">
                <a:r>
                  <a:rPr>
                    <a:latin typeface="Liberation Sans"/>
                    <a:ea typeface="Liberation Sans"/>
                    <a:cs typeface="Liberation Sans"/>
                  </a:rPr>
                  <a:t>Latitude</a:t>
                </a:r>
              </a:p>
            </c:rich>
          </c:tx>
          <c:overlay val="0"/>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2C42"/>
                </a:solidFill>
                <a:latin typeface="Liberation Sans"/>
                <a:ea typeface="Liberation Sans"/>
                <a:cs typeface="Liberation Sans"/>
              </a:defRPr>
            </a:pPr>
          </a:p>
        </c:txPr>
        <c:crossAx val="48650112"/>
      </c:valAx>
      <c:valAx>
        <c:axId val="48650112"/>
        <c:scaling>
          <c:orientation val="minMax"/>
          <c:max val="77.7"/>
          <c:min val="74.5"/>
        </c:scaling>
        <c:delete val="0"/>
        <c:axPos val="b"/>
        <c:majorGridlines>
          <c:spPr>
            <a:ln xmlns:a="http://schemas.openxmlformats.org/drawingml/2006/main" w="9525">
              <a:solidFill>
                <a:srgbClr val="D8D0C4"/>
              </a:solidFill>
            </a:ln>
          </c:spPr>
        </c:majorGridlines>
        <c:title>
          <c:tx>
            <c:rich>
              <a:bodyPr xmlns:a="http://schemas.openxmlformats.org/drawingml/2006/main"/>
              <a:lstStyle xmlns:a="http://schemas.openxmlformats.org/drawingml/2006/main"/>
              <a:p xmlns:a="http://schemas.openxmlformats.org/drawingml/2006/main">
                <a:r>
                  <a:rPr>
                    <a:latin typeface="Liberation Sans"/>
                    <a:ea typeface="Liberation Sans"/>
                    <a:cs typeface="Liberation Sans"/>
                  </a:rPr>
                  <a:t>Longitude</a:t>
                </a:r>
              </a:p>
            </c:rich>
          </c:tx>
          <c:overlay val="0"/>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2C42"/>
                </a:solidFill>
                <a:latin typeface="Liberation Sans"/>
                <a:ea typeface="Liberation Sans"/>
                <a:cs typeface="Liberation Sans"/>
              </a:defRPr>
            </a:pPr>
          </a:p>
        </c:txPr>
        <c:crossAx val="48672768"/>
      </c:valAx>
      <c:spPr>
        <a:solidFill xmlns:a="http://schemas.openxmlformats.org/drawingml/2006/main">
          <a:srgbClr val="F5F1E8"/>
        </a:solidFill>
      </c:spPr>
    </c:plotArea>
    <c:plotVisOnly val="1"/>
  </c:chart>
  <c:spPr>
    <a:solidFill xmlns:a="http://schemas.openxmlformats.org/drawingml/2006/main">
      <a:srgbClr val="F5F1E8"/>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Images</c:v>
          </c:tx>
          <c:spPr>
            <a:solidFill xmlns:a="http://schemas.openxmlformats.org/drawingml/2006/main">
              <a:srgbClr val="172C42"/>
            </a:solidFill>
          </c:spPr>
          <c:invertIfNegative val="0"/>
          <c:dPt>
            <c:idx val="0"/>
            <c:invertIfNegative val="0"/>
            <c:spPr>
              <a:solidFill xmlns:a="http://schemas.openxmlformats.org/drawingml/2006/main">
                <a:srgbClr val="172C42"/>
              </a:solidFill>
            </c:spPr>
          </c:dPt>
          <c:dPt>
            <c:idx val="1"/>
            <c:invertIfNegative val="0"/>
            <c:spPr>
              <a:solidFill xmlns:a="http://schemas.openxmlformats.org/drawingml/2006/main">
                <a:srgbClr val="172C42"/>
              </a:solidFill>
            </c:spPr>
          </c:dPt>
          <c:dPt>
            <c:idx val="2"/>
            <c:invertIfNegative val="0"/>
            <c:spPr>
              <a:solidFill xmlns:a="http://schemas.openxmlformats.org/drawingml/2006/main">
                <a:srgbClr val="D5663F"/>
              </a:solidFill>
            </c:spPr>
          </c:dPt>
          <c:cat>
            <c:strRef>
              <c:f>'Chart Data'!$A$2:$A$4</c:f>
              <c:strCache>
                <c:ptCount val="3"/>
                <c:pt idx="0">
                  <c:v>Training</c:v>
                </c:pt>
                <c:pt idx="1">
                  <c:v>Validation</c:v>
                </c:pt>
                <c:pt idx="2">
                  <c:v>Official test</c:v>
                </c:pt>
              </c:strCache>
            </c:strRef>
          </c:cat>
          <c:val>
            <c:numRef>
              <c:f>'Chart Data'!$B$2:$B$4</c:f>
              <c:numCache>
                <c:formatCode>0</c:formatCode>
                <c:ptCount val="3"/>
                <c:pt idx="0">
                  <c:v>15939</c:v>
                </c:pt>
                <c:pt idx="1">
                  <c:v>1000</c:v>
                </c:pt>
                <c:pt idx="2">
                  <c:v>357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250" b="1">
                  <a:solidFill>
                    <a:srgbClr val="172C42"/>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0C4"/>
            </a:solidFill>
          </a:ln>
        </c:spPr>
        <c:txPr>
          <a:bodyPr xmlns:a="http://schemas.openxmlformats.org/drawingml/2006/main" anchorCtr="1"/>
          <a:lstStyle xmlns:a="http://schemas.openxmlformats.org/drawingml/2006/main"/>
          <a:p xmlns:a="http://schemas.openxmlformats.org/drawingml/2006/main">
            <a:pPr>
              <a:defRPr sz="1875">
                <a:solidFill>
                  <a:srgbClr val="172C42"/>
                </a:solidFill>
                <a:latin typeface="Liberation Sans"/>
                <a:ea typeface="Liberation Sans"/>
                <a:cs typeface="Liberation Sans"/>
              </a:defRPr>
            </a:pPr>
          </a:p>
        </c:txPr>
        <c:crossAx val="48672768"/>
      </c:catAx>
      <c:valAx>
        <c:axId val="48672768"/>
        <c:scaling>
          <c:orientation val="minMax"/>
          <c:max val="18500"/>
          <c:min val="0"/>
        </c:scaling>
        <c:delete val="0"/>
        <c:axPos val="l"/>
        <c:majorGridlines>
          <c:spPr>
            <a:ln xmlns:a="http://schemas.openxmlformats.org/drawingml/2006/main" w="9525">
              <a:solidFill>
                <a:srgbClr val="D8D0C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26A70"/>
                </a:solidFill>
                <a:latin typeface="Liberation Sans"/>
                <a:ea typeface="Liberation Sans"/>
                <a:cs typeface="Liberation Sans"/>
              </a:defRPr>
            </a:pPr>
          </a:p>
        </c:txPr>
        <c:crossAx val="48650112"/>
        <c:crossBetween val="between"/>
      </c:valAx>
      <c:spPr>
        <a:solidFill xmlns:a="http://schemas.openxmlformats.org/drawingml/2006/main">
          <a:srgbClr val="F5F1E8"/>
        </a:solidFill>
      </c:spPr>
    </c:plotArea>
    <c:plotVisOnly val="1"/>
  </c:chart>
  <c:spPr>
    <a:solidFill xmlns:a="http://schemas.openxmlformats.org/drawingml/2006/main">
      <a:srgbClr val="F5F1E8"/>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Fraction</c:v>
          </c:tx>
          <c:spPr>
            <a:solidFill xmlns:a="http://schemas.openxmlformats.org/drawingml/2006/main">
              <a:srgbClr val="172C42"/>
            </a:solidFill>
          </c:spPr>
          <c:invertIfNegative val="0"/>
          <c:dPt>
            <c:idx val="0"/>
            <c:invertIfNegative val="0"/>
            <c:spPr>
              <a:solidFill xmlns:a="http://schemas.openxmlformats.org/drawingml/2006/main">
                <a:srgbClr val="172C42"/>
              </a:solidFill>
            </c:spPr>
          </c:dPt>
          <c:dPt>
            <c:idx val="1"/>
            <c:invertIfNegative val="0"/>
            <c:spPr>
              <a:solidFill xmlns:a="http://schemas.openxmlformats.org/drawingml/2006/main">
                <a:srgbClr val="172C42"/>
              </a:solidFill>
            </c:spPr>
          </c:dPt>
          <c:dPt>
            <c:idx val="2"/>
            <c:invertIfNegative val="0"/>
            <c:spPr>
              <a:solidFill xmlns:a="http://schemas.openxmlformats.org/drawingml/2006/main">
                <a:srgbClr val="D5663F"/>
              </a:solidFill>
            </c:spPr>
          </c:dPt>
          <c:cat>
            <c:strRef>
              <c:f>'Chart Data'!$A$2:$A$4</c:f>
              <c:strCache>
                <c:ptCount val="3"/>
                <c:pt idx="0">
                  <c:v>L5 baseline</c:v>
                </c:pt>
                <c:pt idx="1">
                  <c:v>L6 geographic</c:v>
                </c:pt>
                <c:pt idx="2">
                  <c:v>L7 hybrid</c:v>
                </c:pt>
              </c:strCache>
            </c:strRef>
          </c:cat>
          <c:val>
            <c:numRef>
              <c:f>'Chart Data'!$B$2:$B$4</c:f>
              <c:numCache>
                <c:formatCode>0%</c:formatCode>
                <c:ptCount val="3"/>
                <c:pt idx="0">
                  <c:v>0.4118</c:v>
                </c:pt>
                <c:pt idx="1">
                  <c:v>0.4762</c:v>
                </c:pt>
                <c:pt idx="2">
                  <c:v>0.535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250" b="1">
                  <a:solidFill>
                    <a:srgbClr val="172C42"/>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0C4"/>
            </a:solidFill>
          </a:ln>
        </c:spPr>
        <c:txPr>
          <a:bodyPr xmlns:a="http://schemas.openxmlformats.org/drawingml/2006/main" anchorCtr="1"/>
          <a:lstStyle xmlns:a="http://schemas.openxmlformats.org/drawingml/2006/main"/>
          <a:p xmlns:a="http://schemas.openxmlformats.org/drawingml/2006/main">
            <a:pPr>
              <a:defRPr sz="1875">
                <a:solidFill>
                  <a:srgbClr val="172C42"/>
                </a:solidFill>
                <a:latin typeface="Liberation Sans"/>
                <a:ea typeface="Liberation Sans"/>
                <a:cs typeface="Liberation Sans"/>
              </a:defRPr>
            </a:pPr>
          </a:p>
        </c:txPr>
        <c:crossAx val="48672768"/>
      </c:catAx>
      <c:valAx>
        <c:axId val="48672768"/>
        <c:scaling>
          <c:orientation val="minMax"/>
          <c:max val="0.6"/>
          <c:min val="0"/>
        </c:scaling>
        <c:delete val="0"/>
        <c:axPos val="l"/>
        <c:majorGridlines>
          <c:spPr>
            <a:ln xmlns:a="http://schemas.openxmlformats.org/drawingml/2006/main" w="9525">
              <a:solidFill>
                <a:srgbClr val="D8D0C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26A70"/>
                </a:solidFill>
                <a:latin typeface="Liberation Sans"/>
                <a:ea typeface="Liberation Sans"/>
                <a:cs typeface="Liberation Sans"/>
              </a:defRPr>
            </a:pPr>
          </a:p>
        </c:txPr>
        <c:crossAx val="48650112"/>
        <c:crossBetween val="between"/>
      </c:valAx>
      <c:spPr>
        <a:solidFill xmlns:a="http://schemas.openxmlformats.org/drawingml/2006/main">
          <a:srgbClr val="F5F1E8"/>
        </a:solidFill>
      </c:spPr>
    </c:plotArea>
    <c:plotVisOnly val="1"/>
  </c:chart>
  <c:spPr>
    <a:solidFill xmlns:a="http://schemas.openxmlformats.org/drawingml/2006/main">
      <a:srgbClr val="F5F1E8"/>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Fraction</c:v>
          </c:tx>
          <c:spPr>
            <a:solidFill xmlns:a="http://schemas.openxmlformats.org/drawingml/2006/main">
              <a:srgbClr val="172C42"/>
            </a:solidFill>
          </c:spPr>
          <c:invertIfNegative val="0"/>
          <c:dPt>
            <c:idx val="0"/>
            <c:invertIfNegative val="0"/>
            <c:spPr>
              <a:solidFill xmlns:a="http://schemas.openxmlformats.org/drawingml/2006/main">
                <a:srgbClr val="172C42"/>
              </a:solidFill>
            </c:spPr>
          </c:dPt>
          <c:dPt>
            <c:idx val="1"/>
            <c:invertIfNegative val="0"/>
            <c:spPr>
              <a:solidFill xmlns:a="http://schemas.openxmlformats.org/drawingml/2006/main">
                <a:srgbClr val="D5663F"/>
              </a:solidFill>
            </c:spPr>
          </c:dPt>
          <c:cat>
            <c:strRef>
              <c:f>'Chart Data'!$A$2:$A$3</c:f>
              <c:strCache>
                <c:ptCount val="2"/>
                <c:pt idx="0">
                  <c:v>Random validation</c:v>
                </c:pt>
                <c:pt idx="1">
                  <c:v>Official test</c:v>
                </c:pt>
              </c:strCache>
            </c:strRef>
          </c:cat>
          <c:val>
            <c:numRef>
              <c:f>'Chart Data'!$B$2:$B$3</c:f>
              <c:numCache>
                <c:formatCode>0%</c:formatCode>
                <c:ptCount val="2"/>
                <c:pt idx="0">
                  <c:v>0.982</c:v>
                </c:pt>
                <c:pt idx="1">
                  <c:v>0</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250" b="1">
                  <a:solidFill>
                    <a:srgbClr val="172C42"/>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0C4"/>
            </a:solidFill>
          </a:ln>
        </c:spPr>
        <c:txPr>
          <a:bodyPr xmlns:a="http://schemas.openxmlformats.org/drawingml/2006/main" anchorCtr="1"/>
          <a:lstStyle xmlns:a="http://schemas.openxmlformats.org/drawingml/2006/main"/>
          <a:p xmlns:a="http://schemas.openxmlformats.org/drawingml/2006/main">
            <a:pPr>
              <a:defRPr sz="1875">
                <a:solidFill>
                  <a:srgbClr val="172C42"/>
                </a:solidFill>
                <a:latin typeface="Liberation Sans"/>
                <a:ea typeface="Liberation Sans"/>
                <a:cs typeface="Liberation Sans"/>
              </a:defRPr>
            </a:pPr>
          </a:p>
        </c:txPr>
        <c:crossAx val="48672768"/>
      </c:catAx>
      <c:valAx>
        <c:axId val="48672768"/>
        <c:scaling>
          <c:orientation val="minMax"/>
          <c:max val="1.1"/>
          <c:min val="0"/>
        </c:scaling>
        <c:delete val="0"/>
        <c:axPos val="l"/>
        <c:majorGridlines>
          <c:spPr>
            <a:ln xmlns:a="http://schemas.openxmlformats.org/drawingml/2006/main" w="9525">
              <a:solidFill>
                <a:srgbClr val="D8D0C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26A70"/>
                </a:solidFill>
                <a:latin typeface="Liberation Sans"/>
                <a:ea typeface="Liberation Sans"/>
                <a:cs typeface="Liberation Sans"/>
              </a:defRPr>
            </a:pPr>
          </a:p>
        </c:txPr>
        <c:crossAx val="48650112"/>
        <c:crossBetween val="between"/>
      </c:valAx>
      <c:spPr>
        <a:solidFill xmlns:a="http://schemas.openxmlformats.org/drawingml/2006/main">
          <a:srgbClr val="F5F1E8"/>
        </a:solidFill>
      </c:spPr>
    </c:plotArea>
    <c:plotVisOnly val="1"/>
  </c:chart>
  <c:spPr>
    <a:solidFill xmlns:a="http://schemas.openxmlformats.org/drawingml/2006/main">
      <a:srgbClr val="F5F1E8"/>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Fraction</c:v>
          </c:tx>
          <c:spPr>
            <a:solidFill xmlns:a="http://schemas.openxmlformats.org/drawingml/2006/main">
              <a:srgbClr val="172C42"/>
            </a:solidFill>
          </c:spPr>
          <c:invertIfNegative val="0"/>
          <c:dPt>
            <c:idx val="0"/>
            <c:invertIfNegative val="0"/>
            <c:spPr>
              <a:solidFill xmlns:a="http://schemas.openxmlformats.org/drawingml/2006/main">
                <a:srgbClr val="172C42"/>
              </a:solidFill>
            </c:spPr>
          </c:dPt>
          <c:dPt>
            <c:idx val="1"/>
            <c:invertIfNegative val="0"/>
            <c:spPr>
              <a:solidFill xmlns:a="http://schemas.openxmlformats.org/drawingml/2006/main">
                <a:srgbClr val="D5663F"/>
              </a:solidFill>
            </c:spPr>
          </c:dPt>
          <c:cat>
            <c:strRef>
              <c:f>'Chart Data'!$A$2:$A$3</c:f>
              <c:strCache>
                <c:ptCount val="2"/>
                <c:pt idx="0">
                  <c:v>10,000 images</c:v>
                </c:pt>
                <c:pt idx="1">
                  <c:v>20,000 images</c:v>
                </c:pt>
              </c:strCache>
            </c:strRef>
          </c:cat>
          <c:val>
            <c:numRef>
              <c:f>'Chart Data'!$B$2:$B$3</c:f>
              <c:numCache>
                <c:formatCode>0%</c:formatCode>
                <c:ptCount val="2"/>
                <c:pt idx="0">
                  <c:v>0.03756</c:v>
                </c:pt>
                <c:pt idx="1">
                  <c:v>0.053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250" b="1">
                  <a:solidFill>
                    <a:srgbClr val="172C42"/>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0C4"/>
            </a:solidFill>
          </a:ln>
        </c:spPr>
        <c:txPr>
          <a:bodyPr xmlns:a="http://schemas.openxmlformats.org/drawingml/2006/main" anchorCtr="1"/>
          <a:lstStyle xmlns:a="http://schemas.openxmlformats.org/drawingml/2006/main"/>
          <a:p xmlns:a="http://schemas.openxmlformats.org/drawingml/2006/main">
            <a:pPr>
              <a:defRPr sz="1875">
                <a:solidFill>
                  <a:srgbClr val="172C42"/>
                </a:solidFill>
                <a:latin typeface="Liberation Sans"/>
                <a:ea typeface="Liberation Sans"/>
                <a:cs typeface="Liberation Sans"/>
              </a:defRPr>
            </a:pPr>
          </a:p>
        </c:txPr>
        <c:crossAx val="48672768"/>
      </c:catAx>
      <c:valAx>
        <c:axId val="48672768"/>
        <c:scaling>
          <c:orientation val="minMax"/>
          <c:max val="0.065"/>
          <c:min val="0"/>
        </c:scaling>
        <c:delete val="0"/>
        <c:axPos val="l"/>
        <c:majorGridlines>
          <c:spPr>
            <a:ln xmlns:a="http://schemas.openxmlformats.org/drawingml/2006/main" w="9525">
              <a:solidFill>
                <a:srgbClr val="D8D0C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26A70"/>
                </a:solidFill>
                <a:latin typeface="Liberation Sans"/>
                <a:ea typeface="Liberation Sans"/>
                <a:cs typeface="Liberation Sans"/>
              </a:defRPr>
            </a:pPr>
          </a:p>
        </c:txPr>
        <c:crossAx val="48650112"/>
        <c:crossBetween val="between"/>
      </c:valAx>
      <c:spPr>
        <a:solidFill xmlns:a="http://schemas.openxmlformats.org/drawingml/2006/main">
          <a:srgbClr val="F5F1E8"/>
        </a:solidFill>
      </c:spPr>
    </c:plotArea>
    <c:plotVisOnly val="1"/>
  </c:chart>
  <c:spPr>
    <a:solidFill xmlns:a="http://schemas.openxmlformats.org/drawingml/2006/main">
      <a:srgbClr val="F5F1E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EB9DE8-4756-408D-A2CB-10F916933CDE}"/>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2C42"/>
                </a:solidFill>
                <a:latin typeface="Liberation Sans"/>
                <a:ea typeface="Liberation Sans"/>
                <a:cs typeface="Liberation Sans"/>
              </a:defRPr>
            </a:defPPr>
            <a:lvl1pPr>
              <a:defRPr sz="3600" b="1">
                <a:solidFill>
                  <a:srgbClr val="172C42"/>
                </a:solidFill>
                <a:latin typeface="Liberation Sans"/>
                <a:ea typeface="Liberation Sans"/>
                <a:cs typeface="Liberation Sans"/>
              </a:defRPr>
            </a:lvl1pPr>
            <a:lvl2pPr>
              <a:defRPr sz="3600" b="1">
                <a:solidFill>
                  <a:srgbClr val="172C42"/>
                </a:solidFill>
                <a:latin typeface="Liberation Sans"/>
                <a:ea typeface="Liberation Sans"/>
                <a:cs typeface="Liberation Sans"/>
              </a:defRPr>
            </a:lvl2pPr>
            <a:lvl3pPr>
              <a:defRPr sz="3600" b="1">
                <a:solidFill>
                  <a:srgbClr val="172C42"/>
                </a:solidFill>
                <a:latin typeface="Liberation Sans"/>
                <a:ea typeface="Liberation Sans"/>
                <a:cs typeface="Liberation Sans"/>
              </a:defRPr>
            </a:lvl3pPr>
            <a:lvl4pPr>
              <a:defRPr sz="3600" b="1">
                <a:solidFill>
                  <a:srgbClr val="172C42"/>
                </a:solidFill>
                <a:latin typeface="Liberation Sans"/>
                <a:ea typeface="Liberation Sans"/>
                <a:cs typeface="Liberation Sans"/>
              </a:defRPr>
            </a:lvl4pPr>
            <a:lvl5pPr>
              <a:defRPr sz="3600" b="1">
                <a:solidFill>
                  <a:srgbClr val="172C42"/>
                </a:solidFill>
                <a:latin typeface="Liberation Sans"/>
                <a:ea typeface="Liberation Sans"/>
                <a:cs typeface="Liberation Sans"/>
              </a:defRPr>
            </a:lvl5pPr>
            <a:lvl6pPr>
              <a:defRPr sz="3600" b="1">
                <a:solidFill>
                  <a:srgbClr val="172C42"/>
                </a:solidFill>
                <a:latin typeface="Liberation Sans"/>
                <a:ea typeface="Liberation Sans"/>
                <a:cs typeface="Liberation Sans"/>
              </a:defRPr>
            </a:lvl6pPr>
            <a:lvl7pPr>
              <a:defRPr sz="3600" b="1">
                <a:solidFill>
                  <a:srgbClr val="172C42"/>
                </a:solidFill>
                <a:latin typeface="Liberation Sans"/>
                <a:ea typeface="Liberation Sans"/>
                <a:cs typeface="Liberation Sans"/>
              </a:defRPr>
            </a:lvl7pPr>
            <a:lvl8pPr>
              <a:defRPr sz="3600" b="1">
                <a:solidFill>
                  <a:srgbClr val="172C42"/>
                </a:solidFill>
                <a:latin typeface="Liberation Sans"/>
                <a:ea typeface="Liberation Sans"/>
                <a:cs typeface="Liberation Sans"/>
              </a:defRPr>
            </a:lvl8pPr>
            <a:lvl9pPr>
              <a:defRPr sz="3600" b="1">
                <a:solidFill>
                  <a:srgbClr val="172C42"/>
                </a:solidFill>
                <a:latin typeface="Liberation Sans"/>
                <a:ea typeface="Liberation Sans"/>
                <a:cs typeface="Liberation Sans"/>
              </a:defRPr>
            </a:lvl9pPr>
          </a:lstStyle>
          <a:p xmlns:a="http://schemas.openxmlformats.org/drawingml/2006/main">
            <a:pPr>
              <a:defRPr sz="3600" b="1">
                <a:solidFill>
                  <a:srgbClr val="172C42"/>
                </a:solidFill>
                <a:latin typeface="Liberation Sans"/>
                <a:ea typeface="Liberation Sans"/>
                <a:cs typeface="Liberation Sans"/>
              </a:defRPr>
            </a:pPr>
            <a:r>
              <a:rPr sz="3600" b="1">
                <a:solidFill>
                  <a:srgbClr val="172C42"/>
                </a:solidFill>
                <a:latin typeface="Liberation Sans"/>
                <a:ea typeface="Liberation Sans"/>
                <a:cs typeface="Liberation Sans"/>
              </a:rPr>
              <a:t>KPlaceNet</a:t>
            </a:r>
          </a:p>
        </p:txBody>
      </p:sp>
      <p:sp>
        <p:nvSpPr>
          <p:cNvPr id="2" name="">
            <a:extLst xmlns:a="http://schemas.openxmlformats.org/drawingml/2006/main">
              <a:ext uri="{FF2B5EF4-FFF2-40B4-BE49-F238E27FC236}">
                <a16:creationId xmlns:a16="http://schemas.microsoft.com/office/drawing/2014/main" id="{AB511CA6-92C0-431F-B7E7-A5C9EF50B7AF}"/>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D8D0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24FF66C-923E-450C-8890-9A73EBE232D6}"/>
              </a:ext>
            </a:extLst>
          </p:cNvPr>
          <p:cNvSpPr>
            <a:spLocks xmlns:a="http://schemas.openxmlformats.org/drawingml/2006/main" noGrp="1"/>
          </p:cNvSpPr>
          <p:nvPr/>
        </p:nvSpPr>
        <p:spPr>
          <a:xfrm xmlns:a="http://schemas.openxmlformats.org/drawingml/2006/main">
            <a:off x="60960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OSV-5M photograph, CC-BY-SA-4.0. Project group, CSE 311.</a:t>
            </a:r>
          </a:p>
        </p:txBody>
      </p:sp>
      <p:sp>
        <p:nvSpPr>
          <p:cNvPr id="4" name="">
            <a:extLst xmlns:a="http://schemas.openxmlformats.org/drawingml/2006/main">
              <a:ext uri="{FF2B5EF4-FFF2-40B4-BE49-F238E27FC236}">
                <a16:creationId xmlns:a16="http://schemas.microsoft.com/office/drawing/2014/main" id="{39F2F0A8-EC9A-4D60-B5BA-B551D8EFAB6C}"/>
              </a:ext>
            </a:extLst>
          </p:cNvPr>
          <p:cNvSpPr>
            <a:spLocks xmlns:a="http://schemas.openxmlformats.org/drawingml/2006/main" noGrp="1"/>
          </p:cNvSpPr>
          <p:nvPr/>
        </p:nvSpPr>
        <p:spPr>
          <a:xfrm xmlns:a="http://schemas.openxmlformats.org/drawingml/2006/main">
            <a:off x="11191875"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1</a:t>
            </a:r>
          </a:p>
        </p:txBody>
      </p:sp>
      <p:sp>
        <p:nvSpPr>
          <p:cNvPr id="5" name="">
            <a:extLst xmlns:a="http://schemas.openxmlformats.org/drawingml/2006/main">
              <a:ext uri="{FF2B5EF4-FFF2-40B4-BE49-F238E27FC236}">
                <a16:creationId xmlns:a16="http://schemas.microsoft.com/office/drawing/2014/main" id="{E5BDC65A-5D70-4A82-8A3E-DFE7D1B37EDB}"/>
              </a:ext>
            </a:extLst>
          </p:cNvPr>
          <p:cNvSpPr>
            <a:spLocks xmlns:a="http://schemas.openxmlformats.org/drawingml/2006/main" noGrp="1"/>
          </p:cNvSpPr>
          <p:nvPr/>
        </p:nvSpPr>
        <p:spPr>
          <a:xfrm xmlns:a="http://schemas.openxmlformats.org/drawingml/2006/main">
            <a:off x="609600" y="161925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172C42"/>
                </a:solidFill>
                <a:latin typeface="Liberation Sans"/>
                <a:ea typeface="Liberation Sans"/>
                <a:cs typeface="Liberation Sans"/>
              </a:defRPr>
            </a:defPPr>
            <a:lvl1pPr>
              <a:defRPr sz="3675" b="1">
                <a:solidFill>
                  <a:srgbClr val="172C42"/>
                </a:solidFill>
                <a:latin typeface="Liberation Sans"/>
                <a:ea typeface="Liberation Sans"/>
                <a:cs typeface="Liberation Sans"/>
              </a:defRPr>
            </a:lvl1pPr>
            <a:lvl2pPr>
              <a:defRPr sz="3675" b="1">
                <a:solidFill>
                  <a:srgbClr val="172C42"/>
                </a:solidFill>
                <a:latin typeface="Liberation Sans"/>
                <a:ea typeface="Liberation Sans"/>
                <a:cs typeface="Liberation Sans"/>
              </a:defRPr>
            </a:lvl2pPr>
            <a:lvl3pPr>
              <a:defRPr sz="3675" b="1">
                <a:solidFill>
                  <a:srgbClr val="172C42"/>
                </a:solidFill>
                <a:latin typeface="Liberation Sans"/>
                <a:ea typeface="Liberation Sans"/>
                <a:cs typeface="Liberation Sans"/>
              </a:defRPr>
            </a:lvl3pPr>
            <a:lvl4pPr>
              <a:defRPr sz="3675" b="1">
                <a:solidFill>
                  <a:srgbClr val="172C42"/>
                </a:solidFill>
                <a:latin typeface="Liberation Sans"/>
                <a:ea typeface="Liberation Sans"/>
                <a:cs typeface="Liberation Sans"/>
              </a:defRPr>
            </a:lvl4pPr>
            <a:lvl5pPr>
              <a:defRPr sz="3675" b="1">
                <a:solidFill>
                  <a:srgbClr val="172C42"/>
                </a:solidFill>
                <a:latin typeface="Liberation Sans"/>
                <a:ea typeface="Liberation Sans"/>
                <a:cs typeface="Liberation Sans"/>
              </a:defRPr>
            </a:lvl5pPr>
            <a:lvl6pPr>
              <a:defRPr sz="3675" b="1">
                <a:solidFill>
                  <a:srgbClr val="172C42"/>
                </a:solidFill>
                <a:latin typeface="Liberation Sans"/>
                <a:ea typeface="Liberation Sans"/>
                <a:cs typeface="Liberation Sans"/>
              </a:defRPr>
            </a:lvl6pPr>
            <a:lvl7pPr>
              <a:defRPr sz="3675" b="1">
                <a:solidFill>
                  <a:srgbClr val="172C42"/>
                </a:solidFill>
                <a:latin typeface="Liberation Sans"/>
                <a:ea typeface="Liberation Sans"/>
                <a:cs typeface="Liberation Sans"/>
              </a:defRPr>
            </a:lvl7pPr>
            <a:lvl8pPr>
              <a:defRPr sz="3675" b="1">
                <a:solidFill>
                  <a:srgbClr val="172C42"/>
                </a:solidFill>
                <a:latin typeface="Liberation Sans"/>
                <a:ea typeface="Liberation Sans"/>
                <a:cs typeface="Liberation Sans"/>
              </a:defRPr>
            </a:lvl8pPr>
            <a:lvl9pPr>
              <a:defRPr sz="3675" b="1">
                <a:solidFill>
                  <a:srgbClr val="172C42"/>
                </a:solidFill>
                <a:latin typeface="Liberation Sans"/>
                <a:ea typeface="Liberation Sans"/>
                <a:cs typeface="Liberation Sans"/>
              </a:defRPr>
            </a:lvl9pPr>
          </a:lstStyle>
          <a:p xmlns:a="http://schemas.openxmlformats.org/drawingml/2006/main">
            <a:pPr>
              <a:defRPr sz="3675" b="1">
                <a:solidFill>
                  <a:srgbClr val="172C42"/>
                </a:solidFill>
                <a:latin typeface="Liberation Sans"/>
                <a:ea typeface="Liberation Sans"/>
                <a:cs typeface="Liberation Sans"/>
              </a:defRPr>
            </a:pPr>
            <a:r>
              <a:rPr sz="3675" b="1">
                <a:solidFill>
                  <a:srgbClr val="172C42"/>
                </a:solidFill>
                <a:latin typeface="Liberation Sans"/>
                <a:ea typeface="Liberation Sans"/>
                <a:cs typeface="Liberation Sans"/>
              </a:rPr>
              <a:t>A geographic region</a:t>
            </a:r>
          </a:p>
          <a:p xmlns:a="http://schemas.openxmlformats.org/drawingml/2006/main">
            <a:pPr>
              <a:defRPr sz="3675" b="1">
                <a:solidFill>
                  <a:srgbClr val="172C42"/>
                </a:solidFill>
                <a:latin typeface="Liberation Sans"/>
                <a:ea typeface="Liberation Sans"/>
                <a:cs typeface="Liberation Sans"/>
              </a:defRPr>
            </a:pPr>
            <a:r>
              <a:rPr sz="3675" b="1">
                <a:solidFill>
                  <a:srgbClr val="172C42"/>
                </a:solidFill>
                <a:latin typeface="Liberation Sans"/>
                <a:ea typeface="Liberation Sans"/>
                <a:cs typeface="Liberation Sans"/>
              </a:rPr>
              <a:t>from one photograph</a:t>
            </a:r>
          </a:p>
        </p:txBody>
      </p:sp>
      <p:sp>
        <p:nvSpPr>
          <p:cNvPr id="6" name="">
            <a:extLst xmlns:a="http://schemas.openxmlformats.org/drawingml/2006/main">
              <a:ext uri="{FF2B5EF4-FFF2-40B4-BE49-F238E27FC236}">
                <a16:creationId xmlns:a16="http://schemas.microsoft.com/office/drawing/2014/main" id="{3421CAF6-3B4E-4AF8-820E-2E854D50143E}"/>
              </a:ext>
            </a:extLst>
          </p:cNvPr>
          <p:cNvSpPr>
            <a:spLocks xmlns:a="http://schemas.openxmlformats.org/drawingml/2006/main" noGrp="1"/>
          </p:cNvSpPr>
          <p:nvPr/>
        </p:nvSpPr>
        <p:spPr>
          <a:xfrm xmlns:a="http://schemas.openxmlformats.org/drawingml/2006/main">
            <a:off x="609600" y="34290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C42"/>
                </a:solidFill>
                <a:latin typeface="Liberation Sans"/>
                <a:ea typeface="Liberation Sans"/>
                <a:cs typeface="Liberation Sans"/>
              </a:defRPr>
            </a:defPPr>
            <a:lvl1pPr>
              <a:defRPr sz="2175" b="0">
                <a:solidFill>
                  <a:srgbClr val="172C42"/>
                </a:solidFill>
                <a:latin typeface="Liberation Sans"/>
                <a:ea typeface="Liberation Sans"/>
                <a:cs typeface="Liberation Sans"/>
              </a:defRPr>
            </a:lvl1pPr>
            <a:lvl2pPr>
              <a:defRPr sz="2175" b="0">
                <a:solidFill>
                  <a:srgbClr val="172C42"/>
                </a:solidFill>
                <a:latin typeface="Liberation Sans"/>
                <a:ea typeface="Liberation Sans"/>
                <a:cs typeface="Liberation Sans"/>
              </a:defRPr>
            </a:lvl2pPr>
            <a:lvl3pPr>
              <a:defRPr sz="2175" b="0">
                <a:solidFill>
                  <a:srgbClr val="172C42"/>
                </a:solidFill>
                <a:latin typeface="Liberation Sans"/>
                <a:ea typeface="Liberation Sans"/>
                <a:cs typeface="Liberation Sans"/>
              </a:defRPr>
            </a:lvl3pPr>
            <a:lvl4pPr>
              <a:defRPr sz="2175" b="0">
                <a:solidFill>
                  <a:srgbClr val="172C42"/>
                </a:solidFill>
                <a:latin typeface="Liberation Sans"/>
                <a:ea typeface="Liberation Sans"/>
                <a:cs typeface="Liberation Sans"/>
              </a:defRPr>
            </a:lvl4pPr>
            <a:lvl5pPr>
              <a:defRPr sz="2175" b="0">
                <a:solidFill>
                  <a:srgbClr val="172C42"/>
                </a:solidFill>
                <a:latin typeface="Liberation Sans"/>
                <a:ea typeface="Liberation Sans"/>
                <a:cs typeface="Liberation Sans"/>
              </a:defRPr>
            </a:lvl5pPr>
            <a:lvl6pPr>
              <a:defRPr sz="2175" b="0">
                <a:solidFill>
                  <a:srgbClr val="172C42"/>
                </a:solidFill>
                <a:latin typeface="Liberation Sans"/>
                <a:ea typeface="Liberation Sans"/>
                <a:cs typeface="Liberation Sans"/>
              </a:defRPr>
            </a:lvl6pPr>
            <a:lvl7pPr>
              <a:defRPr sz="2175" b="0">
                <a:solidFill>
                  <a:srgbClr val="172C42"/>
                </a:solidFill>
                <a:latin typeface="Liberation Sans"/>
                <a:ea typeface="Liberation Sans"/>
                <a:cs typeface="Liberation Sans"/>
              </a:defRPr>
            </a:lvl7pPr>
            <a:lvl8pPr>
              <a:defRPr sz="2175" b="0">
                <a:solidFill>
                  <a:srgbClr val="172C42"/>
                </a:solidFill>
                <a:latin typeface="Liberation Sans"/>
                <a:ea typeface="Liberation Sans"/>
                <a:cs typeface="Liberation Sans"/>
              </a:defRPr>
            </a:lvl8pPr>
            <a:lvl9pPr>
              <a:defRPr sz="2175" b="0">
                <a:solidFill>
                  <a:srgbClr val="172C42"/>
                </a:solidFill>
                <a:latin typeface="Liberation Sans"/>
                <a:ea typeface="Liberation Sans"/>
                <a:cs typeface="Liberation Sans"/>
              </a:defRPr>
            </a:lvl9pPr>
          </a:lstStyle>
          <a:p xmlns:a="http://schemas.openxmlformats.org/drawingml/2006/main">
            <a:pPr>
              <a:defRPr sz="2175" b="0">
                <a:solidFill>
                  <a:srgbClr val="172C42"/>
                </a:solidFill>
                <a:latin typeface="Liberation Sans"/>
                <a:ea typeface="Liberation Sans"/>
                <a:cs typeface="Liberation Sans"/>
              </a:defRPr>
            </a:pPr>
            <a:r>
              <a:rPr sz="2175" b="0">
                <a:solidFill>
                  <a:srgbClr val="172C42"/>
                </a:solidFill>
                <a:latin typeface="Liberation Sans"/>
                <a:ea typeface="Liberation Sans"/>
                <a:cs typeface="Liberation Sans"/>
              </a:rPr>
              <a:t>Image-based geolocation with</a:t>
            </a:r>
          </a:p>
          <a:p xmlns:a="http://schemas.openxmlformats.org/drawingml/2006/main">
            <a:pPr>
              <a:defRPr sz="2175" b="0">
                <a:solidFill>
                  <a:srgbClr val="172C42"/>
                </a:solidFill>
                <a:latin typeface="Liberation Sans"/>
                <a:ea typeface="Liberation Sans"/>
                <a:cs typeface="Liberation Sans"/>
              </a:defRPr>
            </a:pPr>
            <a:r>
              <a:rPr sz="2175" b="0">
                <a:solidFill>
                  <a:srgbClr val="172C42"/>
                </a:solidFill>
                <a:latin typeface="Liberation Sans"/>
                <a:ea typeface="Liberation Sans"/>
                <a:cs typeface="Liberation Sans"/>
              </a:rPr>
              <a:t>ResNet-50 and geographic cells</a:t>
            </a:r>
          </a:p>
        </p:txBody>
      </p:sp>
      <p:sp>
        <p:nvSpPr>
          <p:cNvPr id="7" name="">
            <a:extLst xmlns:a="http://schemas.openxmlformats.org/drawingml/2006/main">
              <a:ext uri="{FF2B5EF4-FFF2-40B4-BE49-F238E27FC236}">
                <a16:creationId xmlns:a16="http://schemas.microsoft.com/office/drawing/2014/main" id="{451E5994-9700-46D8-B939-82639D640DC7}"/>
              </a:ext>
            </a:extLst>
          </p:cNvPr>
          <p:cNvSpPr>
            <a:spLocks xmlns:a="http://schemas.openxmlformats.org/drawingml/2006/main" noGrp="1"/>
          </p:cNvSpPr>
          <p:nvPr/>
        </p:nvSpPr>
        <p:spPr>
          <a:xfrm xmlns:a="http://schemas.openxmlformats.org/drawingml/2006/main">
            <a:off x="609600" y="4695825"/>
            <a:ext cx="4857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72C42"/>
                </a:solidFill>
                <a:latin typeface="Liberation Sans"/>
                <a:ea typeface="Liberation Sans"/>
                <a:cs typeface="Liberation Sans"/>
              </a:defRPr>
            </a:defPPr>
            <a:lvl1pPr>
              <a:defRPr sz="1650" b="0">
                <a:solidFill>
                  <a:srgbClr val="172C42"/>
                </a:solidFill>
                <a:latin typeface="Liberation Sans"/>
                <a:ea typeface="Liberation Sans"/>
                <a:cs typeface="Liberation Sans"/>
              </a:defRPr>
            </a:lvl1pPr>
            <a:lvl2pPr>
              <a:defRPr sz="1650" b="0">
                <a:solidFill>
                  <a:srgbClr val="172C42"/>
                </a:solidFill>
                <a:latin typeface="Liberation Sans"/>
                <a:ea typeface="Liberation Sans"/>
                <a:cs typeface="Liberation Sans"/>
              </a:defRPr>
            </a:lvl2pPr>
            <a:lvl3pPr>
              <a:defRPr sz="1650" b="0">
                <a:solidFill>
                  <a:srgbClr val="172C42"/>
                </a:solidFill>
                <a:latin typeface="Liberation Sans"/>
                <a:ea typeface="Liberation Sans"/>
                <a:cs typeface="Liberation Sans"/>
              </a:defRPr>
            </a:lvl3pPr>
            <a:lvl4pPr>
              <a:defRPr sz="1650" b="0">
                <a:solidFill>
                  <a:srgbClr val="172C42"/>
                </a:solidFill>
                <a:latin typeface="Liberation Sans"/>
                <a:ea typeface="Liberation Sans"/>
                <a:cs typeface="Liberation Sans"/>
              </a:defRPr>
            </a:lvl4pPr>
            <a:lvl5pPr>
              <a:defRPr sz="1650" b="0">
                <a:solidFill>
                  <a:srgbClr val="172C42"/>
                </a:solidFill>
                <a:latin typeface="Liberation Sans"/>
                <a:ea typeface="Liberation Sans"/>
                <a:cs typeface="Liberation Sans"/>
              </a:defRPr>
            </a:lvl5pPr>
            <a:lvl6pPr>
              <a:defRPr sz="1650" b="0">
                <a:solidFill>
                  <a:srgbClr val="172C42"/>
                </a:solidFill>
                <a:latin typeface="Liberation Sans"/>
                <a:ea typeface="Liberation Sans"/>
                <a:cs typeface="Liberation Sans"/>
              </a:defRPr>
            </a:lvl6pPr>
            <a:lvl7pPr>
              <a:defRPr sz="1650" b="0">
                <a:solidFill>
                  <a:srgbClr val="172C42"/>
                </a:solidFill>
                <a:latin typeface="Liberation Sans"/>
                <a:ea typeface="Liberation Sans"/>
                <a:cs typeface="Liberation Sans"/>
              </a:defRPr>
            </a:lvl7pPr>
            <a:lvl8pPr>
              <a:defRPr sz="1650" b="0">
                <a:solidFill>
                  <a:srgbClr val="172C42"/>
                </a:solidFill>
                <a:latin typeface="Liberation Sans"/>
                <a:ea typeface="Liberation Sans"/>
                <a:cs typeface="Liberation Sans"/>
              </a:defRPr>
            </a:lvl8pPr>
            <a:lvl9pPr>
              <a:defRPr sz="1650" b="0">
                <a:solidFill>
                  <a:srgbClr val="172C42"/>
                </a:solidFill>
                <a:latin typeface="Liberation Sans"/>
                <a:ea typeface="Liberation Sans"/>
                <a:cs typeface="Liberation Sans"/>
              </a:defRPr>
            </a:lvl9pPr>
          </a:lstStyle>
          <a:p xmlns:a="http://schemas.openxmlformats.org/drawingml/2006/main">
            <a:pPr>
              <a:defRPr sz="1650" b="0">
                <a:solidFill>
                  <a:srgbClr val="172C42"/>
                </a:solidFill>
                <a:latin typeface="Liberation Sans"/>
                <a:ea typeface="Liberation Sans"/>
                <a:cs typeface="Liberation Sans"/>
              </a:defRPr>
            </a:pPr>
            <a:r>
              <a:rPr sz="1650" b="0">
                <a:solidFill>
                  <a:srgbClr val="172C42"/>
                </a:solidFill>
                <a:latin typeface="Liberation Sans"/>
                <a:ea typeface="Liberation Sans"/>
                <a:cs typeface="Liberation Sans"/>
              </a:rPr>
              <a:t>Prajwal Kumar K</a:t>
            </a:r>
          </a:p>
          <a:p xmlns:a="http://schemas.openxmlformats.org/drawingml/2006/main">
            <a:pPr>
              <a:defRPr sz="1650" b="0">
                <a:solidFill>
                  <a:srgbClr val="172C42"/>
                </a:solidFill>
                <a:latin typeface="Liberation Sans"/>
                <a:ea typeface="Liberation Sans"/>
                <a:cs typeface="Liberation Sans"/>
              </a:defRPr>
            </a:pPr>
            <a:r>
              <a:rPr sz="1650" b="0">
                <a:solidFill>
                  <a:srgbClr val="172C42"/>
                </a:solidFill>
                <a:latin typeface="Liberation Sans"/>
                <a:ea typeface="Liberation Sans"/>
                <a:cs typeface="Liberation Sans"/>
              </a:rPr>
              <a:t>Chandra Teja P</a:t>
            </a:r>
          </a:p>
          <a:p xmlns:a="http://schemas.openxmlformats.org/drawingml/2006/main">
            <a:pPr>
              <a:defRPr sz="1650" b="0">
                <a:solidFill>
                  <a:srgbClr val="172C42"/>
                </a:solidFill>
                <a:latin typeface="Liberation Sans"/>
                <a:ea typeface="Liberation Sans"/>
                <a:cs typeface="Liberation Sans"/>
              </a:defRPr>
            </a:pPr>
            <a:r>
              <a:rPr sz="1650" b="0">
                <a:solidFill>
                  <a:srgbClr val="172C42"/>
                </a:solidFill>
                <a:latin typeface="Liberation Sans"/>
                <a:ea typeface="Liberation Sans"/>
                <a:cs typeface="Liberation Sans"/>
              </a:rPr>
              <a:t>ShivKarthik Suresh</a:t>
            </a:r>
          </a:p>
          <a:p xmlns:a="http://schemas.openxmlformats.org/drawingml/2006/main">
            <a:pPr>
              <a:defRPr sz="1650" b="0">
                <a:solidFill>
                  <a:srgbClr val="172C42"/>
                </a:solidFill>
                <a:latin typeface="Liberation Sans"/>
                <a:ea typeface="Liberation Sans"/>
                <a:cs typeface="Liberation Sans"/>
              </a:defRPr>
            </a:pPr>
            <a:r>
              <a:rPr sz="1650" b="0">
                <a:solidFill>
                  <a:srgbClr val="172C42"/>
                </a:solidFill>
                <a:latin typeface="Liberation Sans"/>
                <a:ea typeface="Liberation Sans"/>
                <a:cs typeface="Liberation Sans"/>
              </a:rPr>
              <a:t>Hari Krishnan S</a:t>
            </a:r>
          </a:p>
        </p:txBody>
      </p:sp>
      <p:pic>
        <p:nvPicPr>
          <p:cNvPr id="8" name="">
            <a:extLst xmlns:a="http://schemas.openxmlformats.org/drawingml/2006/main">
              <a:ext uri="{FF2B5EF4-FFF2-40B4-BE49-F238E27FC236}">
                <a16:creationId xmlns:a16="http://schemas.microsoft.com/office/drawing/2014/main" id="{656D20FA-A69E-4DC5-B4CA-3E7CEA6D5398}"/>
              </a:ext>
            </a:extLst>
          </p:cNvPr>
          <p:cNvPicPr>
            <a:picLocks xmlns:a="http://schemas.openxmlformats.org/drawingml/2006/main" noChangeAspect="1"/>
          </p:cNvPicPr>
          <p:nvPr/>
        </p:nvPicPr>
        <p:blipFill>
          <a:blip xmlns:r="http://schemas.openxmlformats.org/officeDocument/2006/relationships" xmlns:a="http://schemas.openxmlformats.org/drawingml/2006/main" r:embed="Ra460583c81b647d9"/>
          <a:srcRect xmlns:a="http://schemas.openxmlformats.org/drawingml/2006/main" l="14306" t="0" r="14306" b="0"/>
          <a:stretch xmlns:a="http://schemas.openxmlformats.org/drawingml/2006/main">
            <a:fillRect l="0" t="0" r="0" b="0"/>
          </a:stretch>
        </p:blipFill>
        <p:spPr>
          <a:xfrm xmlns:a="http://schemas.openxmlformats.org/drawingml/2006/main">
            <a:off x="5953125" y="1428750"/>
            <a:ext cx="5619750" cy="4429125"/>
          </a:xfrm>
          <a:prstGeom xmlns:a="http://schemas.openxmlformats.org/drawingml/2006/main" prst="rect">
            <a:avLst/>
          </a:prstGeom>
        </p:spPr>
      </p:pic>
    </p:spTree>
    <p:extLst>
      <p:ext uri="{BB962C8B-B14F-4D97-AF65-F5344CB8AC3E}">
        <p14:creationId xmlns:p14="http://schemas.microsoft.com/office/powerpoint/2010/main" val="1671710223"/>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523DED3-29AC-4350-B8FC-DED4B856564B}"/>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2C42"/>
                </a:solidFill>
                <a:latin typeface="Liberation Sans"/>
                <a:ea typeface="Liberation Sans"/>
                <a:cs typeface="Liberation Sans"/>
              </a:defRPr>
            </a:defPPr>
            <a:lvl1pPr>
              <a:defRPr sz="3600" b="1">
                <a:solidFill>
                  <a:srgbClr val="172C42"/>
                </a:solidFill>
                <a:latin typeface="Liberation Sans"/>
                <a:ea typeface="Liberation Sans"/>
                <a:cs typeface="Liberation Sans"/>
              </a:defRPr>
            </a:lvl1pPr>
            <a:lvl2pPr>
              <a:defRPr sz="3600" b="1">
                <a:solidFill>
                  <a:srgbClr val="172C42"/>
                </a:solidFill>
                <a:latin typeface="Liberation Sans"/>
                <a:ea typeface="Liberation Sans"/>
                <a:cs typeface="Liberation Sans"/>
              </a:defRPr>
            </a:lvl2pPr>
            <a:lvl3pPr>
              <a:defRPr sz="3600" b="1">
                <a:solidFill>
                  <a:srgbClr val="172C42"/>
                </a:solidFill>
                <a:latin typeface="Liberation Sans"/>
                <a:ea typeface="Liberation Sans"/>
                <a:cs typeface="Liberation Sans"/>
              </a:defRPr>
            </a:lvl3pPr>
            <a:lvl4pPr>
              <a:defRPr sz="3600" b="1">
                <a:solidFill>
                  <a:srgbClr val="172C42"/>
                </a:solidFill>
                <a:latin typeface="Liberation Sans"/>
                <a:ea typeface="Liberation Sans"/>
                <a:cs typeface="Liberation Sans"/>
              </a:defRPr>
            </a:lvl4pPr>
            <a:lvl5pPr>
              <a:defRPr sz="3600" b="1">
                <a:solidFill>
                  <a:srgbClr val="172C42"/>
                </a:solidFill>
                <a:latin typeface="Liberation Sans"/>
                <a:ea typeface="Liberation Sans"/>
                <a:cs typeface="Liberation Sans"/>
              </a:defRPr>
            </a:lvl5pPr>
            <a:lvl6pPr>
              <a:defRPr sz="3600" b="1">
                <a:solidFill>
                  <a:srgbClr val="172C42"/>
                </a:solidFill>
                <a:latin typeface="Liberation Sans"/>
                <a:ea typeface="Liberation Sans"/>
                <a:cs typeface="Liberation Sans"/>
              </a:defRPr>
            </a:lvl6pPr>
            <a:lvl7pPr>
              <a:defRPr sz="3600" b="1">
                <a:solidFill>
                  <a:srgbClr val="172C42"/>
                </a:solidFill>
                <a:latin typeface="Liberation Sans"/>
                <a:ea typeface="Liberation Sans"/>
                <a:cs typeface="Liberation Sans"/>
              </a:defRPr>
            </a:lvl7pPr>
            <a:lvl8pPr>
              <a:defRPr sz="3600" b="1">
                <a:solidFill>
                  <a:srgbClr val="172C42"/>
                </a:solidFill>
                <a:latin typeface="Liberation Sans"/>
                <a:ea typeface="Liberation Sans"/>
                <a:cs typeface="Liberation Sans"/>
              </a:defRPr>
            </a:lvl8pPr>
            <a:lvl9pPr>
              <a:defRPr sz="3600" b="1">
                <a:solidFill>
                  <a:srgbClr val="172C42"/>
                </a:solidFill>
                <a:latin typeface="Liberation Sans"/>
                <a:ea typeface="Liberation Sans"/>
                <a:cs typeface="Liberation Sans"/>
              </a:defRPr>
            </a:lvl9pPr>
          </a:lstStyle>
          <a:p xmlns:a="http://schemas.openxmlformats.org/drawingml/2006/main">
            <a:pPr>
              <a:defRPr sz="3600" b="1">
                <a:solidFill>
                  <a:srgbClr val="172C42"/>
                </a:solidFill>
                <a:latin typeface="Liberation Sans"/>
                <a:ea typeface="Liberation Sans"/>
                <a:cs typeface="Liberation Sans"/>
              </a:defRPr>
            </a:pPr>
            <a:r>
              <a:rPr sz="3600" b="1">
                <a:solidFill>
                  <a:srgbClr val="172C42"/>
                </a:solidFill>
                <a:latin typeface="Liberation Sans"/>
                <a:ea typeface="Liberation Sans"/>
                <a:cs typeface="Liberation Sans"/>
              </a:rPr>
              <a:t>The prediction pipeline</a:t>
            </a:r>
          </a:p>
        </p:txBody>
      </p:sp>
      <p:sp>
        <p:nvSpPr>
          <p:cNvPr id="2" name="">
            <a:extLst xmlns:a="http://schemas.openxmlformats.org/drawingml/2006/main">
              <a:ext uri="{FF2B5EF4-FFF2-40B4-BE49-F238E27FC236}">
                <a16:creationId xmlns:a16="http://schemas.microsoft.com/office/drawing/2014/main" id="{F84648BC-EB8E-425C-B438-A95F109B3D2B}"/>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D8D0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817F40C-F138-4C69-8DAA-91DA8A1E105E}"/>
              </a:ext>
            </a:extLst>
          </p:cNvPr>
          <p:cNvSpPr>
            <a:spLocks xmlns:a="http://schemas.openxmlformats.org/drawingml/2006/main" noGrp="1"/>
          </p:cNvSpPr>
          <p:nvPr/>
        </p:nvSpPr>
        <p:spPr>
          <a:xfrm xmlns:a="http://schemas.openxmlformats.org/drawingml/2006/main">
            <a:off x="60960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Source: src/dataset.py, src/model.py and demo/app.py</a:t>
            </a:r>
          </a:p>
        </p:txBody>
      </p:sp>
      <p:sp>
        <p:nvSpPr>
          <p:cNvPr id="4" name="">
            <a:extLst xmlns:a="http://schemas.openxmlformats.org/drawingml/2006/main">
              <a:ext uri="{FF2B5EF4-FFF2-40B4-BE49-F238E27FC236}">
                <a16:creationId xmlns:a16="http://schemas.microsoft.com/office/drawing/2014/main" id="{09CF4B6E-FD0E-45AB-8418-5424157FD56A}"/>
              </a:ext>
            </a:extLst>
          </p:cNvPr>
          <p:cNvSpPr>
            <a:spLocks xmlns:a="http://schemas.openxmlformats.org/drawingml/2006/main" noGrp="1"/>
          </p:cNvSpPr>
          <p:nvPr/>
        </p:nvSpPr>
        <p:spPr>
          <a:xfrm xmlns:a="http://schemas.openxmlformats.org/drawingml/2006/main">
            <a:off x="11191875"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2</a:t>
            </a:r>
          </a:p>
        </p:txBody>
      </p:sp>
      <p:sp>
        <p:nvSpPr>
          <p:cNvPr id="5" name="">
            <a:extLst xmlns:a="http://schemas.openxmlformats.org/drawingml/2006/main">
              <a:ext uri="{FF2B5EF4-FFF2-40B4-BE49-F238E27FC236}">
                <a16:creationId xmlns:a16="http://schemas.microsoft.com/office/drawing/2014/main" id="{D44D9736-770C-49F5-ACC8-3ED0453D9689}"/>
              </a:ext>
            </a:extLst>
          </p:cNvPr>
          <p:cNvSpPr>
            <a:spLocks xmlns:a="http://schemas.openxmlformats.org/drawingml/2006/main" noGrp="1"/>
          </p:cNvSpPr>
          <p:nvPr/>
        </p:nvSpPr>
        <p:spPr>
          <a:xfrm xmlns:a="http://schemas.openxmlformats.org/drawingml/2006/main">
            <a:off x="609600" y="2476500"/>
            <a:ext cx="180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C42"/>
                </a:solidFill>
                <a:latin typeface="Liberation Sans"/>
                <a:ea typeface="Liberation Sans"/>
                <a:cs typeface="Liberation Sans"/>
              </a:defRPr>
            </a:defPPr>
            <a:lvl1pPr>
              <a:defRPr sz="2325" b="1">
                <a:solidFill>
                  <a:srgbClr val="172C42"/>
                </a:solidFill>
                <a:latin typeface="Liberation Sans"/>
                <a:ea typeface="Liberation Sans"/>
                <a:cs typeface="Liberation Sans"/>
              </a:defRPr>
            </a:lvl1pPr>
            <a:lvl2pPr>
              <a:defRPr sz="2325" b="1">
                <a:solidFill>
                  <a:srgbClr val="172C42"/>
                </a:solidFill>
                <a:latin typeface="Liberation Sans"/>
                <a:ea typeface="Liberation Sans"/>
                <a:cs typeface="Liberation Sans"/>
              </a:defRPr>
            </a:lvl2pPr>
            <a:lvl3pPr>
              <a:defRPr sz="2325" b="1">
                <a:solidFill>
                  <a:srgbClr val="172C42"/>
                </a:solidFill>
                <a:latin typeface="Liberation Sans"/>
                <a:ea typeface="Liberation Sans"/>
                <a:cs typeface="Liberation Sans"/>
              </a:defRPr>
            </a:lvl3pPr>
            <a:lvl4pPr>
              <a:defRPr sz="2325" b="1">
                <a:solidFill>
                  <a:srgbClr val="172C42"/>
                </a:solidFill>
                <a:latin typeface="Liberation Sans"/>
                <a:ea typeface="Liberation Sans"/>
                <a:cs typeface="Liberation Sans"/>
              </a:defRPr>
            </a:lvl4pPr>
            <a:lvl5pPr>
              <a:defRPr sz="2325" b="1">
                <a:solidFill>
                  <a:srgbClr val="172C42"/>
                </a:solidFill>
                <a:latin typeface="Liberation Sans"/>
                <a:ea typeface="Liberation Sans"/>
                <a:cs typeface="Liberation Sans"/>
              </a:defRPr>
            </a:lvl5pPr>
            <a:lvl6pPr>
              <a:defRPr sz="2325" b="1">
                <a:solidFill>
                  <a:srgbClr val="172C42"/>
                </a:solidFill>
                <a:latin typeface="Liberation Sans"/>
                <a:ea typeface="Liberation Sans"/>
                <a:cs typeface="Liberation Sans"/>
              </a:defRPr>
            </a:lvl6pPr>
            <a:lvl7pPr>
              <a:defRPr sz="2325" b="1">
                <a:solidFill>
                  <a:srgbClr val="172C42"/>
                </a:solidFill>
                <a:latin typeface="Liberation Sans"/>
                <a:ea typeface="Liberation Sans"/>
                <a:cs typeface="Liberation Sans"/>
              </a:defRPr>
            </a:lvl7pPr>
            <a:lvl8pPr>
              <a:defRPr sz="2325" b="1">
                <a:solidFill>
                  <a:srgbClr val="172C42"/>
                </a:solidFill>
                <a:latin typeface="Liberation Sans"/>
                <a:ea typeface="Liberation Sans"/>
                <a:cs typeface="Liberation Sans"/>
              </a:defRPr>
            </a:lvl8pPr>
            <a:lvl9pPr>
              <a:defRPr sz="2325" b="1">
                <a:solidFill>
                  <a:srgbClr val="172C42"/>
                </a:solidFill>
                <a:latin typeface="Liberation Sans"/>
                <a:ea typeface="Liberation Sans"/>
                <a:cs typeface="Liberation Sans"/>
              </a:defRPr>
            </a:lvl9pPr>
          </a:lstStyle>
          <a:p xmlns:a="http://schemas.openxmlformats.org/drawingml/2006/main">
            <a:pPr>
              <a:defRPr sz="2325" b="1">
                <a:solidFill>
                  <a:srgbClr val="172C42"/>
                </a:solidFill>
                <a:latin typeface="Liberation Sans"/>
                <a:ea typeface="Liberation Sans"/>
                <a:cs typeface="Liberation Sans"/>
              </a:defRPr>
            </a:pPr>
            <a:r>
              <a:rPr sz="2325" b="1">
                <a:solidFill>
                  <a:srgbClr val="172C42"/>
                </a:solidFill>
                <a:latin typeface="Liberation Sans"/>
                <a:ea typeface="Liberation Sans"/>
                <a:cs typeface="Liberation Sans"/>
              </a:rPr>
              <a:t>RGB image</a:t>
            </a:r>
          </a:p>
        </p:txBody>
      </p:sp>
      <p:sp>
        <p:nvSpPr>
          <p:cNvPr id="6" name="">
            <a:extLst xmlns:a="http://schemas.openxmlformats.org/drawingml/2006/main">
              <a:ext uri="{FF2B5EF4-FFF2-40B4-BE49-F238E27FC236}">
                <a16:creationId xmlns:a16="http://schemas.microsoft.com/office/drawing/2014/main" id="{EE49C547-009B-4077-ADB8-A846C86FDB3B}"/>
              </a:ext>
            </a:extLst>
          </p:cNvPr>
          <p:cNvSpPr>
            <a:spLocks xmlns:a="http://schemas.openxmlformats.org/drawingml/2006/main" noGrp="1"/>
          </p:cNvSpPr>
          <p:nvPr/>
        </p:nvSpPr>
        <p:spPr>
          <a:xfrm xmlns:a="http://schemas.openxmlformats.org/drawingml/2006/main">
            <a:off x="609600" y="3495675"/>
            <a:ext cx="1809750" cy="9525"/>
          </a:xfrm>
          <a:prstGeom xmlns:a="http://schemas.openxmlformats.org/drawingml/2006/main" prst="rect">
            <a:avLst/>
          </a:prstGeom>
          <a:solidFill xmlns:a="http://schemas.openxmlformats.org/drawingml/2006/main">
            <a:srgbClr val="D5663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064B4EB-73BB-494F-8D37-BA7203729ED7}"/>
              </a:ext>
            </a:extLst>
          </p:cNvPr>
          <p:cNvSpPr>
            <a:spLocks xmlns:a="http://schemas.openxmlformats.org/drawingml/2006/main" noGrp="1"/>
          </p:cNvSpPr>
          <p:nvPr/>
        </p:nvSpPr>
        <p:spPr>
          <a:xfrm xmlns:a="http://schemas.openxmlformats.org/drawingml/2006/main">
            <a:off x="2466975" y="2714625"/>
            <a:ext cx="361950" cy="238125"/>
          </a:xfrm>
          <a:prstGeom xmlns:a="http://schemas.openxmlformats.org/drawingml/2006/main" prst="rightArrow">
            <a:avLst/>
          </a:prstGeom>
          <a:solidFill xmlns:a="http://schemas.openxmlformats.org/drawingml/2006/main">
            <a:srgbClr val="D5663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4DBDBFD-BD5E-4945-9875-FD5C9376BAE5}"/>
              </a:ext>
            </a:extLst>
          </p:cNvPr>
          <p:cNvSpPr>
            <a:spLocks xmlns:a="http://schemas.openxmlformats.org/drawingml/2006/main" noGrp="1"/>
          </p:cNvSpPr>
          <p:nvPr/>
        </p:nvSpPr>
        <p:spPr>
          <a:xfrm xmlns:a="http://schemas.openxmlformats.org/drawingml/2006/main">
            <a:off x="2895600" y="2476500"/>
            <a:ext cx="180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C42"/>
                </a:solidFill>
                <a:latin typeface="Liberation Sans"/>
                <a:ea typeface="Liberation Sans"/>
                <a:cs typeface="Liberation Sans"/>
              </a:defRPr>
            </a:defPPr>
            <a:lvl1pPr>
              <a:defRPr sz="2325" b="1">
                <a:solidFill>
                  <a:srgbClr val="172C42"/>
                </a:solidFill>
                <a:latin typeface="Liberation Sans"/>
                <a:ea typeface="Liberation Sans"/>
                <a:cs typeface="Liberation Sans"/>
              </a:defRPr>
            </a:lvl1pPr>
            <a:lvl2pPr>
              <a:defRPr sz="2325" b="1">
                <a:solidFill>
                  <a:srgbClr val="172C42"/>
                </a:solidFill>
                <a:latin typeface="Liberation Sans"/>
                <a:ea typeface="Liberation Sans"/>
                <a:cs typeface="Liberation Sans"/>
              </a:defRPr>
            </a:lvl2pPr>
            <a:lvl3pPr>
              <a:defRPr sz="2325" b="1">
                <a:solidFill>
                  <a:srgbClr val="172C42"/>
                </a:solidFill>
                <a:latin typeface="Liberation Sans"/>
                <a:ea typeface="Liberation Sans"/>
                <a:cs typeface="Liberation Sans"/>
              </a:defRPr>
            </a:lvl3pPr>
            <a:lvl4pPr>
              <a:defRPr sz="2325" b="1">
                <a:solidFill>
                  <a:srgbClr val="172C42"/>
                </a:solidFill>
                <a:latin typeface="Liberation Sans"/>
                <a:ea typeface="Liberation Sans"/>
                <a:cs typeface="Liberation Sans"/>
              </a:defRPr>
            </a:lvl4pPr>
            <a:lvl5pPr>
              <a:defRPr sz="2325" b="1">
                <a:solidFill>
                  <a:srgbClr val="172C42"/>
                </a:solidFill>
                <a:latin typeface="Liberation Sans"/>
                <a:ea typeface="Liberation Sans"/>
                <a:cs typeface="Liberation Sans"/>
              </a:defRPr>
            </a:lvl5pPr>
            <a:lvl6pPr>
              <a:defRPr sz="2325" b="1">
                <a:solidFill>
                  <a:srgbClr val="172C42"/>
                </a:solidFill>
                <a:latin typeface="Liberation Sans"/>
                <a:ea typeface="Liberation Sans"/>
                <a:cs typeface="Liberation Sans"/>
              </a:defRPr>
            </a:lvl6pPr>
            <a:lvl7pPr>
              <a:defRPr sz="2325" b="1">
                <a:solidFill>
                  <a:srgbClr val="172C42"/>
                </a:solidFill>
                <a:latin typeface="Liberation Sans"/>
                <a:ea typeface="Liberation Sans"/>
                <a:cs typeface="Liberation Sans"/>
              </a:defRPr>
            </a:lvl7pPr>
            <a:lvl8pPr>
              <a:defRPr sz="2325" b="1">
                <a:solidFill>
                  <a:srgbClr val="172C42"/>
                </a:solidFill>
                <a:latin typeface="Liberation Sans"/>
                <a:ea typeface="Liberation Sans"/>
                <a:cs typeface="Liberation Sans"/>
              </a:defRPr>
            </a:lvl8pPr>
            <a:lvl9pPr>
              <a:defRPr sz="2325" b="1">
                <a:solidFill>
                  <a:srgbClr val="172C42"/>
                </a:solidFill>
                <a:latin typeface="Liberation Sans"/>
                <a:ea typeface="Liberation Sans"/>
                <a:cs typeface="Liberation Sans"/>
              </a:defRPr>
            </a:lvl9pPr>
          </a:lstStyle>
          <a:p xmlns:a="http://schemas.openxmlformats.org/drawingml/2006/main">
            <a:pPr>
              <a:defRPr sz="2325" b="1">
                <a:solidFill>
                  <a:srgbClr val="172C42"/>
                </a:solidFill>
                <a:latin typeface="Liberation Sans"/>
                <a:ea typeface="Liberation Sans"/>
                <a:cs typeface="Liberation Sans"/>
              </a:defRPr>
            </a:pPr>
            <a:r>
              <a:rPr sz="2325" b="1">
                <a:solidFill>
                  <a:srgbClr val="172C42"/>
                </a:solidFill>
                <a:latin typeface="Liberation Sans"/>
                <a:ea typeface="Liberation Sans"/>
                <a:cs typeface="Liberation Sans"/>
              </a:rPr>
              <a:t>ResNet-50</a:t>
            </a:r>
          </a:p>
        </p:txBody>
      </p:sp>
      <p:sp>
        <p:nvSpPr>
          <p:cNvPr id="9" name="">
            <a:extLst xmlns:a="http://schemas.openxmlformats.org/drawingml/2006/main">
              <a:ext uri="{FF2B5EF4-FFF2-40B4-BE49-F238E27FC236}">
                <a16:creationId xmlns:a16="http://schemas.microsoft.com/office/drawing/2014/main" id="{4AE5D04E-D410-4022-AD95-B7800CE92238}"/>
              </a:ext>
            </a:extLst>
          </p:cNvPr>
          <p:cNvSpPr>
            <a:spLocks xmlns:a="http://schemas.openxmlformats.org/drawingml/2006/main" noGrp="1"/>
          </p:cNvSpPr>
          <p:nvPr/>
        </p:nvSpPr>
        <p:spPr>
          <a:xfrm xmlns:a="http://schemas.openxmlformats.org/drawingml/2006/main">
            <a:off x="2895600" y="3495675"/>
            <a:ext cx="1809750" cy="9525"/>
          </a:xfrm>
          <a:prstGeom xmlns:a="http://schemas.openxmlformats.org/drawingml/2006/main" prst="rect">
            <a:avLst/>
          </a:prstGeom>
          <a:solidFill xmlns:a="http://schemas.openxmlformats.org/drawingml/2006/main">
            <a:srgbClr val="D5663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A5D3072-8758-44BC-872E-86DFF5C1C31D}"/>
              </a:ext>
            </a:extLst>
          </p:cNvPr>
          <p:cNvSpPr>
            <a:spLocks xmlns:a="http://schemas.openxmlformats.org/drawingml/2006/main" noGrp="1"/>
          </p:cNvSpPr>
          <p:nvPr/>
        </p:nvSpPr>
        <p:spPr>
          <a:xfrm xmlns:a="http://schemas.openxmlformats.org/drawingml/2006/main">
            <a:off x="4752975" y="2714625"/>
            <a:ext cx="361950" cy="238125"/>
          </a:xfrm>
          <a:prstGeom xmlns:a="http://schemas.openxmlformats.org/drawingml/2006/main" prst="rightArrow">
            <a:avLst/>
          </a:prstGeom>
          <a:solidFill xmlns:a="http://schemas.openxmlformats.org/drawingml/2006/main">
            <a:srgbClr val="D5663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61440BB-4303-4174-B791-6AC2AD317A9B}"/>
              </a:ext>
            </a:extLst>
          </p:cNvPr>
          <p:cNvSpPr>
            <a:spLocks xmlns:a="http://schemas.openxmlformats.org/drawingml/2006/main" noGrp="1"/>
          </p:cNvSpPr>
          <p:nvPr/>
        </p:nvSpPr>
        <p:spPr>
          <a:xfrm xmlns:a="http://schemas.openxmlformats.org/drawingml/2006/main">
            <a:off x="5181600" y="2476500"/>
            <a:ext cx="180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C42"/>
                </a:solidFill>
                <a:latin typeface="Liberation Sans"/>
                <a:ea typeface="Liberation Sans"/>
                <a:cs typeface="Liberation Sans"/>
              </a:defRPr>
            </a:defPPr>
            <a:lvl1pPr>
              <a:defRPr sz="2325" b="1">
                <a:solidFill>
                  <a:srgbClr val="172C42"/>
                </a:solidFill>
                <a:latin typeface="Liberation Sans"/>
                <a:ea typeface="Liberation Sans"/>
                <a:cs typeface="Liberation Sans"/>
              </a:defRPr>
            </a:lvl1pPr>
            <a:lvl2pPr>
              <a:defRPr sz="2325" b="1">
                <a:solidFill>
                  <a:srgbClr val="172C42"/>
                </a:solidFill>
                <a:latin typeface="Liberation Sans"/>
                <a:ea typeface="Liberation Sans"/>
                <a:cs typeface="Liberation Sans"/>
              </a:defRPr>
            </a:lvl2pPr>
            <a:lvl3pPr>
              <a:defRPr sz="2325" b="1">
                <a:solidFill>
                  <a:srgbClr val="172C42"/>
                </a:solidFill>
                <a:latin typeface="Liberation Sans"/>
                <a:ea typeface="Liberation Sans"/>
                <a:cs typeface="Liberation Sans"/>
              </a:defRPr>
            </a:lvl3pPr>
            <a:lvl4pPr>
              <a:defRPr sz="2325" b="1">
                <a:solidFill>
                  <a:srgbClr val="172C42"/>
                </a:solidFill>
                <a:latin typeface="Liberation Sans"/>
                <a:ea typeface="Liberation Sans"/>
                <a:cs typeface="Liberation Sans"/>
              </a:defRPr>
            </a:lvl4pPr>
            <a:lvl5pPr>
              <a:defRPr sz="2325" b="1">
                <a:solidFill>
                  <a:srgbClr val="172C42"/>
                </a:solidFill>
                <a:latin typeface="Liberation Sans"/>
                <a:ea typeface="Liberation Sans"/>
                <a:cs typeface="Liberation Sans"/>
              </a:defRPr>
            </a:lvl5pPr>
            <a:lvl6pPr>
              <a:defRPr sz="2325" b="1">
                <a:solidFill>
                  <a:srgbClr val="172C42"/>
                </a:solidFill>
                <a:latin typeface="Liberation Sans"/>
                <a:ea typeface="Liberation Sans"/>
                <a:cs typeface="Liberation Sans"/>
              </a:defRPr>
            </a:lvl6pPr>
            <a:lvl7pPr>
              <a:defRPr sz="2325" b="1">
                <a:solidFill>
                  <a:srgbClr val="172C42"/>
                </a:solidFill>
                <a:latin typeface="Liberation Sans"/>
                <a:ea typeface="Liberation Sans"/>
                <a:cs typeface="Liberation Sans"/>
              </a:defRPr>
            </a:lvl7pPr>
            <a:lvl8pPr>
              <a:defRPr sz="2325" b="1">
                <a:solidFill>
                  <a:srgbClr val="172C42"/>
                </a:solidFill>
                <a:latin typeface="Liberation Sans"/>
                <a:ea typeface="Liberation Sans"/>
                <a:cs typeface="Liberation Sans"/>
              </a:defRPr>
            </a:lvl8pPr>
            <a:lvl9pPr>
              <a:defRPr sz="2325" b="1">
                <a:solidFill>
                  <a:srgbClr val="172C42"/>
                </a:solidFill>
                <a:latin typeface="Liberation Sans"/>
                <a:ea typeface="Liberation Sans"/>
                <a:cs typeface="Liberation Sans"/>
              </a:defRPr>
            </a:lvl9pPr>
          </a:lstStyle>
          <a:p xmlns:a="http://schemas.openxmlformats.org/drawingml/2006/main">
            <a:pPr>
              <a:defRPr sz="2325" b="1">
                <a:solidFill>
                  <a:srgbClr val="172C42"/>
                </a:solidFill>
                <a:latin typeface="Liberation Sans"/>
                <a:ea typeface="Liberation Sans"/>
                <a:cs typeface="Liberation Sans"/>
              </a:defRPr>
            </a:pPr>
            <a:r>
              <a:rPr sz="2325" b="1">
                <a:solidFill>
                  <a:srgbClr val="172C42"/>
                </a:solidFill>
                <a:latin typeface="Liberation Sans"/>
                <a:ea typeface="Liberation Sans"/>
                <a:cs typeface="Liberation Sans"/>
              </a:rPr>
              <a:t>2,048 features</a:t>
            </a:r>
          </a:p>
        </p:txBody>
      </p:sp>
      <p:sp>
        <p:nvSpPr>
          <p:cNvPr id="12" name="">
            <a:extLst xmlns:a="http://schemas.openxmlformats.org/drawingml/2006/main">
              <a:ext uri="{FF2B5EF4-FFF2-40B4-BE49-F238E27FC236}">
                <a16:creationId xmlns:a16="http://schemas.microsoft.com/office/drawing/2014/main" id="{0B14B5EA-D4CA-47A4-A854-A5A825A6E7D6}"/>
              </a:ext>
            </a:extLst>
          </p:cNvPr>
          <p:cNvSpPr>
            <a:spLocks xmlns:a="http://schemas.openxmlformats.org/drawingml/2006/main" noGrp="1"/>
          </p:cNvSpPr>
          <p:nvPr/>
        </p:nvSpPr>
        <p:spPr>
          <a:xfrm xmlns:a="http://schemas.openxmlformats.org/drawingml/2006/main">
            <a:off x="5181600" y="3495675"/>
            <a:ext cx="1809750" cy="9525"/>
          </a:xfrm>
          <a:prstGeom xmlns:a="http://schemas.openxmlformats.org/drawingml/2006/main" prst="rect">
            <a:avLst/>
          </a:prstGeom>
          <a:solidFill xmlns:a="http://schemas.openxmlformats.org/drawingml/2006/main">
            <a:srgbClr val="D5663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F5DC329-3E3F-47A7-8E44-E1A4B4BB780E}"/>
              </a:ext>
            </a:extLst>
          </p:cNvPr>
          <p:cNvSpPr>
            <a:spLocks xmlns:a="http://schemas.openxmlformats.org/drawingml/2006/main" noGrp="1"/>
          </p:cNvSpPr>
          <p:nvPr/>
        </p:nvSpPr>
        <p:spPr>
          <a:xfrm xmlns:a="http://schemas.openxmlformats.org/drawingml/2006/main">
            <a:off x="7038975" y="2714625"/>
            <a:ext cx="361950" cy="238125"/>
          </a:xfrm>
          <a:prstGeom xmlns:a="http://schemas.openxmlformats.org/drawingml/2006/main" prst="rightArrow">
            <a:avLst/>
          </a:prstGeom>
          <a:solidFill xmlns:a="http://schemas.openxmlformats.org/drawingml/2006/main">
            <a:srgbClr val="D5663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A72C2F2-F814-422E-A43E-A6ADC9BC7C34}"/>
              </a:ext>
            </a:extLst>
          </p:cNvPr>
          <p:cNvSpPr>
            <a:spLocks xmlns:a="http://schemas.openxmlformats.org/drawingml/2006/main" noGrp="1"/>
          </p:cNvSpPr>
          <p:nvPr/>
        </p:nvSpPr>
        <p:spPr>
          <a:xfrm xmlns:a="http://schemas.openxmlformats.org/drawingml/2006/main">
            <a:off x="7467600" y="2476500"/>
            <a:ext cx="180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C42"/>
                </a:solidFill>
                <a:latin typeface="Liberation Sans"/>
                <a:ea typeface="Liberation Sans"/>
                <a:cs typeface="Liberation Sans"/>
              </a:defRPr>
            </a:defPPr>
            <a:lvl1pPr>
              <a:defRPr sz="2325" b="1">
                <a:solidFill>
                  <a:srgbClr val="172C42"/>
                </a:solidFill>
                <a:latin typeface="Liberation Sans"/>
                <a:ea typeface="Liberation Sans"/>
                <a:cs typeface="Liberation Sans"/>
              </a:defRPr>
            </a:lvl1pPr>
            <a:lvl2pPr>
              <a:defRPr sz="2325" b="1">
                <a:solidFill>
                  <a:srgbClr val="172C42"/>
                </a:solidFill>
                <a:latin typeface="Liberation Sans"/>
                <a:ea typeface="Liberation Sans"/>
                <a:cs typeface="Liberation Sans"/>
              </a:defRPr>
            </a:lvl2pPr>
            <a:lvl3pPr>
              <a:defRPr sz="2325" b="1">
                <a:solidFill>
                  <a:srgbClr val="172C42"/>
                </a:solidFill>
                <a:latin typeface="Liberation Sans"/>
                <a:ea typeface="Liberation Sans"/>
                <a:cs typeface="Liberation Sans"/>
              </a:defRPr>
            </a:lvl3pPr>
            <a:lvl4pPr>
              <a:defRPr sz="2325" b="1">
                <a:solidFill>
                  <a:srgbClr val="172C42"/>
                </a:solidFill>
                <a:latin typeface="Liberation Sans"/>
                <a:ea typeface="Liberation Sans"/>
                <a:cs typeface="Liberation Sans"/>
              </a:defRPr>
            </a:lvl4pPr>
            <a:lvl5pPr>
              <a:defRPr sz="2325" b="1">
                <a:solidFill>
                  <a:srgbClr val="172C42"/>
                </a:solidFill>
                <a:latin typeface="Liberation Sans"/>
                <a:ea typeface="Liberation Sans"/>
                <a:cs typeface="Liberation Sans"/>
              </a:defRPr>
            </a:lvl5pPr>
            <a:lvl6pPr>
              <a:defRPr sz="2325" b="1">
                <a:solidFill>
                  <a:srgbClr val="172C42"/>
                </a:solidFill>
                <a:latin typeface="Liberation Sans"/>
                <a:ea typeface="Liberation Sans"/>
                <a:cs typeface="Liberation Sans"/>
              </a:defRPr>
            </a:lvl6pPr>
            <a:lvl7pPr>
              <a:defRPr sz="2325" b="1">
                <a:solidFill>
                  <a:srgbClr val="172C42"/>
                </a:solidFill>
                <a:latin typeface="Liberation Sans"/>
                <a:ea typeface="Liberation Sans"/>
                <a:cs typeface="Liberation Sans"/>
              </a:defRPr>
            </a:lvl7pPr>
            <a:lvl8pPr>
              <a:defRPr sz="2325" b="1">
                <a:solidFill>
                  <a:srgbClr val="172C42"/>
                </a:solidFill>
                <a:latin typeface="Liberation Sans"/>
                <a:ea typeface="Liberation Sans"/>
                <a:cs typeface="Liberation Sans"/>
              </a:defRPr>
            </a:lvl8pPr>
            <a:lvl9pPr>
              <a:defRPr sz="2325" b="1">
                <a:solidFill>
                  <a:srgbClr val="172C42"/>
                </a:solidFill>
                <a:latin typeface="Liberation Sans"/>
                <a:ea typeface="Liberation Sans"/>
                <a:cs typeface="Liberation Sans"/>
              </a:defRPr>
            </a:lvl9pPr>
          </a:lstStyle>
          <a:p xmlns:a="http://schemas.openxmlformats.org/drawingml/2006/main">
            <a:pPr>
              <a:defRPr sz="2325" b="1">
                <a:solidFill>
                  <a:srgbClr val="172C42"/>
                </a:solidFill>
                <a:latin typeface="Liberation Sans"/>
                <a:ea typeface="Liberation Sans"/>
                <a:cs typeface="Liberation Sans"/>
              </a:defRPr>
            </a:pPr>
            <a:r>
              <a:rPr sz="2325" b="1">
                <a:solidFill>
                  <a:srgbClr val="172C42"/>
                </a:solidFill>
                <a:latin typeface="Liberation Sans"/>
                <a:ea typeface="Liberation Sans"/>
                <a:cs typeface="Liberation Sans"/>
              </a:rPr>
              <a:t>300 cell scores</a:t>
            </a:r>
          </a:p>
        </p:txBody>
      </p:sp>
      <p:sp>
        <p:nvSpPr>
          <p:cNvPr id="15" name="">
            <a:extLst xmlns:a="http://schemas.openxmlformats.org/drawingml/2006/main">
              <a:ext uri="{FF2B5EF4-FFF2-40B4-BE49-F238E27FC236}">
                <a16:creationId xmlns:a16="http://schemas.microsoft.com/office/drawing/2014/main" id="{7E238A2E-8A41-4348-935F-9AAD1B8E926B}"/>
              </a:ext>
            </a:extLst>
          </p:cNvPr>
          <p:cNvSpPr>
            <a:spLocks xmlns:a="http://schemas.openxmlformats.org/drawingml/2006/main" noGrp="1"/>
          </p:cNvSpPr>
          <p:nvPr/>
        </p:nvSpPr>
        <p:spPr>
          <a:xfrm xmlns:a="http://schemas.openxmlformats.org/drawingml/2006/main">
            <a:off x="7467600" y="3495675"/>
            <a:ext cx="1809750" cy="9525"/>
          </a:xfrm>
          <a:prstGeom xmlns:a="http://schemas.openxmlformats.org/drawingml/2006/main" prst="rect">
            <a:avLst/>
          </a:prstGeom>
          <a:solidFill xmlns:a="http://schemas.openxmlformats.org/drawingml/2006/main">
            <a:srgbClr val="D5663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36C859E-5D62-4801-8C70-171A8262AAE4}"/>
              </a:ext>
            </a:extLst>
          </p:cNvPr>
          <p:cNvSpPr>
            <a:spLocks xmlns:a="http://schemas.openxmlformats.org/drawingml/2006/main" noGrp="1"/>
          </p:cNvSpPr>
          <p:nvPr/>
        </p:nvSpPr>
        <p:spPr>
          <a:xfrm xmlns:a="http://schemas.openxmlformats.org/drawingml/2006/main">
            <a:off x="9324975" y="2714625"/>
            <a:ext cx="361950" cy="238125"/>
          </a:xfrm>
          <a:prstGeom xmlns:a="http://schemas.openxmlformats.org/drawingml/2006/main" prst="rightArrow">
            <a:avLst/>
          </a:prstGeom>
          <a:solidFill xmlns:a="http://schemas.openxmlformats.org/drawingml/2006/main">
            <a:srgbClr val="D5663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FBA4654-F505-4D87-81FD-CFCCEAB285DE}"/>
              </a:ext>
            </a:extLst>
          </p:cNvPr>
          <p:cNvSpPr>
            <a:spLocks xmlns:a="http://schemas.openxmlformats.org/drawingml/2006/main" noGrp="1"/>
          </p:cNvSpPr>
          <p:nvPr/>
        </p:nvSpPr>
        <p:spPr>
          <a:xfrm xmlns:a="http://schemas.openxmlformats.org/drawingml/2006/main">
            <a:off x="9753600" y="2476500"/>
            <a:ext cx="180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C42"/>
                </a:solidFill>
                <a:latin typeface="Liberation Sans"/>
                <a:ea typeface="Liberation Sans"/>
                <a:cs typeface="Liberation Sans"/>
              </a:defRPr>
            </a:defPPr>
            <a:lvl1pPr>
              <a:defRPr sz="2325" b="1">
                <a:solidFill>
                  <a:srgbClr val="172C42"/>
                </a:solidFill>
                <a:latin typeface="Liberation Sans"/>
                <a:ea typeface="Liberation Sans"/>
                <a:cs typeface="Liberation Sans"/>
              </a:defRPr>
            </a:lvl1pPr>
            <a:lvl2pPr>
              <a:defRPr sz="2325" b="1">
                <a:solidFill>
                  <a:srgbClr val="172C42"/>
                </a:solidFill>
                <a:latin typeface="Liberation Sans"/>
                <a:ea typeface="Liberation Sans"/>
                <a:cs typeface="Liberation Sans"/>
              </a:defRPr>
            </a:lvl2pPr>
            <a:lvl3pPr>
              <a:defRPr sz="2325" b="1">
                <a:solidFill>
                  <a:srgbClr val="172C42"/>
                </a:solidFill>
                <a:latin typeface="Liberation Sans"/>
                <a:ea typeface="Liberation Sans"/>
                <a:cs typeface="Liberation Sans"/>
              </a:defRPr>
            </a:lvl3pPr>
            <a:lvl4pPr>
              <a:defRPr sz="2325" b="1">
                <a:solidFill>
                  <a:srgbClr val="172C42"/>
                </a:solidFill>
                <a:latin typeface="Liberation Sans"/>
                <a:ea typeface="Liberation Sans"/>
                <a:cs typeface="Liberation Sans"/>
              </a:defRPr>
            </a:lvl4pPr>
            <a:lvl5pPr>
              <a:defRPr sz="2325" b="1">
                <a:solidFill>
                  <a:srgbClr val="172C42"/>
                </a:solidFill>
                <a:latin typeface="Liberation Sans"/>
                <a:ea typeface="Liberation Sans"/>
                <a:cs typeface="Liberation Sans"/>
              </a:defRPr>
            </a:lvl5pPr>
            <a:lvl6pPr>
              <a:defRPr sz="2325" b="1">
                <a:solidFill>
                  <a:srgbClr val="172C42"/>
                </a:solidFill>
                <a:latin typeface="Liberation Sans"/>
                <a:ea typeface="Liberation Sans"/>
                <a:cs typeface="Liberation Sans"/>
              </a:defRPr>
            </a:lvl6pPr>
            <a:lvl7pPr>
              <a:defRPr sz="2325" b="1">
                <a:solidFill>
                  <a:srgbClr val="172C42"/>
                </a:solidFill>
                <a:latin typeface="Liberation Sans"/>
                <a:ea typeface="Liberation Sans"/>
                <a:cs typeface="Liberation Sans"/>
              </a:defRPr>
            </a:lvl7pPr>
            <a:lvl8pPr>
              <a:defRPr sz="2325" b="1">
                <a:solidFill>
                  <a:srgbClr val="172C42"/>
                </a:solidFill>
                <a:latin typeface="Liberation Sans"/>
                <a:ea typeface="Liberation Sans"/>
                <a:cs typeface="Liberation Sans"/>
              </a:defRPr>
            </a:lvl8pPr>
            <a:lvl9pPr>
              <a:defRPr sz="2325" b="1">
                <a:solidFill>
                  <a:srgbClr val="172C42"/>
                </a:solidFill>
                <a:latin typeface="Liberation Sans"/>
                <a:ea typeface="Liberation Sans"/>
                <a:cs typeface="Liberation Sans"/>
              </a:defRPr>
            </a:lvl9pPr>
          </a:lstStyle>
          <a:p xmlns:a="http://schemas.openxmlformats.org/drawingml/2006/main">
            <a:pPr>
              <a:defRPr sz="2325" b="1">
                <a:solidFill>
                  <a:srgbClr val="172C42"/>
                </a:solidFill>
                <a:latin typeface="Liberation Sans"/>
                <a:ea typeface="Liberation Sans"/>
                <a:cs typeface="Liberation Sans"/>
              </a:defRPr>
            </a:pPr>
            <a:r>
              <a:rPr sz="2325" b="1">
                <a:solidFill>
                  <a:srgbClr val="172C42"/>
                </a:solidFill>
                <a:latin typeface="Liberation Sans"/>
                <a:ea typeface="Liberation Sans"/>
                <a:cs typeface="Liberation Sans"/>
              </a:rPr>
              <a:t>Cell centroid</a:t>
            </a:r>
          </a:p>
        </p:txBody>
      </p:sp>
      <p:sp>
        <p:nvSpPr>
          <p:cNvPr id="18" name="">
            <a:extLst xmlns:a="http://schemas.openxmlformats.org/drawingml/2006/main">
              <a:ext uri="{FF2B5EF4-FFF2-40B4-BE49-F238E27FC236}">
                <a16:creationId xmlns:a16="http://schemas.microsoft.com/office/drawing/2014/main" id="{ECD00AE0-A0CA-4BC0-9D84-B18D90EF0B5B}"/>
              </a:ext>
            </a:extLst>
          </p:cNvPr>
          <p:cNvSpPr>
            <a:spLocks xmlns:a="http://schemas.openxmlformats.org/drawingml/2006/main" noGrp="1"/>
          </p:cNvSpPr>
          <p:nvPr/>
        </p:nvSpPr>
        <p:spPr>
          <a:xfrm xmlns:a="http://schemas.openxmlformats.org/drawingml/2006/main">
            <a:off x="9753600" y="3495675"/>
            <a:ext cx="1809750" cy="9525"/>
          </a:xfrm>
          <a:prstGeom xmlns:a="http://schemas.openxmlformats.org/drawingml/2006/main" prst="rect">
            <a:avLst/>
          </a:prstGeom>
          <a:solidFill xmlns:a="http://schemas.openxmlformats.org/drawingml/2006/main">
            <a:srgbClr val="D5663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DA09058-37AF-43F1-ADD8-97CA699944D2}"/>
              </a:ext>
            </a:extLst>
          </p:cNvPr>
          <p:cNvSpPr>
            <a:spLocks xmlns:a="http://schemas.openxmlformats.org/drawingml/2006/main" noGrp="1"/>
          </p:cNvSpPr>
          <p:nvPr/>
        </p:nvSpPr>
        <p:spPr>
          <a:xfrm xmlns:a="http://schemas.openxmlformats.org/drawingml/2006/main">
            <a:off x="609600" y="39052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26A70"/>
                </a:solidFill>
                <a:latin typeface="Liberation Sans"/>
                <a:ea typeface="Liberation Sans"/>
                <a:cs typeface="Liberation Sans"/>
              </a:defRPr>
            </a:defPPr>
            <a:lvl1pPr>
              <a:defRPr sz="1950" b="0">
                <a:solidFill>
                  <a:srgbClr val="626A70"/>
                </a:solidFill>
                <a:latin typeface="Liberation Sans"/>
                <a:ea typeface="Liberation Sans"/>
                <a:cs typeface="Liberation Sans"/>
              </a:defRPr>
            </a:lvl1pPr>
            <a:lvl2pPr>
              <a:defRPr sz="1950" b="0">
                <a:solidFill>
                  <a:srgbClr val="626A70"/>
                </a:solidFill>
                <a:latin typeface="Liberation Sans"/>
                <a:ea typeface="Liberation Sans"/>
                <a:cs typeface="Liberation Sans"/>
              </a:defRPr>
            </a:lvl2pPr>
            <a:lvl3pPr>
              <a:defRPr sz="1950" b="0">
                <a:solidFill>
                  <a:srgbClr val="626A70"/>
                </a:solidFill>
                <a:latin typeface="Liberation Sans"/>
                <a:ea typeface="Liberation Sans"/>
                <a:cs typeface="Liberation Sans"/>
              </a:defRPr>
            </a:lvl3pPr>
            <a:lvl4pPr>
              <a:defRPr sz="1950" b="0">
                <a:solidFill>
                  <a:srgbClr val="626A70"/>
                </a:solidFill>
                <a:latin typeface="Liberation Sans"/>
                <a:ea typeface="Liberation Sans"/>
                <a:cs typeface="Liberation Sans"/>
              </a:defRPr>
            </a:lvl4pPr>
            <a:lvl5pPr>
              <a:defRPr sz="1950" b="0">
                <a:solidFill>
                  <a:srgbClr val="626A70"/>
                </a:solidFill>
                <a:latin typeface="Liberation Sans"/>
                <a:ea typeface="Liberation Sans"/>
                <a:cs typeface="Liberation Sans"/>
              </a:defRPr>
            </a:lvl5pPr>
            <a:lvl6pPr>
              <a:defRPr sz="1950" b="0">
                <a:solidFill>
                  <a:srgbClr val="626A70"/>
                </a:solidFill>
                <a:latin typeface="Liberation Sans"/>
                <a:ea typeface="Liberation Sans"/>
                <a:cs typeface="Liberation Sans"/>
              </a:defRPr>
            </a:lvl6pPr>
            <a:lvl7pPr>
              <a:defRPr sz="1950" b="0">
                <a:solidFill>
                  <a:srgbClr val="626A70"/>
                </a:solidFill>
                <a:latin typeface="Liberation Sans"/>
                <a:ea typeface="Liberation Sans"/>
                <a:cs typeface="Liberation Sans"/>
              </a:defRPr>
            </a:lvl7pPr>
            <a:lvl8pPr>
              <a:defRPr sz="1950" b="0">
                <a:solidFill>
                  <a:srgbClr val="626A70"/>
                </a:solidFill>
                <a:latin typeface="Liberation Sans"/>
                <a:ea typeface="Liberation Sans"/>
                <a:cs typeface="Liberation Sans"/>
              </a:defRPr>
            </a:lvl8pPr>
            <a:lvl9pPr>
              <a:defRPr sz="1950" b="0">
                <a:solidFill>
                  <a:srgbClr val="626A70"/>
                </a:solidFill>
                <a:latin typeface="Liberation Sans"/>
                <a:ea typeface="Liberation Sans"/>
                <a:cs typeface="Liberation Sans"/>
              </a:defRPr>
            </a:lvl9pPr>
          </a:lstStyle>
          <a:p xmlns:a="http://schemas.openxmlformats.org/drawingml/2006/main">
            <a:pPr>
              <a:defRPr sz="1950" b="0">
                <a:solidFill>
                  <a:srgbClr val="626A70"/>
                </a:solidFill>
                <a:latin typeface="Liberation Sans"/>
                <a:ea typeface="Liberation Sans"/>
                <a:cs typeface="Liberation Sans"/>
              </a:defRPr>
            </a:pPr>
            <a:r>
              <a:rPr sz="1950" b="0">
                <a:solidFill>
                  <a:srgbClr val="626A70"/>
                </a:solidFill>
                <a:latin typeface="Liberation Sans"/>
                <a:ea typeface="Liberation Sans"/>
                <a:cs typeface="Liberation Sans"/>
              </a:rPr>
              <a:t>224 × 224 pixels</a:t>
            </a:r>
          </a:p>
        </p:txBody>
      </p:sp>
      <p:sp>
        <p:nvSpPr>
          <p:cNvPr id="20" name="">
            <a:extLst xmlns:a="http://schemas.openxmlformats.org/drawingml/2006/main">
              <a:ext uri="{FF2B5EF4-FFF2-40B4-BE49-F238E27FC236}">
                <a16:creationId xmlns:a16="http://schemas.microsoft.com/office/drawing/2014/main" id="{76A08FC5-16B9-465F-978D-295C3A22A8BA}"/>
              </a:ext>
            </a:extLst>
          </p:cNvPr>
          <p:cNvSpPr>
            <a:spLocks xmlns:a="http://schemas.openxmlformats.org/drawingml/2006/main" noGrp="1"/>
          </p:cNvSpPr>
          <p:nvPr/>
        </p:nvSpPr>
        <p:spPr>
          <a:xfrm xmlns:a="http://schemas.openxmlformats.org/drawingml/2006/main">
            <a:off x="609600" y="48672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C42"/>
                </a:solidFill>
                <a:latin typeface="Liberation Sans"/>
                <a:ea typeface="Liberation Sans"/>
                <a:cs typeface="Liberation Sans"/>
              </a:defRPr>
            </a:defPPr>
            <a:lvl1pPr>
              <a:defRPr sz="2250" b="0">
                <a:solidFill>
                  <a:srgbClr val="172C42"/>
                </a:solidFill>
                <a:latin typeface="Liberation Sans"/>
                <a:ea typeface="Liberation Sans"/>
                <a:cs typeface="Liberation Sans"/>
              </a:defRPr>
            </a:lvl1pPr>
            <a:lvl2pPr>
              <a:defRPr sz="2250" b="0">
                <a:solidFill>
                  <a:srgbClr val="172C42"/>
                </a:solidFill>
                <a:latin typeface="Liberation Sans"/>
                <a:ea typeface="Liberation Sans"/>
                <a:cs typeface="Liberation Sans"/>
              </a:defRPr>
            </a:lvl2pPr>
            <a:lvl3pPr>
              <a:defRPr sz="2250" b="0">
                <a:solidFill>
                  <a:srgbClr val="172C42"/>
                </a:solidFill>
                <a:latin typeface="Liberation Sans"/>
                <a:ea typeface="Liberation Sans"/>
                <a:cs typeface="Liberation Sans"/>
              </a:defRPr>
            </a:lvl3pPr>
            <a:lvl4pPr>
              <a:defRPr sz="2250" b="0">
                <a:solidFill>
                  <a:srgbClr val="172C42"/>
                </a:solidFill>
                <a:latin typeface="Liberation Sans"/>
                <a:ea typeface="Liberation Sans"/>
                <a:cs typeface="Liberation Sans"/>
              </a:defRPr>
            </a:lvl4pPr>
            <a:lvl5pPr>
              <a:defRPr sz="2250" b="0">
                <a:solidFill>
                  <a:srgbClr val="172C42"/>
                </a:solidFill>
                <a:latin typeface="Liberation Sans"/>
                <a:ea typeface="Liberation Sans"/>
                <a:cs typeface="Liberation Sans"/>
              </a:defRPr>
            </a:lvl5pPr>
            <a:lvl6pPr>
              <a:defRPr sz="2250" b="0">
                <a:solidFill>
                  <a:srgbClr val="172C42"/>
                </a:solidFill>
                <a:latin typeface="Liberation Sans"/>
                <a:ea typeface="Liberation Sans"/>
                <a:cs typeface="Liberation Sans"/>
              </a:defRPr>
            </a:lvl6pPr>
            <a:lvl7pPr>
              <a:defRPr sz="2250" b="0">
                <a:solidFill>
                  <a:srgbClr val="172C42"/>
                </a:solidFill>
                <a:latin typeface="Liberation Sans"/>
                <a:ea typeface="Liberation Sans"/>
                <a:cs typeface="Liberation Sans"/>
              </a:defRPr>
            </a:lvl7pPr>
            <a:lvl8pPr>
              <a:defRPr sz="2250" b="0">
                <a:solidFill>
                  <a:srgbClr val="172C42"/>
                </a:solidFill>
                <a:latin typeface="Liberation Sans"/>
                <a:ea typeface="Liberation Sans"/>
                <a:cs typeface="Liberation Sans"/>
              </a:defRPr>
            </a:lvl8pPr>
            <a:lvl9pPr>
              <a:defRPr sz="2250" b="0">
                <a:solidFill>
                  <a:srgbClr val="172C42"/>
                </a:solidFill>
                <a:latin typeface="Liberation Sans"/>
                <a:ea typeface="Liberation Sans"/>
                <a:cs typeface="Liberation Sans"/>
              </a:defRPr>
            </a:lvl9pPr>
          </a:lstStyle>
          <a:p xmlns:a="http://schemas.openxmlformats.org/drawingml/2006/main">
            <a:pPr>
              <a:defRPr sz="2250" b="0">
                <a:solidFill>
                  <a:srgbClr val="172C42"/>
                </a:solidFill>
                <a:latin typeface="Liberation Sans"/>
                <a:ea typeface="Liberation Sans"/>
                <a:cs typeface="Liberation Sans"/>
              </a:defRPr>
            </a:pPr>
            <a:r>
              <a:rPr sz="2250" b="0">
                <a:solidFill>
                  <a:srgbClr val="172C42"/>
                </a:solidFill>
                <a:latin typeface="Liberation Sans"/>
                <a:ea typeface="Liberation Sans"/>
                <a:cs typeface="Liberation Sans"/>
              </a:rPr>
              <a:t>Coordinates supply training targets.</a:t>
            </a:r>
          </a:p>
          <a:p xmlns:a="http://schemas.openxmlformats.org/drawingml/2006/main">
            <a:pPr>
              <a:defRPr sz="2250" b="0">
                <a:solidFill>
                  <a:srgbClr val="172C42"/>
                </a:solidFill>
                <a:latin typeface="Liberation Sans"/>
                <a:ea typeface="Liberation Sans"/>
                <a:cs typeface="Liberation Sans"/>
              </a:defRPr>
            </a:pPr>
            <a:r>
              <a:rPr sz="2250" b="0">
                <a:solidFill>
                  <a:srgbClr val="172C42"/>
                </a:solidFill>
                <a:latin typeface="Liberation Sans"/>
                <a:ea typeface="Liberation Sans"/>
                <a:cs typeface="Liberation Sans"/>
              </a:rPr>
              <a:t>The network receives image pixels at inference.</a:t>
            </a:r>
          </a:p>
        </p:txBody>
      </p:sp>
    </p:spTree>
    <p:extLst>
      <p:ext uri="{BB962C8B-B14F-4D97-AF65-F5344CB8AC3E}">
        <p14:creationId xmlns:p14="http://schemas.microsoft.com/office/powerpoint/2010/main" val="1477211238"/>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6AC4D0-47FD-4085-9552-D93A61E53775}"/>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2C42"/>
                </a:solidFill>
                <a:latin typeface="Liberation Sans"/>
                <a:ea typeface="Liberation Sans"/>
                <a:cs typeface="Liberation Sans"/>
              </a:defRPr>
            </a:defPPr>
            <a:lvl1pPr>
              <a:defRPr sz="3600" b="1">
                <a:solidFill>
                  <a:srgbClr val="172C42"/>
                </a:solidFill>
                <a:latin typeface="Liberation Sans"/>
                <a:ea typeface="Liberation Sans"/>
                <a:cs typeface="Liberation Sans"/>
              </a:defRPr>
            </a:lvl1pPr>
            <a:lvl2pPr>
              <a:defRPr sz="3600" b="1">
                <a:solidFill>
                  <a:srgbClr val="172C42"/>
                </a:solidFill>
                <a:latin typeface="Liberation Sans"/>
                <a:ea typeface="Liberation Sans"/>
                <a:cs typeface="Liberation Sans"/>
              </a:defRPr>
            </a:lvl2pPr>
            <a:lvl3pPr>
              <a:defRPr sz="3600" b="1">
                <a:solidFill>
                  <a:srgbClr val="172C42"/>
                </a:solidFill>
                <a:latin typeface="Liberation Sans"/>
                <a:ea typeface="Liberation Sans"/>
                <a:cs typeface="Liberation Sans"/>
              </a:defRPr>
            </a:lvl3pPr>
            <a:lvl4pPr>
              <a:defRPr sz="3600" b="1">
                <a:solidFill>
                  <a:srgbClr val="172C42"/>
                </a:solidFill>
                <a:latin typeface="Liberation Sans"/>
                <a:ea typeface="Liberation Sans"/>
                <a:cs typeface="Liberation Sans"/>
              </a:defRPr>
            </a:lvl4pPr>
            <a:lvl5pPr>
              <a:defRPr sz="3600" b="1">
                <a:solidFill>
                  <a:srgbClr val="172C42"/>
                </a:solidFill>
                <a:latin typeface="Liberation Sans"/>
                <a:ea typeface="Liberation Sans"/>
                <a:cs typeface="Liberation Sans"/>
              </a:defRPr>
            </a:lvl5pPr>
            <a:lvl6pPr>
              <a:defRPr sz="3600" b="1">
                <a:solidFill>
                  <a:srgbClr val="172C42"/>
                </a:solidFill>
                <a:latin typeface="Liberation Sans"/>
                <a:ea typeface="Liberation Sans"/>
                <a:cs typeface="Liberation Sans"/>
              </a:defRPr>
            </a:lvl6pPr>
            <a:lvl7pPr>
              <a:defRPr sz="3600" b="1">
                <a:solidFill>
                  <a:srgbClr val="172C42"/>
                </a:solidFill>
                <a:latin typeface="Liberation Sans"/>
                <a:ea typeface="Liberation Sans"/>
                <a:cs typeface="Liberation Sans"/>
              </a:defRPr>
            </a:lvl7pPr>
            <a:lvl8pPr>
              <a:defRPr sz="3600" b="1">
                <a:solidFill>
                  <a:srgbClr val="172C42"/>
                </a:solidFill>
                <a:latin typeface="Liberation Sans"/>
                <a:ea typeface="Liberation Sans"/>
                <a:cs typeface="Liberation Sans"/>
              </a:defRPr>
            </a:lvl8pPr>
            <a:lvl9pPr>
              <a:defRPr sz="3600" b="1">
                <a:solidFill>
                  <a:srgbClr val="172C42"/>
                </a:solidFill>
                <a:latin typeface="Liberation Sans"/>
                <a:ea typeface="Liberation Sans"/>
                <a:cs typeface="Liberation Sans"/>
              </a:defRPr>
            </a:lvl9pPr>
          </a:lstStyle>
          <a:p xmlns:a="http://schemas.openxmlformats.org/drawingml/2006/main">
            <a:pPr>
              <a:defRPr sz="3600" b="1">
                <a:solidFill>
                  <a:srgbClr val="172C42"/>
                </a:solidFill>
                <a:latin typeface="Liberation Sans"/>
                <a:ea typeface="Liberation Sans"/>
                <a:cs typeface="Liberation Sans"/>
              </a:defRPr>
            </a:pPr>
            <a:r>
              <a:rPr sz="3600" b="1">
                <a:solidFill>
                  <a:srgbClr val="172C42"/>
                </a:solidFill>
                <a:latin typeface="Liberation Sans"/>
                <a:ea typeface="Liberation Sans"/>
                <a:cs typeface="Liberation Sans"/>
              </a:rPr>
              <a:t>Geography becomes 300 classes</a:t>
            </a:r>
          </a:p>
        </p:txBody>
      </p:sp>
      <p:sp>
        <p:nvSpPr>
          <p:cNvPr id="2" name="">
            <a:extLst xmlns:a="http://schemas.openxmlformats.org/drawingml/2006/main">
              <a:ext uri="{FF2B5EF4-FFF2-40B4-BE49-F238E27FC236}">
                <a16:creationId xmlns:a16="http://schemas.microsoft.com/office/drawing/2014/main" id="{217DB9EA-C011-47A6-A98D-1ECC3285D0E1}"/>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D8D0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FADAACA-B68E-43FB-835A-2A5928E565E2}"/>
              </a:ext>
            </a:extLst>
          </p:cNvPr>
          <p:cNvSpPr>
            <a:spLocks xmlns:a="http://schemas.openxmlformats.org/drawingml/2006/main" noGrp="1"/>
          </p:cNvSpPr>
          <p:nvPr/>
        </p:nvSpPr>
        <p:spPr>
          <a:xfrm xmlns:a="http://schemas.openxmlformats.org/drawingml/2006/main">
            <a:off x="60960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Source: released Kerala cells.json. Points show actual saved centroids.</a:t>
            </a:r>
          </a:p>
        </p:txBody>
      </p:sp>
      <p:sp>
        <p:nvSpPr>
          <p:cNvPr id="4" name="">
            <a:extLst xmlns:a="http://schemas.openxmlformats.org/drawingml/2006/main">
              <a:ext uri="{FF2B5EF4-FFF2-40B4-BE49-F238E27FC236}">
                <a16:creationId xmlns:a16="http://schemas.microsoft.com/office/drawing/2014/main" id="{B687BDCD-8C00-446C-9C60-DDDDCCD56BBF}"/>
              </a:ext>
            </a:extLst>
          </p:cNvPr>
          <p:cNvSpPr>
            <a:spLocks xmlns:a="http://schemas.openxmlformats.org/drawingml/2006/main" noGrp="1"/>
          </p:cNvSpPr>
          <p:nvPr/>
        </p:nvSpPr>
        <p:spPr>
          <a:xfrm xmlns:a="http://schemas.openxmlformats.org/drawingml/2006/main">
            <a:off x="11191875"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3</a:t>
            </a:r>
          </a:p>
        </p:txBody>
      </p:sp>
      <p:graphicFrame>
        <p:nvGraphicFramePr>
          <p:cNvPr id="5" name="Chart">
            <a:extLst xmlns:a="http://schemas.openxmlformats.org/drawingml/2006/main">
              <a:ext uri="{FF2B5EF4-FFF2-40B4-BE49-F238E27FC236}">
                <a16:creationId xmlns:a16="http://schemas.microsoft.com/office/drawing/2014/main" id="{C4434246-B666-48D9-A9F6-E51248EE37D2}"/>
              </a:ext>
            </a:extLst>
          </p:cNvPr>
          <p:cNvGraphicFramePr/>
          <p:nvPr/>
        </p:nvGraphicFramePr>
        <p:xfrm>
          <a:off xmlns:a="http://schemas.openxmlformats.org/drawingml/2006/main" x="609600" y="1524000"/>
          <a:ext xmlns:a="http://schemas.openxmlformats.org/drawingml/2006/main" cx="6191250" cy="4286250"/>
        </p:xfrm>
        <a:graphic xmlns:a="http://schemas.openxmlformats.org/drawingml/2006/main">
          <a:graphicData uri="http://schemas.openxmlformats.org/drawingml/2006/chart">
            <c:chart xmlns:r="http://schemas.openxmlformats.org/officeDocument/2006/relationships" xmlns:c="http://schemas.openxmlformats.org/drawingml/2006/chart" r:id="R66c587bf56334481"/>
          </a:graphicData>
        </a:graphic>
      </p:graphicFrame>
      <p:sp>
        <p:nvSpPr>
          <p:cNvPr id="6" name="">
            <a:extLst xmlns:a="http://schemas.openxmlformats.org/drawingml/2006/main">
              <a:ext uri="{FF2B5EF4-FFF2-40B4-BE49-F238E27FC236}">
                <a16:creationId xmlns:a16="http://schemas.microsoft.com/office/drawing/2014/main" id="{A80E8A7E-DA82-4D10-8843-F0F9630BCEBA}"/>
              </a:ext>
            </a:extLst>
          </p:cNvPr>
          <p:cNvSpPr>
            <a:spLocks xmlns:a="http://schemas.openxmlformats.org/drawingml/2006/main" noGrp="1"/>
          </p:cNvSpPr>
          <p:nvPr/>
        </p:nvSpPr>
        <p:spPr>
          <a:xfrm xmlns:a="http://schemas.openxmlformats.org/drawingml/2006/main">
            <a:off x="7334250" y="1905000"/>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72C42"/>
                </a:solidFill>
                <a:latin typeface="Liberation Sans"/>
                <a:ea typeface="Liberation Sans"/>
                <a:cs typeface="Liberation Sans"/>
              </a:defRPr>
            </a:defPPr>
            <a:lvl1pPr>
              <a:defRPr sz="2625" b="1">
                <a:solidFill>
                  <a:srgbClr val="172C42"/>
                </a:solidFill>
                <a:latin typeface="Liberation Sans"/>
                <a:ea typeface="Liberation Sans"/>
                <a:cs typeface="Liberation Sans"/>
              </a:defRPr>
            </a:lvl1pPr>
            <a:lvl2pPr>
              <a:defRPr sz="2625" b="1">
                <a:solidFill>
                  <a:srgbClr val="172C42"/>
                </a:solidFill>
                <a:latin typeface="Liberation Sans"/>
                <a:ea typeface="Liberation Sans"/>
                <a:cs typeface="Liberation Sans"/>
              </a:defRPr>
            </a:lvl2pPr>
            <a:lvl3pPr>
              <a:defRPr sz="2625" b="1">
                <a:solidFill>
                  <a:srgbClr val="172C42"/>
                </a:solidFill>
                <a:latin typeface="Liberation Sans"/>
                <a:ea typeface="Liberation Sans"/>
                <a:cs typeface="Liberation Sans"/>
              </a:defRPr>
            </a:lvl3pPr>
            <a:lvl4pPr>
              <a:defRPr sz="2625" b="1">
                <a:solidFill>
                  <a:srgbClr val="172C42"/>
                </a:solidFill>
                <a:latin typeface="Liberation Sans"/>
                <a:ea typeface="Liberation Sans"/>
                <a:cs typeface="Liberation Sans"/>
              </a:defRPr>
            </a:lvl4pPr>
            <a:lvl5pPr>
              <a:defRPr sz="2625" b="1">
                <a:solidFill>
                  <a:srgbClr val="172C42"/>
                </a:solidFill>
                <a:latin typeface="Liberation Sans"/>
                <a:ea typeface="Liberation Sans"/>
                <a:cs typeface="Liberation Sans"/>
              </a:defRPr>
            </a:lvl5pPr>
            <a:lvl6pPr>
              <a:defRPr sz="2625" b="1">
                <a:solidFill>
                  <a:srgbClr val="172C42"/>
                </a:solidFill>
                <a:latin typeface="Liberation Sans"/>
                <a:ea typeface="Liberation Sans"/>
                <a:cs typeface="Liberation Sans"/>
              </a:defRPr>
            </a:lvl6pPr>
            <a:lvl7pPr>
              <a:defRPr sz="2625" b="1">
                <a:solidFill>
                  <a:srgbClr val="172C42"/>
                </a:solidFill>
                <a:latin typeface="Liberation Sans"/>
                <a:ea typeface="Liberation Sans"/>
                <a:cs typeface="Liberation Sans"/>
              </a:defRPr>
            </a:lvl7pPr>
            <a:lvl8pPr>
              <a:defRPr sz="2625" b="1">
                <a:solidFill>
                  <a:srgbClr val="172C42"/>
                </a:solidFill>
                <a:latin typeface="Liberation Sans"/>
                <a:ea typeface="Liberation Sans"/>
                <a:cs typeface="Liberation Sans"/>
              </a:defRPr>
            </a:lvl8pPr>
            <a:lvl9pPr>
              <a:defRPr sz="2625" b="1">
                <a:solidFill>
                  <a:srgbClr val="172C42"/>
                </a:solidFill>
                <a:latin typeface="Liberation Sans"/>
                <a:ea typeface="Liberation Sans"/>
                <a:cs typeface="Liberation Sans"/>
              </a:defRPr>
            </a:lvl9pPr>
          </a:lstStyle>
          <a:p xmlns:a="http://schemas.openxmlformats.org/drawingml/2006/main">
            <a:pPr>
              <a:defRPr sz="2625" b="1">
                <a:solidFill>
                  <a:srgbClr val="172C42"/>
                </a:solidFill>
                <a:latin typeface="Liberation Sans"/>
                <a:ea typeface="Liberation Sans"/>
                <a:cs typeface="Liberation Sans"/>
              </a:defRPr>
            </a:pPr>
            <a:r>
              <a:rPr sz="2625" b="1">
                <a:solidFill>
                  <a:srgbClr val="172C42"/>
                </a:solidFill>
                <a:latin typeface="Liberation Sans"/>
                <a:ea typeface="Liberation Sans"/>
                <a:cs typeface="Liberation Sans"/>
              </a:rPr>
              <a:t>Training coordinates</a:t>
            </a:r>
          </a:p>
          <a:p xmlns:a="http://schemas.openxmlformats.org/drawingml/2006/main">
            <a:pPr>
              <a:defRPr sz="2625" b="1">
                <a:solidFill>
                  <a:srgbClr val="172C42"/>
                </a:solidFill>
                <a:latin typeface="Liberation Sans"/>
                <a:ea typeface="Liberation Sans"/>
                <a:cs typeface="Liberation Sans"/>
              </a:defRPr>
            </a:pPr>
            <a:r>
              <a:rPr sz="2625" b="1">
                <a:solidFill>
                  <a:srgbClr val="172C42"/>
                </a:solidFill>
                <a:latin typeface="Liberation Sans"/>
                <a:ea typeface="Liberation Sans"/>
                <a:cs typeface="Liberation Sans"/>
              </a:rPr>
              <a:t>form the class map</a:t>
            </a:r>
          </a:p>
        </p:txBody>
      </p:sp>
      <p:sp>
        <p:nvSpPr>
          <p:cNvPr id="7" name="">
            <a:extLst xmlns:a="http://schemas.openxmlformats.org/drawingml/2006/main">
              <a:ext uri="{FF2B5EF4-FFF2-40B4-BE49-F238E27FC236}">
                <a16:creationId xmlns:a16="http://schemas.microsoft.com/office/drawing/2014/main" id="{D321DED7-B5AD-416C-AA21-5CE8B006F6FF}"/>
              </a:ext>
            </a:extLst>
          </p:cNvPr>
          <p:cNvSpPr>
            <a:spLocks xmlns:a="http://schemas.openxmlformats.org/drawingml/2006/main" noGrp="1"/>
          </p:cNvSpPr>
          <p:nvPr/>
        </p:nvSpPr>
        <p:spPr>
          <a:xfrm xmlns:a="http://schemas.openxmlformats.org/drawingml/2006/main">
            <a:off x="7334250" y="3381375"/>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C42"/>
                </a:solidFill>
                <a:latin typeface="Liberation Sans"/>
                <a:ea typeface="Liberation Sans"/>
                <a:cs typeface="Liberation Sans"/>
              </a:defRPr>
            </a:defPPr>
            <a:lvl1pPr>
              <a:defRPr sz="2325" b="0">
                <a:solidFill>
                  <a:srgbClr val="172C42"/>
                </a:solidFill>
                <a:latin typeface="Liberation Sans"/>
                <a:ea typeface="Liberation Sans"/>
                <a:cs typeface="Liberation Sans"/>
              </a:defRPr>
            </a:lvl1pPr>
            <a:lvl2pPr>
              <a:defRPr sz="2325" b="0">
                <a:solidFill>
                  <a:srgbClr val="172C42"/>
                </a:solidFill>
                <a:latin typeface="Liberation Sans"/>
                <a:ea typeface="Liberation Sans"/>
                <a:cs typeface="Liberation Sans"/>
              </a:defRPr>
            </a:lvl2pPr>
            <a:lvl3pPr>
              <a:defRPr sz="2325" b="0">
                <a:solidFill>
                  <a:srgbClr val="172C42"/>
                </a:solidFill>
                <a:latin typeface="Liberation Sans"/>
                <a:ea typeface="Liberation Sans"/>
                <a:cs typeface="Liberation Sans"/>
              </a:defRPr>
            </a:lvl3pPr>
            <a:lvl4pPr>
              <a:defRPr sz="2325" b="0">
                <a:solidFill>
                  <a:srgbClr val="172C42"/>
                </a:solidFill>
                <a:latin typeface="Liberation Sans"/>
                <a:ea typeface="Liberation Sans"/>
                <a:cs typeface="Liberation Sans"/>
              </a:defRPr>
            </a:lvl4pPr>
            <a:lvl5pPr>
              <a:defRPr sz="2325" b="0">
                <a:solidFill>
                  <a:srgbClr val="172C42"/>
                </a:solidFill>
                <a:latin typeface="Liberation Sans"/>
                <a:ea typeface="Liberation Sans"/>
                <a:cs typeface="Liberation Sans"/>
              </a:defRPr>
            </a:lvl5pPr>
            <a:lvl6pPr>
              <a:defRPr sz="2325" b="0">
                <a:solidFill>
                  <a:srgbClr val="172C42"/>
                </a:solidFill>
                <a:latin typeface="Liberation Sans"/>
                <a:ea typeface="Liberation Sans"/>
                <a:cs typeface="Liberation Sans"/>
              </a:defRPr>
            </a:lvl6pPr>
            <a:lvl7pPr>
              <a:defRPr sz="2325" b="0">
                <a:solidFill>
                  <a:srgbClr val="172C42"/>
                </a:solidFill>
                <a:latin typeface="Liberation Sans"/>
                <a:ea typeface="Liberation Sans"/>
                <a:cs typeface="Liberation Sans"/>
              </a:defRPr>
            </a:lvl7pPr>
            <a:lvl8pPr>
              <a:defRPr sz="2325" b="0">
                <a:solidFill>
                  <a:srgbClr val="172C42"/>
                </a:solidFill>
                <a:latin typeface="Liberation Sans"/>
                <a:ea typeface="Liberation Sans"/>
                <a:cs typeface="Liberation Sans"/>
              </a:defRPr>
            </a:lvl8pPr>
            <a:lvl9pPr>
              <a:defRPr sz="2325" b="0">
                <a:solidFill>
                  <a:srgbClr val="172C42"/>
                </a:solidFill>
                <a:latin typeface="Liberation Sans"/>
                <a:ea typeface="Liberation Sans"/>
                <a:cs typeface="Liberation Sans"/>
              </a:defRPr>
            </a:lvl9pPr>
          </a:lstStyle>
          <a:p xmlns:a="http://schemas.openxmlformats.org/drawingml/2006/main">
            <a:pPr>
              <a:defRPr sz="2325" b="0">
                <a:solidFill>
                  <a:srgbClr val="172C42"/>
                </a:solidFill>
                <a:latin typeface="Liberation Sans"/>
                <a:ea typeface="Liberation Sans"/>
                <a:cs typeface="Liberation Sans"/>
              </a:defRPr>
            </a:pPr>
            <a:r>
              <a:rPr sz="2325" b="0">
                <a:solidFill>
                  <a:srgbClr val="172C42"/>
                </a:solidFill>
                <a:latin typeface="Liberation Sans"/>
                <a:ea typeface="Liberation Sans"/>
                <a:cs typeface="Liberation Sans"/>
              </a:rPr>
              <a:t>The winning class returns</a:t>
            </a:r>
          </a:p>
          <a:p xmlns:a="http://schemas.openxmlformats.org/drawingml/2006/main">
            <a:pPr>
              <a:defRPr sz="2325" b="0">
                <a:solidFill>
                  <a:srgbClr val="172C42"/>
                </a:solidFill>
                <a:latin typeface="Liberation Sans"/>
                <a:ea typeface="Liberation Sans"/>
                <a:cs typeface="Liberation Sans"/>
              </a:defRPr>
            </a:pPr>
            <a:r>
              <a:rPr sz="2325" b="0">
                <a:solidFill>
                  <a:srgbClr val="172C42"/>
                </a:solidFill>
                <a:latin typeface="Liberation Sans"/>
                <a:ea typeface="Liberation Sans"/>
                <a:cs typeface="Liberation Sans"/>
              </a:rPr>
              <a:t>its saved center.</a:t>
            </a:r>
          </a:p>
        </p:txBody>
      </p:sp>
      <p:sp>
        <p:nvSpPr>
          <p:cNvPr id="8" name="">
            <a:extLst xmlns:a="http://schemas.openxmlformats.org/drawingml/2006/main">
              <a:ext uri="{FF2B5EF4-FFF2-40B4-BE49-F238E27FC236}">
                <a16:creationId xmlns:a16="http://schemas.microsoft.com/office/drawing/2014/main" id="{F6F4661A-2556-48FC-A87D-2C2D4251F669}"/>
              </a:ext>
            </a:extLst>
          </p:cNvPr>
          <p:cNvSpPr>
            <a:spLocks xmlns:a="http://schemas.openxmlformats.org/drawingml/2006/main" noGrp="1"/>
          </p:cNvSpPr>
          <p:nvPr/>
        </p:nvSpPr>
        <p:spPr>
          <a:xfrm xmlns:a="http://schemas.openxmlformats.org/drawingml/2006/main">
            <a:off x="7334250" y="4762500"/>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26A70"/>
                </a:solidFill>
                <a:latin typeface="Liberation Sans"/>
                <a:ea typeface="Liberation Sans"/>
                <a:cs typeface="Liberation Sans"/>
              </a:defRPr>
            </a:defPPr>
            <a:lvl1pPr>
              <a:defRPr sz="2175" b="0">
                <a:solidFill>
                  <a:srgbClr val="626A70"/>
                </a:solidFill>
                <a:latin typeface="Liberation Sans"/>
                <a:ea typeface="Liberation Sans"/>
                <a:cs typeface="Liberation Sans"/>
              </a:defRPr>
            </a:lvl1pPr>
            <a:lvl2pPr>
              <a:defRPr sz="2175" b="0">
                <a:solidFill>
                  <a:srgbClr val="626A70"/>
                </a:solidFill>
                <a:latin typeface="Liberation Sans"/>
                <a:ea typeface="Liberation Sans"/>
                <a:cs typeface="Liberation Sans"/>
              </a:defRPr>
            </a:lvl2pPr>
            <a:lvl3pPr>
              <a:defRPr sz="2175" b="0">
                <a:solidFill>
                  <a:srgbClr val="626A70"/>
                </a:solidFill>
                <a:latin typeface="Liberation Sans"/>
                <a:ea typeface="Liberation Sans"/>
                <a:cs typeface="Liberation Sans"/>
              </a:defRPr>
            </a:lvl3pPr>
            <a:lvl4pPr>
              <a:defRPr sz="2175" b="0">
                <a:solidFill>
                  <a:srgbClr val="626A70"/>
                </a:solidFill>
                <a:latin typeface="Liberation Sans"/>
                <a:ea typeface="Liberation Sans"/>
                <a:cs typeface="Liberation Sans"/>
              </a:defRPr>
            </a:lvl4pPr>
            <a:lvl5pPr>
              <a:defRPr sz="2175" b="0">
                <a:solidFill>
                  <a:srgbClr val="626A70"/>
                </a:solidFill>
                <a:latin typeface="Liberation Sans"/>
                <a:ea typeface="Liberation Sans"/>
                <a:cs typeface="Liberation Sans"/>
              </a:defRPr>
            </a:lvl5pPr>
            <a:lvl6pPr>
              <a:defRPr sz="2175" b="0">
                <a:solidFill>
                  <a:srgbClr val="626A70"/>
                </a:solidFill>
                <a:latin typeface="Liberation Sans"/>
                <a:ea typeface="Liberation Sans"/>
                <a:cs typeface="Liberation Sans"/>
              </a:defRPr>
            </a:lvl6pPr>
            <a:lvl7pPr>
              <a:defRPr sz="2175" b="0">
                <a:solidFill>
                  <a:srgbClr val="626A70"/>
                </a:solidFill>
                <a:latin typeface="Liberation Sans"/>
                <a:ea typeface="Liberation Sans"/>
                <a:cs typeface="Liberation Sans"/>
              </a:defRPr>
            </a:lvl7pPr>
            <a:lvl8pPr>
              <a:defRPr sz="2175" b="0">
                <a:solidFill>
                  <a:srgbClr val="626A70"/>
                </a:solidFill>
                <a:latin typeface="Liberation Sans"/>
                <a:ea typeface="Liberation Sans"/>
                <a:cs typeface="Liberation Sans"/>
              </a:defRPr>
            </a:lvl8pPr>
            <a:lvl9pPr>
              <a:defRPr sz="2175" b="0">
                <a:solidFill>
                  <a:srgbClr val="626A70"/>
                </a:solidFill>
                <a:latin typeface="Liberation Sans"/>
                <a:ea typeface="Liberation Sans"/>
                <a:cs typeface="Liberation Sans"/>
              </a:defRPr>
            </a:lvl9pPr>
          </a:lstStyle>
          <a:p xmlns:a="http://schemas.openxmlformats.org/drawingml/2006/main">
            <a:pPr>
              <a:defRPr sz="2175" b="0">
                <a:solidFill>
                  <a:srgbClr val="626A70"/>
                </a:solidFill>
                <a:latin typeface="Liberation Sans"/>
                <a:ea typeface="Liberation Sans"/>
                <a:cs typeface="Liberation Sans"/>
              </a:defRPr>
            </a:pPr>
            <a:r>
              <a:rPr sz="2175" b="0">
                <a:solidFill>
                  <a:srgbClr val="626A70"/>
                </a:solidFill>
                <a:latin typeface="Liberation Sans"/>
                <a:ea typeface="Liberation Sans"/>
                <a:cs typeface="Liberation Sans"/>
              </a:rPr>
              <a:t>The class resolution limits</a:t>
            </a:r>
          </a:p>
          <a:p xmlns:a="http://schemas.openxmlformats.org/drawingml/2006/main">
            <a:pPr>
              <a:defRPr sz="2175" b="0">
                <a:solidFill>
                  <a:srgbClr val="626A70"/>
                </a:solidFill>
                <a:latin typeface="Liberation Sans"/>
                <a:ea typeface="Liberation Sans"/>
                <a:cs typeface="Liberation Sans"/>
              </a:defRPr>
            </a:pPr>
            <a:r>
              <a:rPr sz="2175" b="0">
                <a:solidFill>
                  <a:srgbClr val="626A70"/>
                </a:solidFill>
                <a:latin typeface="Liberation Sans"/>
                <a:ea typeface="Liberation Sans"/>
                <a:cs typeface="Liberation Sans"/>
              </a:rPr>
              <a:t>coordinate precision.</a:t>
            </a:r>
          </a:p>
        </p:txBody>
      </p:sp>
    </p:spTree>
    <p:extLst>
      <p:ext uri="{BB962C8B-B14F-4D97-AF65-F5344CB8AC3E}">
        <p14:creationId xmlns:p14="http://schemas.microsoft.com/office/powerpoint/2010/main" val="127803768"/>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AF49F4-7142-4DC4-BF46-147487ACEDD0}"/>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2C42"/>
                </a:solidFill>
                <a:latin typeface="Liberation Sans"/>
                <a:ea typeface="Liberation Sans"/>
                <a:cs typeface="Liberation Sans"/>
              </a:defRPr>
            </a:defPPr>
            <a:lvl1pPr>
              <a:defRPr sz="3600" b="1">
                <a:solidFill>
                  <a:srgbClr val="172C42"/>
                </a:solidFill>
                <a:latin typeface="Liberation Sans"/>
                <a:ea typeface="Liberation Sans"/>
                <a:cs typeface="Liberation Sans"/>
              </a:defRPr>
            </a:lvl1pPr>
            <a:lvl2pPr>
              <a:defRPr sz="3600" b="1">
                <a:solidFill>
                  <a:srgbClr val="172C42"/>
                </a:solidFill>
                <a:latin typeface="Liberation Sans"/>
                <a:ea typeface="Liberation Sans"/>
                <a:cs typeface="Liberation Sans"/>
              </a:defRPr>
            </a:lvl2pPr>
            <a:lvl3pPr>
              <a:defRPr sz="3600" b="1">
                <a:solidFill>
                  <a:srgbClr val="172C42"/>
                </a:solidFill>
                <a:latin typeface="Liberation Sans"/>
                <a:ea typeface="Liberation Sans"/>
                <a:cs typeface="Liberation Sans"/>
              </a:defRPr>
            </a:lvl3pPr>
            <a:lvl4pPr>
              <a:defRPr sz="3600" b="1">
                <a:solidFill>
                  <a:srgbClr val="172C42"/>
                </a:solidFill>
                <a:latin typeface="Liberation Sans"/>
                <a:ea typeface="Liberation Sans"/>
                <a:cs typeface="Liberation Sans"/>
              </a:defRPr>
            </a:lvl4pPr>
            <a:lvl5pPr>
              <a:defRPr sz="3600" b="1">
                <a:solidFill>
                  <a:srgbClr val="172C42"/>
                </a:solidFill>
                <a:latin typeface="Liberation Sans"/>
                <a:ea typeface="Liberation Sans"/>
                <a:cs typeface="Liberation Sans"/>
              </a:defRPr>
            </a:lvl5pPr>
            <a:lvl6pPr>
              <a:defRPr sz="3600" b="1">
                <a:solidFill>
                  <a:srgbClr val="172C42"/>
                </a:solidFill>
                <a:latin typeface="Liberation Sans"/>
                <a:ea typeface="Liberation Sans"/>
                <a:cs typeface="Liberation Sans"/>
              </a:defRPr>
            </a:lvl6pPr>
            <a:lvl7pPr>
              <a:defRPr sz="3600" b="1">
                <a:solidFill>
                  <a:srgbClr val="172C42"/>
                </a:solidFill>
                <a:latin typeface="Liberation Sans"/>
                <a:ea typeface="Liberation Sans"/>
                <a:cs typeface="Liberation Sans"/>
              </a:defRPr>
            </a:lvl7pPr>
            <a:lvl8pPr>
              <a:defRPr sz="3600" b="1">
                <a:solidFill>
                  <a:srgbClr val="172C42"/>
                </a:solidFill>
                <a:latin typeface="Liberation Sans"/>
                <a:ea typeface="Liberation Sans"/>
                <a:cs typeface="Liberation Sans"/>
              </a:defRPr>
            </a:lvl8pPr>
            <a:lvl9pPr>
              <a:defRPr sz="3600" b="1">
                <a:solidFill>
                  <a:srgbClr val="172C42"/>
                </a:solidFill>
                <a:latin typeface="Liberation Sans"/>
                <a:ea typeface="Liberation Sans"/>
                <a:cs typeface="Liberation Sans"/>
              </a:defRPr>
            </a:lvl9pPr>
          </a:lstStyle>
          <a:p xmlns:a="http://schemas.openxmlformats.org/drawingml/2006/main">
            <a:pPr>
              <a:defRPr sz="3600" b="1">
                <a:solidFill>
                  <a:srgbClr val="172C42"/>
                </a:solidFill>
                <a:latin typeface="Liberation Sans"/>
                <a:ea typeface="Liberation Sans"/>
                <a:cs typeface="Liberation Sans"/>
              </a:defRPr>
            </a:pPr>
            <a:r>
              <a:rPr sz="3600" b="1">
                <a:solidFill>
                  <a:srgbClr val="172C42"/>
                </a:solidFill>
                <a:latin typeface="Liberation Sans"/>
                <a:ea typeface="Liberation Sans"/>
                <a:cs typeface="Liberation Sans"/>
              </a:rPr>
              <a:t>Kerala training, validation and test data</a:t>
            </a:r>
          </a:p>
        </p:txBody>
      </p:sp>
      <p:sp>
        <p:nvSpPr>
          <p:cNvPr id="2" name="">
            <a:extLst xmlns:a="http://schemas.openxmlformats.org/drawingml/2006/main">
              <a:ext uri="{FF2B5EF4-FFF2-40B4-BE49-F238E27FC236}">
                <a16:creationId xmlns:a16="http://schemas.microsoft.com/office/drawing/2014/main" id="{FBDDDE9E-1A9A-42B0-B48A-0794B49E697D}"/>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D8D0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58019A-A0C7-4EBA-8A05-5FA294D6FEB2}"/>
              </a:ext>
            </a:extLst>
          </p:cNvPr>
          <p:cNvSpPr>
            <a:spLocks xmlns:a="http://schemas.openxmlformats.org/drawingml/2006/main" noGrp="1"/>
          </p:cNvSpPr>
          <p:nvPr/>
        </p:nvSpPr>
        <p:spPr>
          <a:xfrm xmlns:a="http://schemas.openxmlformats.org/drawingml/2006/main">
            <a:off x="60960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Source: reconstructed seed-42 CSVs and split_audit.json</a:t>
            </a:r>
          </a:p>
        </p:txBody>
      </p:sp>
      <p:sp>
        <p:nvSpPr>
          <p:cNvPr id="4" name="">
            <a:extLst xmlns:a="http://schemas.openxmlformats.org/drawingml/2006/main">
              <a:ext uri="{FF2B5EF4-FFF2-40B4-BE49-F238E27FC236}">
                <a16:creationId xmlns:a16="http://schemas.microsoft.com/office/drawing/2014/main" id="{97A8090F-F9B6-49AF-8A03-28D0AAB3F117}"/>
              </a:ext>
            </a:extLst>
          </p:cNvPr>
          <p:cNvSpPr>
            <a:spLocks xmlns:a="http://schemas.openxmlformats.org/drawingml/2006/main" noGrp="1"/>
          </p:cNvSpPr>
          <p:nvPr/>
        </p:nvSpPr>
        <p:spPr>
          <a:xfrm xmlns:a="http://schemas.openxmlformats.org/drawingml/2006/main">
            <a:off x="11191875"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4</a:t>
            </a:r>
          </a:p>
        </p:txBody>
      </p:sp>
      <p:graphicFrame>
        <p:nvGraphicFramePr>
          <p:cNvPr id="5" name="Chart">
            <a:extLst xmlns:a="http://schemas.openxmlformats.org/drawingml/2006/main">
              <a:ext uri="{FF2B5EF4-FFF2-40B4-BE49-F238E27FC236}">
                <a16:creationId xmlns:a16="http://schemas.microsoft.com/office/drawing/2014/main" id="{40E62BA0-3F5D-44ED-A179-A6007B792268}"/>
              </a:ext>
            </a:extLst>
          </p:cNvPr>
          <p:cNvGraphicFramePr/>
          <p:nvPr/>
        </p:nvGraphicFramePr>
        <p:xfrm>
          <a:off xmlns:a="http://schemas.openxmlformats.org/drawingml/2006/main" x="609600" y="1619250"/>
          <a:ext xmlns:a="http://schemas.openxmlformats.org/drawingml/2006/main" cx="10820400" cy="3714750"/>
        </p:xfrm>
        <a:graphic xmlns:a="http://schemas.openxmlformats.org/drawingml/2006/main">
          <a:graphicData uri="http://schemas.openxmlformats.org/drawingml/2006/chart">
            <c:chart xmlns:r="http://schemas.openxmlformats.org/officeDocument/2006/relationships" xmlns:c="http://schemas.openxmlformats.org/drawingml/2006/chart" r:id="R04fe383fb7374e19"/>
          </a:graphicData>
        </a:graphic>
      </p:graphicFrame>
      <p:sp>
        <p:nvSpPr>
          <p:cNvPr id="6" name="">
            <a:extLst xmlns:a="http://schemas.openxmlformats.org/drawingml/2006/main">
              <a:ext uri="{FF2B5EF4-FFF2-40B4-BE49-F238E27FC236}">
                <a16:creationId xmlns:a16="http://schemas.microsoft.com/office/drawing/2014/main" id="{4878E782-8BC3-4BFF-89C1-771502100DDF}"/>
              </a:ext>
            </a:extLst>
          </p:cNvPr>
          <p:cNvSpPr>
            <a:spLocks xmlns:a="http://schemas.openxmlformats.org/drawingml/2006/main" noGrp="1"/>
          </p:cNvSpPr>
          <p:nvPr/>
        </p:nvSpPr>
        <p:spPr>
          <a:xfrm xmlns:a="http://schemas.openxmlformats.org/drawingml/2006/main">
            <a:off x="609600" y="561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2C42"/>
                </a:solidFill>
                <a:latin typeface="Liberation Sans"/>
                <a:ea typeface="Liberation Sans"/>
                <a:cs typeface="Liberation Sans"/>
              </a:defRPr>
            </a:defPPr>
            <a:lvl1pPr>
              <a:defRPr sz="2175" b="1">
                <a:solidFill>
                  <a:srgbClr val="172C42"/>
                </a:solidFill>
                <a:latin typeface="Liberation Sans"/>
                <a:ea typeface="Liberation Sans"/>
                <a:cs typeface="Liberation Sans"/>
              </a:defRPr>
            </a:lvl1pPr>
            <a:lvl2pPr>
              <a:defRPr sz="2175" b="1">
                <a:solidFill>
                  <a:srgbClr val="172C42"/>
                </a:solidFill>
                <a:latin typeface="Liberation Sans"/>
                <a:ea typeface="Liberation Sans"/>
                <a:cs typeface="Liberation Sans"/>
              </a:defRPr>
            </a:lvl2pPr>
            <a:lvl3pPr>
              <a:defRPr sz="2175" b="1">
                <a:solidFill>
                  <a:srgbClr val="172C42"/>
                </a:solidFill>
                <a:latin typeface="Liberation Sans"/>
                <a:ea typeface="Liberation Sans"/>
                <a:cs typeface="Liberation Sans"/>
              </a:defRPr>
            </a:lvl3pPr>
            <a:lvl4pPr>
              <a:defRPr sz="2175" b="1">
                <a:solidFill>
                  <a:srgbClr val="172C42"/>
                </a:solidFill>
                <a:latin typeface="Liberation Sans"/>
                <a:ea typeface="Liberation Sans"/>
                <a:cs typeface="Liberation Sans"/>
              </a:defRPr>
            </a:lvl4pPr>
            <a:lvl5pPr>
              <a:defRPr sz="2175" b="1">
                <a:solidFill>
                  <a:srgbClr val="172C42"/>
                </a:solidFill>
                <a:latin typeface="Liberation Sans"/>
                <a:ea typeface="Liberation Sans"/>
                <a:cs typeface="Liberation Sans"/>
              </a:defRPr>
            </a:lvl5pPr>
            <a:lvl6pPr>
              <a:defRPr sz="2175" b="1">
                <a:solidFill>
                  <a:srgbClr val="172C42"/>
                </a:solidFill>
                <a:latin typeface="Liberation Sans"/>
                <a:ea typeface="Liberation Sans"/>
                <a:cs typeface="Liberation Sans"/>
              </a:defRPr>
            </a:lvl6pPr>
            <a:lvl7pPr>
              <a:defRPr sz="2175" b="1">
                <a:solidFill>
                  <a:srgbClr val="172C42"/>
                </a:solidFill>
                <a:latin typeface="Liberation Sans"/>
                <a:ea typeface="Liberation Sans"/>
                <a:cs typeface="Liberation Sans"/>
              </a:defRPr>
            </a:lvl7pPr>
            <a:lvl8pPr>
              <a:defRPr sz="2175" b="1">
                <a:solidFill>
                  <a:srgbClr val="172C42"/>
                </a:solidFill>
                <a:latin typeface="Liberation Sans"/>
                <a:ea typeface="Liberation Sans"/>
                <a:cs typeface="Liberation Sans"/>
              </a:defRPr>
            </a:lvl8pPr>
            <a:lvl9pPr>
              <a:defRPr sz="2175" b="1">
                <a:solidFill>
                  <a:srgbClr val="172C42"/>
                </a:solidFill>
                <a:latin typeface="Liberation Sans"/>
                <a:ea typeface="Liberation Sans"/>
                <a:cs typeface="Liberation Sans"/>
              </a:defRPr>
            </a:lvl9pPr>
          </a:lstStyle>
          <a:p xmlns:a="http://schemas.openxmlformats.org/drawingml/2006/main">
            <a:pPr>
              <a:defRPr sz="2175" b="1">
                <a:solidFill>
                  <a:srgbClr val="172C42"/>
                </a:solidFill>
                <a:latin typeface="Liberation Sans"/>
                <a:ea typeface="Liberation Sans"/>
                <a:cs typeface="Liberation Sans"/>
              </a:defRPr>
            </a:pPr>
            <a:r>
              <a:rPr sz="2175" b="1">
                <a:solidFill>
                  <a:srgbClr val="172C42"/>
                </a:solidFill>
                <a:latin typeface="Liberation Sans"/>
                <a:ea typeface="Liberation Sans"/>
                <a:cs typeface="Liberation Sans"/>
              </a:rPr>
              <a:t>Same images and same 300 cells for L5 and L6</a:t>
            </a:r>
          </a:p>
        </p:txBody>
      </p:sp>
    </p:spTree>
    <p:extLst>
      <p:ext uri="{BB962C8B-B14F-4D97-AF65-F5344CB8AC3E}">
        <p14:creationId xmlns:p14="http://schemas.microsoft.com/office/powerpoint/2010/main" val="1785791594"/>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7F006B-8FF6-4CAE-851E-939ED34363B3}"/>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2C42"/>
                </a:solidFill>
                <a:latin typeface="Liberation Sans"/>
                <a:ea typeface="Liberation Sans"/>
                <a:cs typeface="Liberation Sans"/>
              </a:defRPr>
            </a:defPPr>
            <a:lvl1pPr>
              <a:defRPr sz="3600" b="1">
                <a:solidFill>
                  <a:srgbClr val="172C42"/>
                </a:solidFill>
                <a:latin typeface="Liberation Sans"/>
                <a:ea typeface="Liberation Sans"/>
                <a:cs typeface="Liberation Sans"/>
              </a:defRPr>
            </a:lvl1pPr>
            <a:lvl2pPr>
              <a:defRPr sz="3600" b="1">
                <a:solidFill>
                  <a:srgbClr val="172C42"/>
                </a:solidFill>
                <a:latin typeface="Liberation Sans"/>
                <a:ea typeface="Liberation Sans"/>
                <a:cs typeface="Liberation Sans"/>
              </a:defRPr>
            </a:lvl2pPr>
            <a:lvl3pPr>
              <a:defRPr sz="3600" b="1">
                <a:solidFill>
                  <a:srgbClr val="172C42"/>
                </a:solidFill>
                <a:latin typeface="Liberation Sans"/>
                <a:ea typeface="Liberation Sans"/>
                <a:cs typeface="Liberation Sans"/>
              </a:defRPr>
            </a:lvl3pPr>
            <a:lvl4pPr>
              <a:defRPr sz="3600" b="1">
                <a:solidFill>
                  <a:srgbClr val="172C42"/>
                </a:solidFill>
                <a:latin typeface="Liberation Sans"/>
                <a:ea typeface="Liberation Sans"/>
                <a:cs typeface="Liberation Sans"/>
              </a:defRPr>
            </a:lvl4pPr>
            <a:lvl5pPr>
              <a:defRPr sz="3600" b="1">
                <a:solidFill>
                  <a:srgbClr val="172C42"/>
                </a:solidFill>
                <a:latin typeface="Liberation Sans"/>
                <a:ea typeface="Liberation Sans"/>
                <a:cs typeface="Liberation Sans"/>
              </a:defRPr>
            </a:lvl5pPr>
            <a:lvl6pPr>
              <a:defRPr sz="3600" b="1">
                <a:solidFill>
                  <a:srgbClr val="172C42"/>
                </a:solidFill>
                <a:latin typeface="Liberation Sans"/>
                <a:ea typeface="Liberation Sans"/>
                <a:cs typeface="Liberation Sans"/>
              </a:defRPr>
            </a:lvl6pPr>
            <a:lvl7pPr>
              <a:defRPr sz="3600" b="1">
                <a:solidFill>
                  <a:srgbClr val="172C42"/>
                </a:solidFill>
                <a:latin typeface="Liberation Sans"/>
                <a:ea typeface="Liberation Sans"/>
                <a:cs typeface="Liberation Sans"/>
              </a:defRPr>
            </a:lvl7pPr>
            <a:lvl8pPr>
              <a:defRPr sz="3600" b="1">
                <a:solidFill>
                  <a:srgbClr val="172C42"/>
                </a:solidFill>
                <a:latin typeface="Liberation Sans"/>
                <a:ea typeface="Liberation Sans"/>
                <a:cs typeface="Liberation Sans"/>
              </a:defRPr>
            </a:lvl8pPr>
            <a:lvl9pPr>
              <a:defRPr sz="3600" b="1">
                <a:solidFill>
                  <a:srgbClr val="172C42"/>
                </a:solidFill>
                <a:latin typeface="Liberation Sans"/>
                <a:ea typeface="Liberation Sans"/>
                <a:cs typeface="Liberation Sans"/>
              </a:defRPr>
            </a:lvl9pPr>
          </a:lstStyle>
          <a:p xmlns:a="http://schemas.openxmlformats.org/drawingml/2006/main">
            <a:pPr>
              <a:defRPr sz="3600" b="1">
                <a:solidFill>
                  <a:srgbClr val="172C42"/>
                </a:solidFill>
                <a:latin typeface="Liberation Sans"/>
                <a:ea typeface="Liberation Sans"/>
                <a:cs typeface="Liberation Sans"/>
              </a:defRPr>
            </a:pPr>
            <a:r>
              <a:rPr sz="3600" b="1">
                <a:solidFill>
                  <a:srgbClr val="172C42"/>
                </a:solidFill>
                <a:latin typeface="Liberation Sans"/>
                <a:ea typeface="Liberation Sans"/>
                <a:cs typeface="Liberation Sans"/>
              </a:rPr>
              <a:t>L6 gives nearby cells some training credit</a:t>
            </a:r>
          </a:p>
        </p:txBody>
      </p:sp>
      <p:sp>
        <p:nvSpPr>
          <p:cNvPr id="2" name="">
            <a:extLst xmlns:a="http://schemas.openxmlformats.org/drawingml/2006/main">
              <a:ext uri="{FF2B5EF4-FFF2-40B4-BE49-F238E27FC236}">
                <a16:creationId xmlns:a16="http://schemas.microsoft.com/office/drawing/2014/main" id="{5646AABE-12BB-48EB-AD6C-1521729D4139}"/>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D8D0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8EBC8C1-2E48-44EF-B3C8-3505CF1B3B6B}"/>
              </a:ext>
            </a:extLst>
          </p:cNvPr>
          <p:cNvSpPr>
            <a:spLocks xmlns:a="http://schemas.openxmlformats.org/drawingml/2006/main" noGrp="1"/>
          </p:cNvSpPr>
          <p:nvPr/>
        </p:nvSpPr>
        <p:spPr>
          <a:xfrm xmlns:a="http://schemas.openxmlformats.org/drawingml/2006/main">
            <a:off x="60960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Source: scripts/run_l6_kerala_head.py and prespecified protocol</a:t>
            </a:r>
          </a:p>
        </p:txBody>
      </p:sp>
      <p:sp>
        <p:nvSpPr>
          <p:cNvPr id="4" name="">
            <a:extLst xmlns:a="http://schemas.openxmlformats.org/drawingml/2006/main">
              <a:ext uri="{FF2B5EF4-FFF2-40B4-BE49-F238E27FC236}">
                <a16:creationId xmlns:a16="http://schemas.microsoft.com/office/drawing/2014/main" id="{DFF7D8CF-40B7-475D-AC6A-E4B4B6F4F085}"/>
              </a:ext>
            </a:extLst>
          </p:cNvPr>
          <p:cNvSpPr>
            <a:spLocks xmlns:a="http://schemas.openxmlformats.org/drawingml/2006/main" noGrp="1"/>
          </p:cNvSpPr>
          <p:nvPr/>
        </p:nvSpPr>
        <p:spPr>
          <a:xfrm xmlns:a="http://schemas.openxmlformats.org/drawingml/2006/main">
            <a:off x="11191875"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5</a:t>
            </a:r>
          </a:p>
        </p:txBody>
      </p:sp>
      <p:sp>
        <p:nvSpPr>
          <p:cNvPr id="5" name="">
            <a:extLst xmlns:a="http://schemas.openxmlformats.org/drawingml/2006/main">
              <a:ext uri="{FF2B5EF4-FFF2-40B4-BE49-F238E27FC236}">
                <a16:creationId xmlns:a16="http://schemas.microsoft.com/office/drawing/2014/main" id="{1712B976-4A94-4CF9-AC0C-92A3111C10BB}"/>
              </a:ext>
            </a:extLst>
          </p:cNvPr>
          <p:cNvSpPr>
            <a:spLocks xmlns:a="http://schemas.openxmlformats.org/drawingml/2006/main" noGrp="1"/>
          </p:cNvSpPr>
          <p:nvPr/>
        </p:nvSpPr>
        <p:spPr>
          <a:xfrm xmlns:a="http://schemas.openxmlformats.org/drawingml/2006/main">
            <a:off x="1143000" y="1809750"/>
            <a:ext cx="990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75" b="1">
                <a:solidFill>
                  <a:srgbClr val="172C42"/>
                </a:solidFill>
                <a:latin typeface="Liberation Sans"/>
                <a:ea typeface="Liberation Sans"/>
                <a:cs typeface="Liberation Sans"/>
              </a:defRPr>
            </a:defPPr>
            <a:lvl1pPr>
              <a:defRPr sz="4875" b="1">
                <a:solidFill>
                  <a:srgbClr val="172C42"/>
                </a:solidFill>
                <a:latin typeface="Liberation Sans"/>
                <a:ea typeface="Liberation Sans"/>
                <a:cs typeface="Liberation Sans"/>
              </a:defRPr>
            </a:lvl1pPr>
            <a:lvl2pPr>
              <a:defRPr sz="4875" b="1">
                <a:solidFill>
                  <a:srgbClr val="172C42"/>
                </a:solidFill>
                <a:latin typeface="Liberation Sans"/>
                <a:ea typeface="Liberation Sans"/>
                <a:cs typeface="Liberation Sans"/>
              </a:defRPr>
            </a:lvl2pPr>
            <a:lvl3pPr>
              <a:defRPr sz="4875" b="1">
                <a:solidFill>
                  <a:srgbClr val="172C42"/>
                </a:solidFill>
                <a:latin typeface="Liberation Sans"/>
                <a:ea typeface="Liberation Sans"/>
                <a:cs typeface="Liberation Sans"/>
              </a:defRPr>
            </a:lvl3pPr>
            <a:lvl4pPr>
              <a:defRPr sz="4875" b="1">
                <a:solidFill>
                  <a:srgbClr val="172C42"/>
                </a:solidFill>
                <a:latin typeface="Liberation Sans"/>
                <a:ea typeface="Liberation Sans"/>
                <a:cs typeface="Liberation Sans"/>
              </a:defRPr>
            </a:lvl4pPr>
            <a:lvl5pPr>
              <a:defRPr sz="4875" b="1">
                <a:solidFill>
                  <a:srgbClr val="172C42"/>
                </a:solidFill>
                <a:latin typeface="Liberation Sans"/>
                <a:ea typeface="Liberation Sans"/>
                <a:cs typeface="Liberation Sans"/>
              </a:defRPr>
            </a:lvl5pPr>
            <a:lvl6pPr>
              <a:defRPr sz="4875" b="1">
                <a:solidFill>
                  <a:srgbClr val="172C42"/>
                </a:solidFill>
                <a:latin typeface="Liberation Sans"/>
                <a:ea typeface="Liberation Sans"/>
                <a:cs typeface="Liberation Sans"/>
              </a:defRPr>
            </a:lvl6pPr>
            <a:lvl7pPr>
              <a:defRPr sz="4875" b="1">
                <a:solidFill>
                  <a:srgbClr val="172C42"/>
                </a:solidFill>
                <a:latin typeface="Liberation Sans"/>
                <a:ea typeface="Liberation Sans"/>
                <a:cs typeface="Liberation Sans"/>
              </a:defRPr>
            </a:lvl7pPr>
            <a:lvl8pPr>
              <a:defRPr sz="4875" b="1">
                <a:solidFill>
                  <a:srgbClr val="172C42"/>
                </a:solidFill>
                <a:latin typeface="Liberation Sans"/>
                <a:ea typeface="Liberation Sans"/>
                <a:cs typeface="Liberation Sans"/>
              </a:defRPr>
            </a:lvl8pPr>
            <a:lvl9pPr>
              <a:defRPr sz="4875" b="1">
                <a:solidFill>
                  <a:srgbClr val="172C42"/>
                </a:solidFill>
                <a:latin typeface="Liberation Sans"/>
                <a:ea typeface="Liberation Sans"/>
                <a:cs typeface="Liberation Sans"/>
              </a:defRPr>
            </a:lvl9pPr>
          </a:lstStyle>
          <a:p xmlns:a="http://schemas.openxmlformats.org/drawingml/2006/main">
            <a:pPr>
              <a:defRPr sz="4875" b="1">
                <a:solidFill>
                  <a:srgbClr val="172C42"/>
                </a:solidFill>
                <a:latin typeface="Liberation Sans"/>
                <a:ea typeface="Liberation Sans"/>
                <a:cs typeface="Liberation Sans"/>
              </a:defRPr>
            </a:pPr>
            <a:r>
              <a:rPr sz="4875" b="1">
                <a:solidFill>
                  <a:srgbClr val="172C42"/>
                </a:solidFill>
                <a:latin typeface="Liberation Sans"/>
                <a:ea typeface="Liberation Sans"/>
                <a:cs typeface="Liberation Sans"/>
              </a:rPr>
              <a:t>90% assigned class</a:t>
            </a:r>
          </a:p>
        </p:txBody>
      </p:sp>
      <p:sp>
        <p:nvSpPr>
          <p:cNvPr id="6" name="">
            <a:extLst xmlns:a="http://schemas.openxmlformats.org/drawingml/2006/main">
              <a:ext uri="{FF2B5EF4-FFF2-40B4-BE49-F238E27FC236}">
                <a16:creationId xmlns:a16="http://schemas.microsoft.com/office/drawing/2014/main" id="{125B901B-37A7-4A98-94E4-2428CD43E1C2}"/>
              </a:ext>
            </a:extLst>
          </p:cNvPr>
          <p:cNvSpPr>
            <a:spLocks xmlns:a="http://schemas.openxmlformats.org/drawingml/2006/main" noGrp="1"/>
          </p:cNvSpPr>
          <p:nvPr/>
        </p:nvSpPr>
        <p:spPr>
          <a:xfrm xmlns:a="http://schemas.openxmlformats.org/drawingml/2006/main">
            <a:off x="1143000" y="2857500"/>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75" b="1">
                <a:solidFill>
                  <a:srgbClr val="D5663F"/>
                </a:solidFill>
                <a:latin typeface="Liberation Sans"/>
                <a:ea typeface="Liberation Sans"/>
                <a:cs typeface="Liberation Sans"/>
              </a:defRPr>
            </a:defPPr>
            <a:lvl1pPr>
              <a:defRPr sz="4875" b="1">
                <a:solidFill>
                  <a:srgbClr val="D5663F"/>
                </a:solidFill>
                <a:latin typeface="Liberation Sans"/>
                <a:ea typeface="Liberation Sans"/>
                <a:cs typeface="Liberation Sans"/>
              </a:defRPr>
            </a:lvl1pPr>
            <a:lvl2pPr>
              <a:defRPr sz="4875" b="1">
                <a:solidFill>
                  <a:srgbClr val="D5663F"/>
                </a:solidFill>
                <a:latin typeface="Liberation Sans"/>
                <a:ea typeface="Liberation Sans"/>
                <a:cs typeface="Liberation Sans"/>
              </a:defRPr>
            </a:lvl2pPr>
            <a:lvl3pPr>
              <a:defRPr sz="4875" b="1">
                <a:solidFill>
                  <a:srgbClr val="D5663F"/>
                </a:solidFill>
                <a:latin typeface="Liberation Sans"/>
                <a:ea typeface="Liberation Sans"/>
                <a:cs typeface="Liberation Sans"/>
              </a:defRPr>
            </a:lvl3pPr>
            <a:lvl4pPr>
              <a:defRPr sz="4875" b="1">
                <a:solidFill>
                  <a:srgbClr val="D5663F"/>
                </a:solidFill>
                <a:latin typeface="Liberation Sans"/>
                <a:ea typeface="Liberation Sans"/>
                <a:cs typeface="Liberation Sans"/>
              </a:defRPr>
            </a:lvl4pPr>
            <a:lvl5pPr>
              <a:defRPr sz="4875" b="1">
                <a:solidFill>
                  <a:srgbClr val="D5663F"/>
                </a:solidFill>
                <a:latin typeface="Liberation Sans"/>
                <a:ea typeface="Liberation Sans"/>
                <a:cs typeface="Liberation Sans"/>
              </a:defRPr>
            </a:lvl5pPr>
            <a:lvl6pPr>
              <a:defRPr sz="4875" b="1">
                <a:solidFill>
                  <a:srgbClr val="D5663F"/>
                </a:solidFill>
                <a:latin typeface="Liberation Sans"/>
                <a:ea typeface="Liberation Sans"/>
                <a:cs typeface="Liberation Sans"/>
              </a:defRPr>
            </a:lvl6pPr>
            <a:lvl7pPr>
              <a:defRPr sz="4875" b="1">
                <a:solidFill>
                  <a:srgbClr val="D5663F"/>
                </a:solidFill>
                <a:latin typeface="Liberation Sans"/>
                <a:ea typeface="Liberation Sans"/>
                <a:cs typeface="Liberation Sans"/>
              </a:defRPr>
            </a:lvl7pPr>
            <a:lvl8pPr>
              <a:defRPr sz="4875" b="1">
                <a:solidFill>
                  <a:srgbClr val="D5663F"/>
                </a:solidFill>
                <a:latin typeface="Liberation Sans"/>
                <a:ea typeface="Liberation Sans"/>
                <a:cs typeface="Liberation Sans"/>
              </a:defRPr>
            </a:lvl8pPr>
            <a:lvl9pPr>
              <a:defRPr sz="4875" b="1">
                <a:solidFill>
                  <a:srgbClr val="D5663F"/>
                </a:solidFill>
                <a:latin typeface="Liberation Sans"/>
                <a:ea typeface="Liberation Sans"/>
                <a:cs typeface="Liberation Sans"/>
              </a:defRPr>
            </a:lvl9pPr>
          </a:lstStyle>
          <a:p xmlns:a="http://schemas.openxmlformats.org/drawingml/2006/main">
            <a:pPr>
              <a:defRPr sz="4875" b="1">
                <a:solidFill>
                  <a:srgbClr val="D5663F"/>
                </a:solidFill>
                <a:latin typeface="Liberation Sans"/>
                <a:ea typeface="Liberation Sans"/>
                <a:cs typeface="Liberation Sans"/>
              </a:defRPr>
            </a:pPr>
            <a:r>
              <a:rPr sz="4875" b="1">
                <a:solidFill>
                  <a:srgbClr val="D5663F"/>
                </a:solidFill>
                <a:latin typeface="Liberation Sans"/>
                <a:ea typeface="Liberation Sans"/>
                <a:cs typeface="Liberation Sans"/>
              </a:rPr>
              <a:t>+</a:t>
            </a:r>
          </a:p>
        </p:txBody>
      </p:sp>
      <p:sp>
        <p:nvSpPr>
          <p:cNvPr id="7" name="">
            <a:extLst xmlns:a="http://schemas.openxmlformats.org/drawingml/2006/main">
              <a:ext uri="{FF2B5EF4-FFF2-40B4-BE49-F238E27FC236}">
                <a16:creationId xmlns:a16="http://schemas.microsoft.com/office/drawing/2014/main" id="{E34070EB-816B-4AA6-B81B-14E3A74B72CB}"/>
              </a:ext>
            </a:extLst>
          </p:cNvPr>
          <p:cNvSpPr>
            <a:spLocks xmlns:a="http://schemas.openxmlformats.org/drawingml/2006/main" noGrp="1"/>
          </p:cNvSpPr>
          <p:nvPr/>
        </p:nvSpPr>
        <p:spPr>
          <a:xfrm xmlns:a="http://schemas.openxmlformats.org/drawingml/2006/main">
            <a:off x="1143000" y="3810000"/>
            <a:ext cx="1028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72C42"/>
                </a:solidFill>
                <a:latin typeface="Liberation Sans"/>
                <a:ea typeface="Liberation Sans"/>
                <a:cs typeface="Liberation Sans"/>
              </a:defRPr>
            </a:defPPr>
            <a:lvl1pPr>
              <a:defRPr sz="3900" b="1">
                <a:solidFill>
                  <a:srgbClr val="172C42"/>
                </a:solidFill>
                <a:latin typeface="Liberation Sans"/>
                <a:ea typeface="Liberation Sans"/>
                <a:cs typeface="Liberation Sans"/>
              </a:defRPr>
            </a:lvl1pPr>
            <a:lvl2pPr>
              <a:defRPr sz="3900" b="1">
                <a:solidFill>
                  <a:srgbClr val="172C42"/>
                </a:solidFill>
                <a:latin typeface="Liberation Sans"/>
                <a:ea typeface="Liberation Sans"/>
                <a:cs typeface="Liberation Sans"/>
              </a:defRPr>
            </a:lvl2pPr>
            <a:lvl3pPr>
              <a:defRPr sz="3900" b="1">
                <a:solidFill>
                  <a:srgbClr val="172C42"/>
                </a:solidFill>
                <a:latin typeface="Liberation Sans"/>
                <a:ea typeface="Liberation Sans"/>
                <a:cs typeface="Liberation Sans"/>
              </a:defRPr>
            </a:lvl3pPr>
            <a:lvl4pPr>
              <a:defRPr sz="3900" b="1">
                <a:solidFill>
                  <a:srgbClr val="172C42"/>
                </a:solidFill>
                <a:latin typeface="Liberation Sans"/>
                <a:ea typeface="Liberation Sans"/>
                <a:cs typeface="Liberation Sans"/>
              </a:defRPr>
            </a:lvl4pPr>
            <a:lvl5pPr>
              <a:defRPr sz="3900" b="1">
                <a:solidFill>
                  <a:srgbClr val="172C42"/>
                </a:solidFill>
                <a:latin typeface="Liberation Sans"/>
                <a:ea typeface="Liberation Sans"/>
                <a:cs typeface="Liberation Sans"/>
              </a:defRPr>
            </a:lvl5pPr>
            <a:lvl6pPr>
              <a:defRPr sz="3900" b="1">
                <a:solidFill>
                  <a:srgbClr val="172C42"/>
                </a:solidFill>
                <a:latin typeface="Liberation Sans"/>
                <a:ea typeface="Liberation Sans"/>
                <a:cs typeface="Liberation Sans"/>
              </a:defRPr>
            </a:lvl6pPr>
            <a:lvl7pPr>
              <a:defRPr sz="3900" b="1">
                <a:solidFill>
                  <a:srgbClr val="172C42"/>
                </a:solidFill>
                <a:latin typeface="Liberation Sans"/>
                <a:ea typeface="Liberation Sans"/>
                <a:cs typeface="Liberation Sans"/>
              </a:defRPr>
            </a:lvl7pPr>
            <a:lvl8pPr>
              <a:defRPr sz="3900" b="1">
                <a:solidFill>
                  <a:srgbClr val="172C42"/>
                </a:solidFill>
                <a:latin typeface="Liberation Sans"/>
                <a:ea typeface="Liberation Sans"/>
                <a:cs typeface="Liberation Sans"/>
              </a:defRPr>
            </a:lvl8pPr>
            <a:lvl9pPr>
              <a:defRPr sz="3900" b="1">
                <a:solidFill>
                  <a:srgbClr val="172C42"/>
                </a:solidFill>
                <a:latin typeface="Liberation Sans"/>
                <a:ea typeface="Liberation Sans"/>
                <a:cs typeface="Liberation Sans"/>
              </a:defRPr>
            </a:lvl9pPr>
          </a:lstStyle>
          <a:p xmlns:a="http://schemas.openxmlformats.org/drawingml/2006/main">
            <a:pPr>
              <a:defRPr sz="3900" b="1">
                <a:solidFill>
                  <a:srgbClr val="172C42"/>
                </a:solidFill>
                <a:latin typeface="Liberation Sans"/>
                <a:ea typeface="Liberation Sans"/>
                <a:cs typeface="Liberation Sans"/>
              </a:defRPr>
            </a:pPr>
            <a:r>
              <a:rPr sz="3900" b="1">
                <a:solidFill>
                  <a:srgbClr val="172C42"/>
                </a:solidFill>
                <a:latin typeface="Liberation Sans"/>
                <a:ea typeface="Liberation Sans"/>
                <a:cs typeface="Liberation Sans"/>
              </a:rPr>
              <a:t>10% geographic neighborhood</a:t>
            </a:r>
          </a:p>
        </p:txBody>
      </p:sp>
      <p:sp>
        <p:nvSpPr>
          <p:cNvPr id="8" name="">
            <a:extLst xmlns:a="http://schemas.openxmlformats.org/drawingml/2006/main">
              <a:ext uri="{FF2B5EF4-FFF2-40B4-BE49-F238E27FC236}">
                <a16:creationId xmlns:a16="http://schemas.microsoft.com/office/drawing/2014/main" id="{03C9396C-0C80-4EAA-AAD3-D90F9470CE2E}"/>
              </a:ext>
            </a:extLst>
          </p:cNvPr>
          <p:cNvSpPr>
            <a:spLocks xmlns:a="http://schemas.openxmlformats.org/drawingml/2006/main" noGrp="1"/>
          </p:cNvSpPr>
          <p:nvPr/>
        </p:nvSpPr>
        <p:spPr>
          <a:xfrm xmlns:a="http://schemas.openxmlformats.org/drawingml/2006/main">
            <a:off x="1143000" y="50482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26A70"/>
                </a:solidFill>
                <a:latin typeface="Liberation Sans"/>
                <a:ea typeface="Liberation Sans"/>
                <a:cs typeface="Liberation Sans"/>
              </a:defRPr>
            </a:defPPr>
            <a:lvl1pPr>
              <a:defRPr sz="2025" b="0">
                <a:solidFill>
                  <a:srgbClr val="626A70"/>
                </a:solidFill>
                <a:latin typeface="Liberation Sans"/>
                <a:ea typeface="Liberation Sans"/>
                <a:cs typeface="Liberation Sans"/>
              </a:defRPr>
            </a:lvl1pPr>
            <a:lvl2pPr>
              <a:defRPr sz="2025" b="0">
                <a:solidFill>
                  <a:srgbClr val="626A70"/>
                </a:solidFill>
                <a:latin typeface="Liberation Sans"/>
                <a:ea typeface="Liberation Sans"/>
                <a:cs typeface="Liberation Sans"/>
              </a:defRPr>
            </a:lvl2pPr>
            <a:lvl3pPr>
              <a:defRPr sz="2025" b="0">
                <a:solidFill>
                  <a:srgbClr val="626A70"/>
                </a:solidFill>
                <a:latin typeface="Liberation Sans"/>
                <a:ea typeface="Liberation Sans"/>
                <a:cs typeface="Liberation Sans"/>
              </a:defRPr>
            </a:lvl3pPr>
            <a:lvl4pPr>
              <a:defRPr sz="2025" b="0">
                <a:solidFill>
                  <a:srgbClr val="626A70"/>
                </a:solidFill>
                <a:latin typeface="Liberation Sans"/>
                <a:ea typeface="Liberation Sans"/>
                <a:cs typeface="Liberation Sans"/>
              </a:defRPr>
            </a:lvl4pPr>
            <a:lvl5pPr>
              <a:defRPr sz="2025" b="0">
                <a:solidFill>
                  <a:srgbClr val="626A70"/>
                </a:solidFill>
                <a:latin typeface="Liberation Sans"/>
                <a:ea typeface="Liberation Sans"/>
                <a:cs typeface="Liberation Sans"/>
              </a:defRPr>
            </a:lvl5pPr>
            <a:lvl6pPr>
              <a:defRPr sz="2025" b="0">
                <a:solidFill>
                  <a:srgbClr val="626A70"/>
                </a:solidFill>
                <a:latin typeface="Liberation Sans"/>
                <a:ea typeface="Liberation Sans"/>
                <a:cs typeface="Liberation Sans"/>
              </a:defRPr>
            </a:lvl6pPr>
            <a:lvl7pPr>
              <a:defRPr sz="2025" b="0">
                <a:solidFill>
                  <a:srgbClr val="626A70"/>
                </a:solidFill>
                <a:latin typeface="Liberation Sans"/>
                <a:ea typeface="Liberation Sans"/>
                <a:cs typeface="Liberation Sans"/>
              </a:defRPr>
            </a:lvl7pPr>
            <a:lvl8pPr>
              <a:defRPr sz="2025" b="0">
                <a:solidFill>
                  <a:srgbClr val="626A70"/>
                </a:solidFill>
                <a:latin typeface="Liberation Sans"/>
                <a:ea typeface="Liberation Sans"/>
                <a:cs typeface="Liberation Sans"/>
              </a:defRPr>
            </a:lvl8pPr>
            <a:lvl9pPr>
              <a:defRPr sz="2025" b="0">
                <a:solidFill>
                  <a:srgbClr val="626A70"/>
                </a:solidFill>
                <a:latin typeface="Liberation Sans"/>
                <a:ea typeface="Liberation Sans"/>
                <a:cs typeface="Liberation Sans"/>
              </a:defRPr>
            </a:lvl9pPr>
          </a:lstStyle>
          <a:p xmlns:a="http://schemas.openxmlformats.org/drawingml/2006/main">
            <a:pPr>
              <a:defRPr sz="2025" b="0">
                <a:solidFill>
                  <a:srgbClr val="626A70"/>
                </a:solidFill>
                <a:latin typeface="Liberation Sans"/>
                <a:ea typeface="Liberation Sans"/>
                <a:cs typeface="Liberation Sans"/>
              </a:defRPr>
            </a:pPr>
            <a:r>
              <a:rPr sz="2025" b="0">
                <a:solidFill>
                  <a:srgbClr val="626A70"/>
                </a:solidFill>
                <a:latin typeface="Liberation Sans"/>
                <a:ea typeface="Liberation Sans"/>
                <a:cs typeface="Liberation Sans"/>
              </a:rPr>
              <a:t>q = 0.9 one_hot + 0.1 softmax(-distance / 15 km)</a:t>
            </a:r>
          </a:p>
        </p:txBody>
      </p:sp>
    </p:spTree>
    <p:extLst>
      <p:ext uri="{BB962C8B-B14F-4D97-AF65-F5344CB8AC3E}">
        <p14:creationId xmlns:p14="http://schemas.microsoft.com/office/powerpoint/2010/main" val="995384492"/>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C5E7167-C8CB-419E-8714-84B37A150FA9}"/>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2C42"/>
                </a:solidFill>
                <a:latin typeface="Liberation Sans"/>
                <a:ea typeface="Liberation Sans"/>
                <a:cs typeface="Liberation Sans"/>
              </a:defRPr>
            </a:defPPr>
            <a:lvl1pPr>
              <a:defRPr sz="3600" b="1">
                <a:solidFill>
                  <a:srgbClr val="172C42"/>
                </a:solidFill>
                <a:latin typeface="Liberation Sans"/>
                <a:ea typeface="Liberation Sans"/>
                <a:cs typeface="Liberation Sans"/>
              </a:defRPr>
            </a:lvl1pPr>
            <a:lvl2pPr>
              <a:defRPr sz="3600" b="1">
                <a:solidFill>
                  <a:srgbClr val="172C42"/>
                </a:solidFill>
                <a:latin typeface="Liberation Sans"/>
                <a:ea typeface="Liberation Sans"/>
                <a:cs typeface="Liberation Sans"/>
              </a:defRPr>
            </a:lvl2pPr>
            <a:lvl3pPr>
              <a:defRPr sz="3600" b="1">
                <a:solidFill>
                  <a:srgbClr val="172C42"/>
                </a:solidFill>
                <a:latin typeface="Liberation Sans"/>
                <a:ea typeface="Liberation Sans"/>
                <a:cs typeface="Liberation Sans"/>
              </a:defRPr>
            </a:lvl3pPr>
            <a:lvl4pPr>
              <a:defRPr sz="3600" b="1">
                <a:solidFill>
                  <a:srgbClr val="172C42"/>
                </a:solidFill>
                <a:latin typeface="Liberation Sans"/>
                <a:ea typeface="Liberation Sans"/>
                <a:cs typeface="Liberation Sans"/>
              </a:defRPr>
            </a:lvl4pPr>
            <a:lvl5pPr>
              <a:defRPr sz="3600" b="1">
                <a:solidFill>
                  <a:srgbClr val="172C42"/>
                </a:solidFill>
                <a:latin typeface="Liberation Sans"/>
                <a:ea typeface="Liberation Sans"/>
                <a:cs typeface="Liberation Sans"/>
              </a:defRPr>
            </a:lvl5pPr>
            <a:lvl6pPr>
              <a:defRPr sz="3600" b="1">
                <a:solidFill>
                  <a:srgbClr val="172C42"/>
                </a:solidFill>
                <a:latin typeface="Liberation Sans"/>
                <a:ea typeface="Liberation Sans"/>
                <a:cs typeface="Liberation Sans"/>
              </a:defRPr>
            </a:lvl6pPr>
            <a:lvl7pPr>
              <a:defRPr sz="3600" b="1">
                <a:solidFill>
                  <a:srgbClr val="172C42"/>
                </a:solidFill>
                <a:latin typeface="Liberation Sans"/>
                <a:ea typeface="Liberation Sans"/>
                <a:cs typeface="Liberation Sans"/>
              </a:defRPr>
            </a:lvl7pPr>
            <a:lvl8pPr>
              <a:defRPr sz="3600" b="1">
                <a:solidFill>
                  <a:srgbClr val="172C42"/>
                </a:solidFill>
                <a:latin typeface="Liberation Sans"/>
                <a:ea typeface="Liberation Sans"/>
                <a:cs typeface="Liberation Sans"/>
              </a:defRPr>
            </a:lvl8pPr>
            <a:lvl9pPr>
              <a:defRPr sz="3600" b="1">
                <a:solidFill>
                  <a:srgbClr val="172C42"/>
                </a:solidFill>
                <a:latin typeface="Liberation Sans"/>
                <a:ea typeface="Liberation Sans"/>
                <a:cs typeface="Liberation Sans"/>
              </a:defRPr>
            </a:lvl9pPr>
          </a:lstStyle>
          <a:p xmlns:a="http://schemas.openxmlformats.org/drawingml/2006/main">
            <a:pPr>
              <a:defRPr sz="3600" b="1">
                <a:solidFill>
                  <a:srgbClr val="172C42"/>
                </a:solidFill>
                <a:latin typeface="Liberation Sans"/>
                <a:ea typeface="Liberation Sans"/>
                <a:cs typeface="Liberation Sans"/>
              </a:defRPr>
            </a:pPr>
            <a:r>
              <a:rPr sz="3600" b="1">
                <a:solidFill>
                  <a:srgbClr val="172C42"/>
                </a:solidFill>
                <a:latin typeface="Liberation Sans"/>
                <a:ea typeface="Liberation Sans"/>
                <a:cs typeface="Liberation Sans"/>
              </a:rPr>
              <a:t>L6 selection uses validation</a:t>
            </a:r>
          </a:p>
        </p:txBody>
      </p:sp>
      <p:sp>
        <p:nvSpPr>
          <p:cNvPr id="2" name="">
            <a:extLst xmlns:a="http://schemas.openxmlformats.org/drawingml/2006/main">
              <a:ext uri="{FF2B5EF4-FFF2-40B4-BE49-F238E27FC236}">
                <a16:creationId xmlns:a16="http://schemas.microsoft.com/office/drawing/2014/main" id="{67456B8C-AB2A-43A1-9FB4-833F4DB73643}"/>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D8D0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97FA772-B36A-4D43-8921-6AD90100E9E5}"/>
              </a:ext>
            </a:extLst>
          </p:cNvPr>
          <p:cNvSpPr>
            <a:spLocks xmlns:a="http://schemas.openxmlformats.org/drawingml/2006/main" noGrp="1"/>
          </p:cNvSpPr>
          <p:nvPr/>
        </p:nvSpPr>
        <p:spPr>
          <a:xfrm xmlns:a="http://schemas.openxmlformats.org/drawingml/2006/main">
            <a:off x="60960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Source: protocol.json and selection_before_test.json</a:t>
            </a:r>
          </a:p>
        </p:txBody>
      </p:sp>
      <p:sp>
        <p:nvSpPr>
          <p:cNvPr id="4" name="">
            <a:extLst xmlns:a="http://schemas.openxmlformats.org/drawingml/2006/main">
              <a:ext uri="{FF2B5EF4-FFF2-40B4-BE49-F238E27FC236}">
                <a16:creationId xmlns:a16="http://schemas.microsoft.com/office/drawing/2014/main" id="{45F57212-C59A-43DF-AC6E-4B99FFCAD4FF}"/>
              </a:ext>
            </a:extLst>
          </p:cNvPr>
          <p:cNvSpPr>
            <a:spLocks xmlns:a="http://schemas.openxmlformats.org/drawingml/2006/main" noGrp="1"/>
          </p:cNvSpPr>
          <p:nvPr/>
        </p:nvSpPr>
        <p:spPr>
          <a:xfrm xmlns:a="http://schemas.openxmlformats.org/drawingml/2006/main">
            <a:off x="11191875"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6</a:t>
            </a:r>
          </a:p>
        </p:txBody>
      </p:sp>
      <p:sp>
        <p:nvSpPr>
          <p:cNvPr id="5" name="">
            <a:extLst xmlns:a="http://schemas.openxmlformats.org/drawingml/2006/main">
              <a:ext uri="{FF2B5EF4-FFF2-40B4-BE49-F238E27FC236}">
                <a16:creationId xmlns:a16="http://schemas.microsoft.com/office/drawing/2014/main" id="{23BD3466-DA57-4752-8B3E-E88D61478B66}"/>
              </a:ext>
            </a:extLst>
          </p:cNvPr>
          <p:cNvSpPr>
            <a:spLocks xmlns:a="http://schemas.openxmlformats.org/drawingml/2006/main" noGrp="1"/>
          </p:cNvSpPr>
          <p:nvPr/>
        </p:nvSpPr>
        <p:spPr>
          <a:xfrm xmlns:a="http://schemas.openxmlformats.org/drawingml/2006/main">
            <a:off x="609600" y="2428875"/>
            <a:ext cx="2095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172C42"/>
                </a:solidFill>
                <a:latin typeface="Liberation Sans"/>
                <a:ea typeface="Liberation Sans"/>
                <a:cs typeface="Liberation Sans"/>
              </a:defRPr>
            </a:defPPr>
            <a:lvl1pPr>
              <a:defRPr sz="2775" b="1">
                <a:solidFill>
                  <a:srgbClr val="172C42"/>
                </a:solidFill>
                <a:latin typeface="Liberation Sans"/>
                <a:ea typeface="Liberation Sans"/>
                <a:cs typeface="Liberation Sans"/>
              </a:defRPr>
            </a:lvl1pPr>
            <a:lvl2pPr>
              <a:defRPr sz="2775" b="1">
                <a:solidFill>
                  <a:srgbClr val="172C42"/>
                </a:solidFill>
                <a:latin typeface="Liberation Sans"/>
                <a:ea typeface="Liberation Sans"/>
                <a:cs typeface="Liberation Sans"/>
              </a:defRPr>
            </a:lvl2pPr>
            <a:lvl3pPr>
              <a:defRPr sz="2775" b="1">
                <a:solidFill>
                  <a:srgbClr val="172C42"/>
                </a:solidFill>
                <a:latin typeface="Liberation Sans"/>
                <a:ea typeface="Liberation Sans"/>
                <a:cs typeface="Liberation Sans"/>
              </a:defRPr>
            </a:lvl3pPr>
            <a:lvl4pPr>
              <a:defRPr sz="2775" b="1">
                <a:solidFill>
                  <a:srgbClr val="172C42"/>
                </a:solidFill>
                <a:latin typeface="Liberation Sans"/>
                <a:ea typeface="Liberation Sans"/>
                <a:cs typeface="Liberation Sans"/>
              </a:defRPr>
            </a:lvl4pPr>
            <a:lvl5pPr>
              <a:defRPr sz="2775" b="1">
                <a:solidFill>
                  <a:srgbClr val="172C42"/>
                </a:solidFill>
                <a:latin typeface="Liberation Sans"/>
                <a:ea typeface="Liberation Sans"/>
                <a:cs typeface="Liberation Sans"/>
              </a:defRPr>
            </a:lvl5pPr>
            <a:lvl6pPr>
              <a:defRPr sz="2775" b="1">
                <a:solidFill>
                  <a:srgbClr val="172C42"/>
                </a:solidFill>
                <a:latin typeface="Liberation Sans"/>
                <a:ea typeface="Liberation Sans"/>
                <a:cs typeface="Liberation Sans"/>
              </a:defRPr>
            </a:lvl6pPr>
            <a:lvl7pPr>
              <a:defRPr sz="2775" b="1">
                <a:solidFill>
                  <a:srgbClr val="172C42"/>
                </a:solidFill>
                <a:latin typeface="Liberation Sans"/>
                <a:ea typeface="Liberation Sans"/>
                <a:cs typeface="Liberation Sans"/>
              </a:defRPr>
            </a:lvl7pPr>
            <a:lvl8pPr>
              <a:defRPr sz="2775" b="1">
                <a:solidFill>
                  <a:srgbClr val="172C42"/>
                </a:solidFill>
                <a:latin typeface="Liberation Sans"/>
                <a:ea typeface="Liberation Sans"/>
                <a:cs typeface="Liberation Sans"/>
              </a:defRPr>
            </a:lvl8pPr>
            <a:lvl9pPr>
              <a:defRPr sz="2775" b="1">
                <a:solidFill>
                  <a:srgbClr val="172C42"/>
                </a:solidFill>
                <a:latin typeface="Liberation Sans"/>
                <a:ea typeface="Liberation Sans"/>
                <a:cs typeface="Liberation Sans"/>
              </a:defRPr>
            </a:lvl9pPr>
          </a:lstStyle>
          <a:p xmlns:a="http://schemas.openxmlformats.org/drawingml/2006/main">
            <a:pPr>
              <a:defRPr sz="2775" b="1">
                <a:solidFill>
                  <a:srgbClr val="172C42"/>
                </a:solidFill>
                <a:latin typeface="Liberation Sans"/>
                <a:ea typeface="Liberation Sans"/>
                <a:cs typeface="Liberation Sans"/>
              </a:defRPr>
            </a:pPr>
            <a:r>
              <a:rPr sz="2775" b="1">
                <a:solidFill>
                  <a:srgbClr val="172C42"/>
                </a:solidFill>
                <a:latin typeface="Liberation Sans"/>
                <a:ea typeface="Liberation Sans"/>
                <a:cs typeface="Liberation Sans"/>
              </a:rPr>
              <a:t>Fixed</a:t>
            </a:r>
          </a:p>
          <a:p xmlns:a="http://schemas.openxmlformats.org/drawingml/2006/main">
            <a:pPr>
              <a:defRPr sz="2775" b="1">
                <a:solidFill>
                  <a:srgbClr val="172C42"/>
                </a:solidFill>
                <a:latin typeface="Liberation Sans"/>
                <a:ea typeface="Liberation Sans"/>
                <a:cs typeface="Liberation Sans"/>
              </a:defRPr>
            </a:pPr>
            <a:r>
              <a:rPr sz="2775" b="1">
                <a:solidFill>
                  <a:srgbClr val="172C42"/>
                </a:solidFill>
                <a:latin typeface="Liberation Sans"/>
                <a:ea typeface="Liberation Sans"/>
                <a:cs typeface="Liberation Sans"/>
              </a:rPr>
              <a:t>backbone</a:t>
            </a:r>
          </a:p>
        </p:txBody>
      </p:sp>
      <p:sp>
        <p:nvSpPr>
          <p:cNvPr id="6" name="">
            <a:extLst xmlns:a="http://schemas.openxmlformats.org/drawingml/2006/main">
              <a:ext uri="{FF2B5EF4-FFF2-40B4-BE49-F238E27FC236}">
                <a16:creationId xmlns:a16="http://schemas.microsoft.com/office/drawing/2014/main" id="{156DCE84-B62B-4772-A8FF-E469E0FE1993}"/>
              </a:ext>
            </a:extLst>
          </p:cNvPr>
          <p:cNvSpPr>
            <a:spLocks xmlns:a="http://schemas.openxmlformats.org/drawingml/2006/main" noGrp="1"/>
          </p:cNvSpPr>
          <p:nvPr/>
        </p:nvSpPr>
        <p:spPr>
          <a:xfrm xmlns:a="http://schemas.openxmlformats.org/drawingml/2006/main">
            <a:off x="609600" y="3857625"/>
            <a:ext cx="2095500" cy="9525"/>
          </a:xfrm>
          <a:prstGeom xmlns:a="http://schemas.openxmlformats.org/drawingml/2006/main" prst="rect">
            <a:avLst/>
          </a:prstGeom>
          <a:solidFill xmlns:a="http://schemas.openxmlformats.org/drawingml/2006/main">
            <a:srgbClr val="D5663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E85901E-1C6B-4674-B162-0A5902D664A3}"/>
              </a:ext>
            </a:extLst>
          </p:cNvPr>
          <p:cNvSpPr>
            <a:spLocks xmlns:a="http://schemas.openxmlformats.org/drawingml/2006/main" noGrp="1"/>
          </p:cNvSpPr>
          <p:nvPr/>
        </p:nvSpPr>
        <p:spPr>
          <a:xfrm xmlns:a="http://schemas.openxmlformats.org/drawingml/2006/main">
            <a:off x="2828925" y="2905125"/>
            <a:ext cx="438150" cy="238125"/>
          </a:xfrm>
          <a:prstGeom xmlns:a="http://schemas.openxmlformats.org/drawingml/2006/main" prst="rightArrow">
            <a:avLst/>
          </a:prstGeom>
          <a:solidFill xmlns:a="http://schemas.openxmlformats.org/drawingml/2006/main">
            <a:srgbClr val="D5663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DC028ED-ED63-4D7E-A6B7-3CB67642BD6E}"/>
              </a:ext>
            </a:extLst>
          </p:cNvPr>
          <p:cNvSpPr>
            <a:spLocks xmlns:a="http://schemas.openxmlformats.org/drawingml/2006/main" noGrp="1"/>
          </p:cNvSpPr>
          <p:nvPr/>
        </p:nvSpPr>
        <p:spPr>
          <a:xfrm xmlns:a="http://schemas.openxmlformats.org/drawingml/2006/main">
            <a:off x="3429000" y="2428875"/>
            <a:ext cx="2095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172C42"/>
                </a:solidFill>
                <a:latin typeface="Liberation Sans"/>
                <a:ea typeface="Liberation Sans"/>
                <a:cs typeface="Liberation Sans"/>
              </a:defRPr>
            </a:defPPr>
            <a:lvl1pPr>
              <a:defRPr sz="2775" b="1">
                <a:solidFill>
                  <a:srgbClr val="172C42"/>
                </a:solidFill>
                <a:latin typeface="Liberation Sans"/>
                <a:ea typeface="Liberation Sans"/>
                <a:cs typeface="Liberation Sans"/>
              </a:defRPr>
            </a:lvl1pPr>
            <a:lvl2pPr>
              <a:defRPr sz="2775" b="1">
                <a:solidFill>
                  <a:srgbClr val="172C42"/>
                </a:solidFill>
                <a:latin typeface="Liberation Sans"/>
                <a:ea typeface="Liberation Sans"/>
                <a:cs typeface="Liberation Sans"/>
              </a:defRPr>
            </a:lvl2pPr>
            <a:lvl3pPr>
              <a:defRPr sz="2775" b="1">
                <a:solidFill>
                  <a:srgbClr val="172C42"/>
                </a:solidFill>
                <a:latin typeface="Liberation Sans"/>
                <a:ea typeface="Liberation Sans"/>
                <a:cs typeface="Liberation Sans"/>
              </a:defRPr>
            </a:lvl3pPr>
            <a:lvl4pPr>
              <a:defRPr sz="2775" b="1">
                <a:solidFill>
                  <a:srgbClr val="172C42"/>
                </a:solidFill>
                <a:latin typeface="Liberation Sans"/>
                <a:ea typeface="Liberation Sans"/>
                <a:cs typeface="Liberation Sans"/>
              </a:defRPr>
            </a:lvl4pPr>
            <a:lvl5pPr>
              <a:defRPr sz="2775" b="1">
                <a:solidFill>
                  <a:srgbClr val="172C42"/>
                </a:solidFill>
                <a:latin typeface="Liberation Sans"/>
                <a:ea typeface="Liberation Sans"/>
                <a:cs typeface="Liberation Sans"/>
              </a:defRPr>
            </a:lvl5pPr>
            <a:lvl6pPr>
              <a:defRPr sz="2775" b="1">
                <a:solidFill>
                  <a:srgbClr val="172C42"/>
                </a:solidFill>
                <a:latin typeface="Liberation Sans"/>
                <a:ea typeface="Liberation Sans"/>
                <a:cs typeface="Liberation Sans"/>
              </a:defRPr>
            </a:lvl6pPr>
            <a:lvl7pPr>
              <a:defRPr sz="2775" b="1">
                <a:solidFill>
                  <a:srgbClr val="172C42"/>
                </a:solidFill>
                <a:latin typeface="Liberation Sans"/>
                <a:ea typeface="Liberation Sans"/>
                <a:cs typeface="Liberation Sans"/>
              </a:defRPr>
            </a:lvl7pPr>
            <a:lvl8pPr>
              <a:defRPr sz="2775" b="1">
                <a:solidFill>
                  <a:srgbClr val="172C42"/>
                </a:solidFill>
                <a:latin typeface="Liberation Sans"/>
                <a:ea typeface="Liberation Sans"/>
                <a:cs typeface="Liberation Sans"/>
              </a:defRPr>
            </a:lvl8pPr>
            <a:lvl9pPr>
              <a:defRPr sz="2775" b="1">
                <a:solidFill>
                  <a:srgbClr val="172C42"/>
                </a:solidFill>
                <a:latin typeface="Liberation Sans"/>
                <a:ea typeface="Liberation Sans"/>
                <a:cs typeface="Liberation Sans"/>
              </a:defRPr>
            </a:lvl9pPr>
          </a:lstStyle>
          <a:p xmlns:a="http://schemas.openxmlformats.org/drawingml/2006/main">
            <a:pPr>
              <a:defRPr sz="2775" b="1">
                <a:solidFill>
                  <a:srgbClr val="172C42"/>
                </a:solidFill>
                <a:latin typeface="Liberation Sans"/>
                <a:ea typeface="Liberation Sans"/>
                <a:cs typeface="Liberation Sans"/>
              </a:defRPr>
            </a:pPr>
            <a:r>
              <a:rPr sz="2775" b="1">
                <a:solidFill>
                  <a:srgbClr val="172C42"/>
                </a:solidFill>
                <a:latin typeface="Liberation Sans"/>
                <a:ea typeface="Liberation Sans"/>
                <a:cs typeface="Liberation Sans"/>
              </a:rPr>
              <a:t>Two fixed</a:t>
            </a:r>
          </a:p>
          <a:p xmlns:a="http://schemas.openxmlformats.org/drawingml/2006/main">
            <a:pPr>
              <a:defRPr sz="2775" b="1">
                <a:solidFill>
                  <a:srgbClr val="172C42"/>
                </a:solidFill>
                <a:latin typeface="Liberation Sans"/>
                <a:ea typeface="Liberation Sans"/>
                <a:cs typeface="Liberation Sans"/>
              </a:defRPr>
            </a:pPr>
            <a:r>
              <a:rPr sz="2775" b="1">
                <a:solidFill>
                  <a:srgbClr val="172C42"/>
                </a:solidFill>
                <a:latin typeface="Liberation Sans"/>
                <a:ea typeface="Liberation Sans"/>
                <a:cs typeface="Liberation Sans"/>
              </a:rPr>
              <a:t>recipes</a:t>
            </a:r>
          </a:p>
        </p:txBody>
      </p:sp>
      <p:sp>
        <p:nvSpPr>
          <p:cNvPr id="9" name="">
            <a:extLst xmlns:a="http://schemas.openxmlformats.org/drawingml/2006/main">
              <a:ext uri="{FF2B5EF4-FFF2-40B4-BE49-F238E27FC236}">
                <a16:creationId xmlns:a16="http://schemas.microsoft.com/office/drawing/2014/main" id="{B6D4085F-2687-4F6A-8D86-96FE5974B02A}"/>
              </a:ext>
            </a:extLst>
          </p:cNvPr>
          <p:cNvSpPr>
            <a:spLocks xmlns:a="http://schemas.openxmlformats.org/drawingml/2006/main" noGrp="1"/>
          </p:cNvSpPr>
          <p:nvPr/>
        </p:nvSpPr>
        <p:spPr>
          <a:xfrm xmlns:a="http://schemas.openxmlformats.org/drawingml/2006/main">
            <a:off x="3429000" y="3857625"/>
            <a:ext cx="2095500" cy="9525"/>
          </a:xfrm>
          <a:prstGeom xmlns:a="http://schemas.openxmlformats.org/drawingml/2006/main" prst="rect">
            <a:avLst/>
          </a:prstGeom>
          <a:solidFill xmlns:a="http://schemas.openxmlformats.org/drawingml/2006/main">
            <a:srgbClr val="D5663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D48CD4E-6071-4934-87B8-73E695340C6D}"/>
              </a:ext>
            </a:extLst>
          </p:cNvPr>
          <p:cNvSpPr>
            <a:spLocks xmlns:a="http://schemas.openxmlformats.org/drawingml/2006/main" noGrp="1"/>
          </p:cNvSpPr>
          <p:nvPr/>
        </p:nvSpPr>
        <p:spPr>
          <a:xfrm xmlns:a="http://schemas.openxmlformats.org/drawingml/2006/main">
            <a:off x="5648325" y="2905125"/>
            <a:ext cx="438150" cy="238125"/>
          </a:xfrm>
          <a:prstGeom xmlns:a="http://schemas.openxmlformats.org/drawingml/2006/main" prst="rightArrow">
            <a:avLst/>
          </a:prstGeom>
          <a:solidFill xmlns:a="http://schemas.openxmlformats.org/drawingml/2006/main">
            <a:srgbClr val="D5663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FD65C27-A06B-484F-B27F-73D1E58ED547}"/>
              </a:ext>
            </a:extLst>
          </p:cNvPr>
          <p:cNvSpPr>
            <a:spLocks xmlns:a="http://schemas.openxmlformats.org/drawingml/2006/main" noGrp="1"/>
          </p:cNvSpPr>
          <p:nvPr/>
        </p:nvSpPr>
        <p:spPr>
          <a:xfrm xmlns:a="http://schemas.openxmlformats.org/drawingml/2006/main">
            <a:off x="6248400" y="2428875"/>
            <a:ext cx="2095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172C42"/>
                </a:solidFill>
                <a:latin typeface="Liberation Sans"/>
                <a:ea typeface="Liberation Sans"/>
                <a:cs typeface="Liberation Sans"/>
              </a:defRPr>
            </a:defPPr>
            <a:lvl1pPr>
              <a:defRPr sz="2775" b="1">
                <a:solidFill>
                  <a:srgbClr val="172C42"/>
                </a:solidFill>
                <a:latin typeface="Liberation Sans"/>
                <a:ea typeface="Liberation Sans"/>
                <a:cs typeface="Liberation Sans"/>
              </a:defRPr>
            </a:lvl1pPr>
            <a:lvl2pPr>
              <a:defRPr sz="2775" b="1">
                <a:solidFill>
                  <a:srgbClr val="172C42"/>
                </a:solidFill>
                <a:latin typeface="Liberation Sans"/>
                <a:ea typeface="Liberation Sans"/>
                <a:cs typeface="Liberation Sans"/>
              </a:defRPr>
            </a:lvl2pPr>
            <a:lvl3pPr>
              <a:defRPr sz="2775" b="1">
                <a:solidFill>
                  <a:srgbClr val="172C42"/>
                </a:solidFill>
                <a:latin typeface="Liberation Sans"/>
                <a:ea typeface="Liberation Sans"/>
                <a:cs typeface="Liberation Sans"/>
              </a:defRPr>
            </a:lvl3pPr>
            <a:lvl4pPr>
              <a:defRPr sz="2775" b="1">
                <a:solidFill>
                  <a:srgbClr val="172C42"/>
                </a:solidFill>
                <a:latin typeface="Liberation Sans"/>
                <a:ea typeface="Liberation Sans"/>
                <a:cs typeface="Liberation Sans"/>
              </a:defRPr>
            </a:lvl4pPr>
            <a:lvl5pPr>
              <a:defRPr sz="2775" b="1">
                <a:solidFill>
                  <a:srgbClr val="172C42"/>
                </a:solidFill>
                <a:latin typeface="Liberation Sans"/>
                <a:ea typeface="Liberation Sans"/>
                <a:cs typeface="Liberation Sans"/>
              </a:defRPr>
            </a:lvl5pPr>
            <a:lvl6pPr>
              <a:defRPr sz="2775" b="1">
                <a:solidFill>
                  <a:srgbClr val="172C42"/>
                </a:solidFill>
                <a:latin typeface="Liberation Sans"/>
                <a:ea typeface="Liberation Sans"/>
                <a:cs typeface="Liberation Sans"/>
              </a:defRPr>
            </a:lvl6pPr>
            <a:lvl7pPr>
              <a:defRPr sz="2775" b="1">
                <a:solidFill>
                  <a:srgbClr val="172C42"/>
                </a:solidFill>
                <a:latin typeface="Liberation Sans"/>
                <a:ea typeface="Liberation Sans"/>
                <a:cs typeface="Liberation Sans"/>
              </a:defRPr>
            </a:lvl7pPr>
            <a:lvl8pPr>
              <a:defRPr sz="2775" b="1">
                <a:solidFill>
                  <a:srgbClr val="172C42"/>
                </a:solidFill>
                <a:latin typeface="Liberation Sans"/>
                <a:ea typeface="Liberation Sans"/>
                <a:cs typeface="Liberation Sans"/>
              </a:defRPr>
            </a:lvl8pPr>
            <a:lvl9pPr>
              <a:defRPr sz="2775" b="1">
                <a:solidFill>
                  <a:srgbClr val="172C42"/>
                </a:solidFill>
                <a:latin typeface="Liberation Sans"/>
                <a:ea typeface="Liberation Sans"/>
                <a:cs typeface="Liberation Sans"/>
              </a:defRPr>
            </a:lvl9pPr>
          </a:lstStyle>
          <a:p xmlns:a="http://schemas.openxmlformats.org/drawingml/2006/main">
            <a:pPr>
              <a:defRPr sz="2775" b="1">
                <a:solidFill>
                  <a:srgbClr val="172C42"/>
                </a:solidFill>
                <a:latin typeface="Liberation Sans"/>
                <a:ea typeface="Liberation Sans"/>
                <a:cs typeface="Liberation Sans"/>
              </a:defRPr>
            </a:pPr>
            <a:r>
              <a:rPr sz="2775" b="1">
                <a:solidFill>
                  <a:srgbClr val="172C42"/>
                </a:solidFill>
                <a:latin typeface="Liberation Sans"/>
                <a:ea typeface="Liberation Sans"/>
                <a:cs typeface="Liberation Sans"/>
              </a:rPr>
              <a:t>Validation</a:t>
            </a:r>
          </a:p>
          <a:p xmlns:a="http://schemas.openxmlformats.org/drawingml/2006/main">
            <a:pPr>
              <a:defRPr sz="2775" b="1">
                <a:solidFill>
                  <a:srgbClr val="172C42"/>
                </a:solidFill>
                <a:latin typeface="Liberation Sans"/>
                <a:ea typeface="Liberation Sans"/>
                <a:cs typeface="Liberation Sans"/>
              </a:defRPr>
            </a:pPr>
            <a:r>
              <a:rPr sz="2775" b="1">
                <a:solidFill>
                  <a:srgbClr val="172C42"/>
                </a:solidFill>
                <a:latin typeface="Liberation Sans"/>
                <a:ea typeface="Liberation Sans"/>
                <a:cs typeface="Liberation Sans"/>
              </a:rPr>
              <a:t>selection</a:t>
            </a:r>
          </a:p>
        </p:txBody>
      </p:sp>
      <p:sp>
        <p:nvSpPr>
          <p:cNvPr id="12" name="">
            <a:extLst xmlns:a="http://schemas.openxmlformats.org/drawingml/2006/main">
              <a:ext uri="{FF2B5EF4-FFF2-40B4-BE49-F238E27FC236}">
                <a16:creationId xmlns:a16="http://schemas.microsoft.com/office/drawing/2014/main" id="{F40D6AD3-AD31-476C-AB27-1A1A0B1AD3EC}"/>
              </a:ext>
            </a:extLst>
          </p:cNvPr>
          <p:cNvSpPr>
            <a:spLocks xmlns:a="http://schemas.openxmlformats.org/drawingml/2006/main" noGrp="1"/>
          </p:cNvSpPr>
          <p:nvPr/>
        </p:nvSpPr>
        <p:spPr>
          <a:xfrm xmlns:a="http://schemas.openxmlformats.org/drawingml/2006/main">
            <a:off x="6248400" y="3857625"/>
            <a:ext cx="2095500" cy="9525"/>
          </a:xfrm>
          <a:prstGeom xmlns:a="http://schemas.openxmlformats.org/drawingml/2006/main" prst="rect">
            <a:avLst/>
          </a:prstGeom>
          <a:solidFill xmlns:a="http://schemas.openxmlformats.org/drawingml/2006/main">
            <a:srgbClr val="D5663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3361D8F-D175-4726-BD61-07BB64BDFAEC}"/>
              </a:ext>
            </a:extLst>
          </p:cNvPr>
          <p:cNvSpPr>
            <a:spLocks xmlns:a="http://schemas.openxmlformats.org/drawingml/2006/main" noGrp="1"/>
          </p:cNvSpPr>
          <p:nvPr/>
        </p:nvSpPr>
        <p:spPr>
          <a:xfrm xmlns:a="http://schemas.openxmlformats.org/drawingml/2006/main">
            <a:off x="8467725" y="2905125"/>
            <a:ext cx="438150" cy="238125"/>
          </a:xfrm>
          <a:prstGeom xmlns:a="http://schemas.openxmlformats.org/drawingml/2006/main" prst="rightArrow">
            <a:avLst/>
          </a:prstGeom>
          <a:solidFill xmlns:a="http://schemas.openxmlformats.org/drawingml/2006/main">
            <a:srgbClr val="D5663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4FEB25E-08C2-4DFC-A36D-FB148E3A8D0C}"/>
              </a:ext>
            </a:extLst>
          </p:cNvPr>
          <p:cNvSpPr>
            <a:spLocks xmlns:a="http://schemas.openxmlformats.org/drawingml/2006/main" noGrp="1"/>
          </p:cNvSpPr>
          <p:nvPr/>
        </p:nvSpPr>
        <p:spPr>
          <a:xfrm xmlns:a="http://schemas.openxmlformats.org/drawingml/2006/main">
            <a:off x="9067800" y="2428875"/>
            <a:ext cx="2095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172C42"/>
                </a:solidFill>
                <a:latin typeface="Liberation Sans"/>
                <a:ea typeface="Liberation Sans"/>
                <a:cs typeface="Liberation Sans"/>
              </a:defRPr>
            </a:defPPr>
            <a:lvl1pPr>
              <a:defRPr sz="2775" b="1">
                <a:solidFill>
                  <a:srgbClr val="172C42"/>
                </a:solidFill>
                <a:latin typeface="Liberation Sans"/>
                <a:ea typeface="Liberation Sans"/>
                <a:cs typeface="Liberation Sans"/>
              </a:defRPr>
            </a:lvl1pPr>
            <a:lvl2pPr>
              <a:defRPr sz="2775" b="1">
                <a:solidFill>
                  <a:srgbClr val="172C42"/>
                </a:solidFill>
                <a:latin typeface="Liberation Sans"/>
                <a:ea typeface="Liberation Sans"/>
                <a:cs typeface="Liberation Sans"/>
              </a:defRPr>
            </a:lvl2pPr>
            <a:lvl3pPr>
              <a:defRPr sz="2775" b="1">
                <a:solidFill>
                  <a:srgbClr val="172C42"/>
                </a:solidFill>
                <a:latin typeface="Liberation Sans"/>
                <a:ea typeface="Liberation Sans"/>
                <a:cs typeface="Liberation Sans"/>
              </a:defRPr>
            </a:lvl3pPr>
            <a:lvl4pPr>
              <a:defRPr sz="2775" b="1">
                <a:solidFill>
                  <a:srgbClr val="172C42"/>
                </a:solidFill>
                <a:latin typeface="Liberation Sans"/>
                <a:ea typeface="Liberation Sans"/>
                <a:cs typeface="Liberation Sans"/>
              </a:defRPr>
            </a:lvl4pPr>
            <a:lvl5pPr>
              <a:defRPr sz="2775" b="1">
                <a:solidFill>
                  <a:srgbClr val="172C42"/>
                </a:solidFill>
                <a:latin typeface="Liberation Sans"/>
                <a:ea typeface="Liberation Sans"/>
                <a:cs typeface="Liberation Sans"/>
              </a:defRPr>
            </a:lvl5pPr>
            <a:lvl6pPr>
              <a:defRPr sz="2775" b="1">
                <a:solidFill>
                  <a:srgbClr val="172C42"/>
                </a:solidFill>
                <a:latin typeface="Liberation Sans"/>
                <a:ea typeface="Liberation Sans"/>
                <a:cs typeface="Liberation Sans"/>
              </a:defRPr>
            </a:lvl6pPr>
            <a:lvl7pPr>
              <a:defRPr sz="2775" b="1">
                <a:solidFill>
                  <a:srgbClr val="172C42"/>
                </a:solidFill>
                <a:latin typeface="Liberation Sans"/>
                <a:ea typeface="Liberation Sans"/>
                <a:cs typeface="Liberation Sans"/>
              </a:defRPr>
            </a:lvl7pPr>
            <a:lvl8pPr>
              <a:defRPr sz="2775" b="1">
                <a:solidFill>
                  <a:srgbClr val="172C42"/>
                </a:solidFill>
                <a:latin typeface="Liberation Sans"/>
                <a:ea typeface="Liberation Sans"/>
                <a:cs typeface="Liberation Sans"/>
              </a:defRPr>
            </a:lvl8pPr>
            <a:lvl9pPr>
              <a:defRPr sz="2775" b="1">
                <a:solidFill>
                  <a:srgbClr val="172C42"/>
                </a:solidFill>
                <a:latin typeface="Liberation Sans"/>
                <a:ea typeface="Liberation Sans"/>
                <a:cs typeface="Liberation Sans"/>
              </a:defRPr>
            </a:lvl9pPr>
          </a:lstStyle>
          <a:p xmlns:a="http://schemas.openxmlformats.org/drawingml/2006/main">
            <a:pPr>
              <a:defRPr sz="2775" b="1">
                <a:solidFill>
                  <a:srgbClr val="172C42"/>
                </a:solidFill>
                <a:latin typeface="Liberation Sans"/>
                <a:ea typeface="Liberation Sans"/>
                <a:cs typeface="Liberation Sans"/>
              </a:defRPr>
            </a:pPr>
            <a:r>
              <a:rPr sz="2775" b="1">
                <a:solidFill>
                  <a:srgbClr val="172C42"/>
                </a:solidFill>
                <a:latin typeface="Liberation Sans"/>
                <a:ea typeface="Liberation Sans"/>
                <a:cs typeface="Liberation Sans"/>
              </a:rPr>
              <a:t>Test after</a:t>
            </a:r>
          </a:p>
          <a:p xmlns:a="http://schemas.openxmlformats.org/drawingml/2006/main">
            <a:pPr>
              <a:defRPr sz="2775" b="1">
                <a:solidFill>
                  <a:srgbClr val="172C42"/>
                </a:solidFill>
                <a:latin typeface="Liberation Sans"/>
                <a:ea typeface="Liberation Sans"/>
                <a:cs typeface="Liberation Sans"/>
              </a:defRPr>
            </a:pPr>
            <a:r>
              <a:rPr sz="2775" b="1">
                <a:solidFill>
                  <a:srgbClr val="172C42"/>
                </a:solidFill>
                <a:latin typeface="Liberation Sans"/>
                <a:ea typeface="Liberation Sans"/>
                <a:cs typeface="Liberation Sans"/>
              </a:rPr>
              <a:t>selection</a:t>
            </a:r>
          </a:p>
        </p:txBody>
      </p:sp>
      <p:sp>
        <p:nvSpPr>
          <p:cNvPr id="15" name="">
            <a:extLst xmlns:a="http://schemas.openxmlformats.org/drawingml/2006/main">
              <a:ext uri="{FF2B5EF4-FFF2-40B4-BE49-F238E27FC236}">
                <a16:creationId xmlns:a16="http://schemas.microsoft.com/office/drawing/2014/main" id="{A1A4F68A-9765-47DC-B3D9-4853A475D5C2}"/>
              </a:ext>
            </a:extLst>
          </p:cNvPr>
          <p:cNvSpPr>
            <a:spLocks xmlns:a="http://schemas.openxmlformats.org/drawingml/2006/main" noGrp="1"/>
          </p:cNvSpPr>
          <p:nvPr/>
        </p:nvSpPr>
        <p:spPr>
          <a:xfrm xmlns:a="http://schemas.openxmlformats.org/drawingml/2006/main">
            <a:off x="9067800" y="3857625"/>
            <a:ext cx="2095500" cy="9525"/>
          </a:xfrm>
          <a:prstGeom xmlns:a="http://schemas.openxmlformats.org/drawingml/2006/main" prst="rect">
            <a:avLst/>
          </a:prstGeom>
          <a:solidFill xmlns:a="http://schemas.openxmlformats.org/drawingml/2006/main">
            <a:srgbClr val="D5663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D980F73-AECD-47DA-9637-698F689A362D}"/>
              </a:ext>
            </a:extLst>
          </p:cNvPr>
          <p:cNvSpPr>
            <a:spLocks xmlns:a="http://schemas.openxmlformats.org/drawingml/2006/main" noGrp="1"/>
          </p:cNvSpPr>
          <p:nvPr/>
        </p:nvSpPr>
        <p:spPr>
          <a:xfrm xmlns:a="http://schemas.openxmlformats.org/drawingml/2006/main">
            <a:off x="609600" y="4857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72C42"/>
                </a:solidFill>
                <a:latin typeface="Liberation Sans"/>
                <a:ea typeface="Liberation Sans"/>
                <a:cs typeface="Liberation Sans"/>
              </a:defRPr>
            </a:defPPr>
            <a:lvl1pPr>
              <a:defRPr sz="2400" b="0">
                <a:solidFill>
                  <a:srgbClr val="172C42"/>
                </a:solidFill>
                <a:latin typeface="Liberation Sans"/>
                <a:ea typeface="Liberation Sans"/>
                <a:cs typeface="Liberation Sans"/>
              </a:defRPr>
            </a:lvl1pPr>
            <a:lvl2pPr>
              <a:defRPr sz="2400" b="0">
                <a:solidFill>
                  <a:srgbClr val="172C42"/>
                </a:solidFill>
                <a:latin typeface="Liberation Sans"/>
                <a:ea typeface="Liberation Sans"/>
                <a:cs typeface="Liberation Sans"/>
              </a:defRPr>
            </a:lvl2pPr>
            <a:lvl3pPr>
              <a:defRPr sz="2400" b="0">
                <a:solidFill>
                  <a:srgbClr val="172C42"/>
                </a:solidFill>
                <a:latin typeface="Liberation Sans"/>
                <a:ea typeface="Liberation Sans"/>
                <a:cs typeface="Liberation Sans"/>
              </a:defRPr>
            </a:lvl3pPr>
            <a:lvl4pPr>
              <a:defRPr sz="2400" b="0">
                <a:solidFill>
                  <a:srgbClr val="172C42"/>
                </a:solidFill>
                <a:latin typeface="Liberation Sans"/>
                <a:ea typeface="Liberation Sans"/>
                <a:cs typeface="Liberation Sans"/>
              </a:defRPr>
            </a:lvl4pPr>
            <a:lvl5pPr>
              <a:defRPr sz="2400" b="0">
                <a:solidFill>
                  <a:srgbClr val="172C42"/>
                </a:solidFill>
                <a:latin typeface="Liberation Sans"/>
                <a:ea typeface="Liberation Sans"/>
                <a:cs typeface="Liberation Sans"/>
              </a:defRPr>
            </a:lvl5pPr>
            <a:lvl6pPr>
              <a:defRPr sz="2400" b="0">
                <a:solidFill>
                  <a:srgbClr val="172C42"/>
                </a:solidFill>
                <a:latin typeface="Liberation Sans"/>
                <a:ea typeface="Liberation Sans"/>
                <a:cs typeface="Liberation Sans"/>
              </a:defRPr>
            </a:lvl6pPr>
            <a:lvl7pPr>
              <a:defRPr sz="2400" b="0">
                <a:solidFill>
                  <a:srgbClr val="172C42"/>
                </a:solidFill>
                <a:latin typeface="Liberation Sans"/>
                <a:ea typeface="Liberation Sans"/>
                <a:cs typeface="Liberation Sans"/>
              </a:defRPr>
            </a:lvl7pPr>
            <a:lvl8pPr>
              <a:defRPr sz="2400" b="0">
                <a:solidFill>
                  <a:srgbClr val="172C42"/>
                </a:solidFill>
                <a:latin typeface="Liberation Sans"/>
                <a:ea typeface="Liberation Sans"/>
                <a:cs typeface="Liberation Sans"/>
              </a:defRPr>
            </a:lvl8pPr>
            <a:lvl9pPr>
              <a:defRPr sz="2400" b="0">
                <a:solidFill>
                  <a:srgbClr val="172C42"/>
                </a:solidFill>
                <a:latin typeface="Liberation Sans"/>
                <a:ea typeface="Liberation Sans"/>
                <a:cs typeface="Liberation Sans"/>
              </a:defRPr>
            </a:lvl9pPr>
          </a:lstStyle>
          <a:p xmlns:a="http://schemas.openxmlformats.org/drawingml/2006/main">
            <a:pPr>
              <a:defRPr sz="2400" b="0">
                <a:solidFill>
                  <a:srgbClr val="172C42"/>
                </a:solidFill>
                <a:latin typeface="Liberation Sans"/>
                <a:ea typeface="Liberation Sans"/>
                <a:cs typeface="Liberation Sans"/>
              </a:defRPr>
            </a:pPr>
            <a:r>
              <a:rPr sz="2400" b="0">
                <a:solidFill>
                  <a:srgbClr val="172C42"/>
                </a:solidFill>
                <a:latin typeface="Liberation Sans"/>
                <a:ea typeface="Liberation Sans"/>
                <a:cs typeface="Liberation Sans"/>
              </a:rPr>
              <a:t>Selected: geographic smoothing, epoch 12</a:t>
            </a:r>
          </a:p>
        </p:txBody>
      </p:sp>
    </p:spTree>
    <p:extLst>
      <p:ext uri="{BB962C8B-B14F-4D97-AF65-F5344CB8AC3E}">
        <p14:creationId xmlns:p14="http://schemas.microsoft.com/office/powerpoint/2010/main" val="450305175"/>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492436-BBB8-43D3-B713-644844222699}"/>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2C42"/>
                </a:solidFill>
                <a:latin typeface="Liberation Sans"/>
                <a:ea typeface="Liberation Sans"/>
                <a:cs typeface="Liberation Sans"/>
              </a:defRPr>
            </a:defPPr>
            <a:lvl1pPr>
              <a:defRPr sz="3600" b="1">
                <a:solidFill>
                  <a:srgbClr val="172C42"/>
                </a:solidFill>
                <a:latin typeface="Liberation Sans"/>
                <a:ea typeface="Liberation Sans"/>
                <a:cs typeface="Liberation Sans"/>
              </a:defRPr>
            </a:lvl1pPr>
            <a:lvl2pPr>
              <a:defRPr sz="3600" b="1">
                <a:solidFill>
                  <a:srgbClr val="172C42"/>
                </a:solidFill>
                <a:latin typeface="Liberation Sans"/>
                <a:ea typeface="Liberation Sans"/>
                <a:cs typeface="Liberation Sans"/>
              </a:defRPr>
            </a:lvl2pPr>
            <a:lvl3pPr>
              <a:defRPr sz="3600" b="1">
                <a:solidFill>
                  <a:srgbClr val="172C42"/>
                </a:solidFill>
                <a:latin typeface="Liberation Sans"/>
                <a:ea typeface="Liberation Sans"/>
                <a:cs typeface="Liberation Sans"/>
              </a:defRPr>
            </a:lvl3pPr>
            <a:lvl4pPr>
              <a:defRPr sz="3600" b="1">
                <a:solidFill>
                  <a:srgbClr val="172C42"/>
                </a:solidFill>
                <a:latin typeface="Liberation Sans"/>
                <a:ea typeface="Liberation Sans"/>
                <a:cs typeface="Liberation Sans"/>
              </a:defRPr>
            </a:lvl4pPr>
            <a:lvl5pPr>
              <a:defRPr sz="3600" b="1">
                <a:solidFill>
                  <a:srgbClr val="172C42"/>
                </a:solidFill>
                <a:latin typeface="Liberation Sans"/>
                <a:ea typeface="Liberation Sans"/>
                <a:cs typeface="Liberation Sans"/>
              </a:defRPr>
            </a:lvl5pPr>
            <a:lvl6pPr>
              <a:defRPr sz="3600" b="1">
                <a:solidFill>
                  <a:srgbClr val="172C42"/>
                </a:solidFill>
                <a:latin typeface="Liberation Sans"/>
                <a:ea typeface="Liberation Sans"/>
                <a:cs typeface="Liberation Sans"/>
              </a:defRPr>
            </a:lvl6pPr>
            <a:lvl7pPr>
              <a:defRPr sz="3600" b="1">
                <a:solidFill>
                  <a:srgbClr val="172C42"/>
                </a:solidFill>
                <a:latin typeface="Liberation Sans"/>
                <a:ea typeface="Liberation Sans"/>
                <a:cs typeface="Liberation Sans"/>
              </a:defRPr>
            </a:lvl7pPr>
            <a:lvl8pPr>
              <a:defRPr sz="3600" b="1">
                <a:solidFill>
                  <a:srgbClr val="172C42"/>
                </a:solidFill>
                <a:latin typeface="Liberation Sans"/>
                <a:ea typeface="Liberation Sans"/>
                <a:cs typeface="Liberation Sans"/>
              </a:defRPr>
            </a:lvl8pPr>
            <a:lvl9pPr>
              <a:defRPr sz="3600" b="1">
                <a:solidFill>
                  <a:srgbClr val="172C42"/>
                </a:solidFill>
                <a:latin typeface="Liberation Sans"/>
                <a:ea typeface="Liberation Sans"/>
                <a:cs typeface="Liberation Sans"/>
              </a:defRPr>
            </a:lvl9pPr>
          </a:lstStyle>
          <a:p xmlns:a="http://schemas.openxmlformats.org/drawingml/2006/main">
            <a:pPr>
              <a:defRPr sz="3600" b="1">
                <a:solidFill>
                  <a:srgbClr val="172C42"/>
                </a:solidFill>
                <a:latin typeface="Liberation Sans"/>
                <a:ea typeface="Liberation Sans"/>
                <a:cs typeface="Liberation Sans"/>
              </a:defRPr>
            </a:pPr>
            <a:r>
              <a:rPr sz="3600" b="1">
                <a:solidFill>
                  <a:srgbClr val="172C42"/>
                </a:solidFill>
                <a:latin typeface="Liberation Sans"/>
                <a:ea typeface="Liberation Sans"/>
                <a:cs typeface="Liberation Sans"/>
              </a:rPr>
              <a:t>More test photographs fall within 25 km</a:t>
            </a:r>
          </a:p>
        </p:txBody>
      </p:sp>
      <p:sp>
        <p:nvSpPr>
          <p:cNvPr id="2" name="">
            <a:extLst xmlns:a="http://schemas.openxmlformats.org/drawingml/2006/main">
              <a:ext uri="{FF2B5EF4-FFF2-40B4-BE49-F238E27FC236}">
                <a16:creationId xmlns:a16="http://schemas.microsoft.com/office/drawing/2014/main" id="{5FF9F4DC-FFB7-47CB-A24B-BC7843CA03E9}"/>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D8D0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F48CB38-3B07-456E-8481-990C956CF1D9}"/>
              </a:ext>
            </a:extLst>
          </p:cNvPr>
          <p:cNvSpPr>
            <a:spLocks xmlns:a="http://schemas.openxmlformats.org/drawingml/2006/main" noGrp="1"/>
          </p:cNvSpPr>
          <p:nvPr/>
        </p:nvSpPr>
        <p:spPr>
          <a:xfrm xmlns:a="http://schemas.openxmlformats.org/drawingml/2006/main">
            <a:off x="60960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Source: paired official test, 357 images. One seed.</a:t>
            </a:r>
          </a:p>
        </p:txBody>
      </p:sp>
      <p:sp>
        <p:nvSpPr>
          <p:cNvPr id="4" name="">
            <a:extLst xmlns:a="http://schemas.openxmlformats.org/drawingml/2006/main">
              <a:ext uri="{FF2B5EF4-FFF2-40B4-BE49-F238E27FC236}">
                <a16:creationId xmlns:a16="http://schemas.microsoft.com/office/drawing/2014/main" id="{BAA61BEB-2267-4826-9133-7E356A1F97C9}"/>
              </a:ext>
            </a:extLst>
          </p:cNvPr>
          <p:cNvSpPr>
            <a:spLocks xmlns:a="http://schemas.openxmlformats.org/drawingml/2006/main" noGrp="1"/>
          </p:cNvSpPr>
          <p:nvPr/>
        </p:nvSpPr>
        <p:spPr>
          <a:xfrm xmlns:a="http://schemas.openxmlformats.org/drawingml/2006/main">
            <a:off x="11191875"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7</a:t>
            </a:r>
          </a:p>
        </p:txBody>
      </p:sp>
      <p:graphicFrame>
        <p:nvGraphicFramePr>
          <p:cNvPr id="5" name="Chart">
            <a:extLst xmlns:a="http://schemas.openxmlformats.org/drawingml/2006/main">
              <a:ext uri="{FF2B5EF4-FFF2-40B4-BE49-F238E27FC236}">
                <a16:creationId xmlns:a16="http://schemas.microsoft.com/office/drawing/2014/main" id="{5869EE2C-18E3-47C8-9C1E-4782DFC2C147}"/>
              </a:ext>
            </a:extLst>
          </p:cNvPr>
          <p:cNvGraphicFramePr/>
          <p:nvPr/>
        </p:nvGraphicFramePr>
        <p:xfrm>
          <a:off xmlns:a="http://schemas.openxmlformats.org/drawingml/2006/main" x="609600" y="1619250"/>
          <a:ext xmlns:a="http://schemas.openxmlformats.org/drawingml/2006/main" cx="7048500" cy="4095750"/>
        </p:xfrm>
        <a:graphic xmlns:a="http://schemas.openxmlformats.org/drawingml/2006/main">
          <a:graphicData uri="http://schemas.openxmlformats.org/drawingml/2006/chart">
            <c:chart xmlns:r="http://schemas.openxmlformats.org/officeDocument/2006/relationships" xmlns:c="http://schemas.openxmlformats.org/drawingml/2006/chart" r:id="Refccb8121db4481d"/>
          </a:graphicData>
        </a:graphic>
      </p:graphicFrame>
      <p:sp>
        <p:nvSpPr>
          <p:cNvPr id="6" name="">
            <a:extLst xmlns:a="http://schemas.openxmlformats.org/drawingml/2006/main">
              <a:ext uri="{FF2B5EF4-FFF2-40B4-BE49-F238E27FC236}">
                <a16:creationId xmlns:a16="http://schemas.microsoft.com/office/drawing/2014/main" id="{46BB1D5D-56A2-491B-856B-AE1BABFFA5D7}"/>
              </a:ext>
            </a:extLst>
          </p:cNvPr>
          <p:cNvSpPr>
            <a:spLocks xmlns:a="http://schemas.openxmlformats.org/drawingml/2006/main" noGrp="1"/>
          </p:cNvSpPr>
          <p:nvPr/>
        </p:nvSpPr>
        <p:spPr>
          <a:xfrm xmlns:a="http://schemas.openxmlformats.org/drawingml/2006/main">
            <a:off x="8286750" y="2238375"/>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D5663F"/>
                </a:solidFill>
                <a:latin typeface="Liberation Sans"/>
                <a:ea typeface="Liberation Sans"/>
                <a:cs typeface="Liberation Sans"/>
              </a:defRPr>
            </a:defPPr>
            <a:lvl1pPr>
              <a:defRPr sz="4650" b="1">
                <a:solidFill>
                  <a:srgbClr val="D5663F"/>
                </a:solidFill>
                <a:latin typeface="Liberation Sans"/>
                <a:ea typeface="Liberation Sans"/>
                <a:cs typeface="Liberation Sans"/>
              </a:defRPr>
            </a:lvl1pPr>
            <a:lvl2pPr>
              <a:defRPr sz="4650" b="1">
                <a:solidFill>
                  <a:srgbClr val="D5663F"/>
                </a:solidFill>
                <a:latin typeface="Liberation Sans"/>
                <a:ea typeface="Liberation Sans"/>
                <a:cs typeface="Liberation Sans"/>
              </a:defRPr>
            </a:lvl2pPr>
            <a:lvl3pPr>
              <a:defRPr sz="4650" b="1">
                <a:solidFill>
                  <a:srgbClr val="D5663F"/>
                </a:solidFill>
                <a:latin typeface="Liberation Sans"/>
                <a:ea typeface="Liberation Sans"/>
                <a:cs typeface="Liberation Sans"/>
              </a:defRPr>
            </a:lvl3pPr>
            <a:lvl4pPr>
              <a:defRPr sz="4650" b="1">
                <a:solidFill>
                  <a:srgbClr val="D5663F"/>
                </a:solidFill>
                <a:latin typeface="Liberation Sans"/>
                <a:ea typeface="Liberation Sans"/>
                <a:cs typeface="Liberation Sans"/>
              </a:defRPr>
            </a:lvl4pPr>
            <a:lvl5pPr>
              <a:defRPr sz="4650" b="1">
                <a:solidFill>
                  <a:srgbClr val="D5663F"/>
                </a:solidFill>
                <a:latin typeface="Liberation Sans"/>
                <a:ea typeface="Liberation Sans"/>
                <a:cs typeface="Liberation Sans"/>
              </a:defRPr>
            </a:lvl5pPr>
            <a:lvl6pPr>
              <a:defRPr sz="4650" b="1">
                <a:solidFill>
                  <a:srgbClr val="D5663F"/>
                </a:solidFill>
                <a:latin typeface="Liberation Sans"/>
                <a:ea typeface="Liberation Sans"/>
                <a:cs typeface="Liberation Sans"/>
              </a:defRPr>
            </a:lvl6pPr>
            <a:lvl7pPr>
              <a:defRPr sz="4650" b="1">
                <a:solidFill>
                  <a:srgbClr val="D5663F"/>
                </a:solidFill>
                <a:latin typeface="Liberation Sans"/>
                <a:ea typeface="Liberation Sans"/>
                <a:cs typeface="Liberation Sans"/>
              </a:defRPr>
            </a:lvl7pPr>
            <a:lvl8pPr>
              <a:defRPr sz="4650" b="1">
                <a:solidFill>
                  <a:srgbClr val="D5663F"/>
                </a:solidFill>
                <a:latin typeface="Liberation Sans"/>
                <a:ea typeface="Liberation Sans"/>
                <a:cs typeface="Liberation Sans"/>
              </a:defRPr>
            </a:lvl8pPr>
            <a:lvl9pPr>
              <a:defRPr sz="4650" b="1">
                <a:solidFill>
                  <a:srgbClr val="D5663F"/>
                </a:solidFill>
                <a:latin typeface="Liberation Sans"/>
                <a:ea typeface="Liberation Sans"/>
                <a:cs typeface="Liberation Sans"/>
              </a:defRPr>
            </a:lvl9pPr>
          </a:lstStyle>
          <a:p xmlns:a="http://schemas.openxmlformats.org/drawingml/2006/main">
            <a:pPr>
              <a:defRPr sz="4650" b="1">
                <a:solidFill>
                  <a:srgbClr val="D5663F"/>
                </a:solidFill>
                <a:latin typeface="Liberation Sans"/>
                <a:ea typeface="Liberation Sans"/>
                <a:cs typeface="Liberation Sans"/>
              </a:defRPr>
            </a:pPr>
            <a:r>
              <a:rPr sz="4650" b="1">
                <a:solidFill>
                  <a:srgbClr val="D5663F"/>
                </a:solidFill>
                <a:latin typeface="Liberation Sans"/>
                <a:ea typeface="Liberation Sans"/>
                <a:cs typeface="Liberation Sans"/>
              </a:rPr>
              <a:t>21.8 km</a:t>
            </a:r>
          </a:p>
        </p:txBody>
      </p:sp>
      <p:sp>
        <p:nvSpPr>
          <p:cNvPr id="7" name="">
            <a:extLst xmlns:a="http://schemas.openxmlformats.org/drawingml/2006/main">
              <a:ext uri="{FF2B5EF4-FFF2-40B4-BE49-F238E27FC236}">
                <a16:creationId xmlns:a16="http://schemas.microsoft.com/office/drawing/2014/main" id="{6DB3548E-6571-492A-A744-4D9827BD4375}"/>
              </a:ext>
            </a:extLst>
          </p:cNvPr>
          <p:cNvSpPr>
            <a:spLocks xmlns:a="http://schemas.openxmlformats.org/drawingml/2006/main" noGrp="1"/>
          </p:cNvSpPr>
          <p:nvPr/>
        </p:nvSpPr>
        <p:spPr>
          <a:xfrm xmlns:a="http://schemas.openxmlformats.org/drawingml/2006/main">
            <a:off x="8286750" y="3333750"/>
            <a:ext cx="328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C42"/>
                </a:solidFill>
                <a:latin typeface="Liberation Sans"/>
                <a:ea typeface="Liberation Sans"/>
                <a:cs typeface="Liberation Sans"/>
              </a:defRPr>
            </a:defPPr>
            <a:lvl1pPr>
              <a:defRPr sz="2250" b="0">
                <a:solidFill>
                  <a:srgbClr val="172C42"/>
                </a:solidFill>
                <a:latin typeface="Liberation Sans"/>
                <a:ea typeface="Liberation Sans"/>
                <a:cs typeface="Liberation Sans"/>
              </a:defRPr>
            </a:lvl1pPr>
            <a:lvl2pPr>
              <a:defRPr sz="2250" b="0">
                <a:solidFill>
                  <a:srgbClr val="172C42"/>
                </a:solidFill>
                <a:latin typeface="Liberation Sans"/>
                <a:ea typeface="Liberation Sans"/>
                <a:cs typeface="Liberation Sans"/>
              </a:defRPr>
            </a:lvl2pPr>
            <a:lvl3pPr>
              <a:defRPr sz="2250" b="0">
                <a:solidFill>
                  <a:srgbClr val="172C42"/>
                </a:solidFill>
                <a:latin typeface="Liberation Sans"/>
                <a:ea typeface="Liberation Sans"/>
                <a:cs typeface="Liberation Sans"/>
              </a:defRPr>
            </a:lvl3pPr>
            <a:lvl4pPr>
              <a:defRPr sz="2250" b="0">
                <a:solidFill>
                  <a:srgbClr val="172C42"/>
                </a:solidFill>
                <a:latin typeface="Liberation Sans"/>
                <a:ea typeface="Liberation Sans"/>
                <a:cs typeface="Liberation Sans"/>
              </a:defRPr>
            </a:lvl4pPr>
            <a:lvl5pPr>
              <a:defRPr sz="2250" b="0">
                <a:solidFill>
                  <a:srgbClr val="172C42"/>
                </a:solidFill>
                <a:latin typeface="Liberation Sans"/>
                <a:ea typeface="Liberation Sans"/>
                <a:cs typeface="Liberation Sans"/>
              </a:defRPr>
            </a:lvl5pPr>
            <a:lvl6pPr>
              <a:defRPr sz="2250" b="0">
                <a:solidFill>
                  <a:srgbClr val="172C42"/>
                </a:solidFill>
                <a:latin typeface="Liberation Sans"/>
                <a:ea typeface="Liberation Sans"/>
                <a:cs typeface="Liberation Sans"/>
              </a:defRPr>
            </a:lvl6pPr>
            <a:lvl7pPr>
              <a:defRPr sz="2250" b="0">
                <a:solidFill>
                  <a:srgbClr val="172C42"/>
                </a:solidFill>
                <a:latin typeface="Liberation Sans"/>
                <a:ea typeface="Liberation Sans"/>
                <a:cs typeface="Liberation Sans"/>
              </a:defRPr>
            </a:lvl7pPr>
            <a:lvl8pPr>
              <a:defRPr sz="2250" b="0">
                <a:solidFill>
                  <a:srgbClr val="172C42"/>
                </a:solidFill>
                <a:latin typeface="Liberation Sans"/>
                <a:ea typeface="Liberation Sans"/>
                <a:cs typeface="Liberation Sans"/>
              </a:defRPr>
            </a:lvl8pPr>
            <a:lvl9pPr>
              <a:defRPr sz="2250" b="0">
                <a:solidFill>
                  <a:srgbClr val="172C42"/>
                </a:solidFill>
                <a:latin typeface="Liberation Sans"/>
                <a:ea typeface="Liberation Sans"/>
                <a:cs typeface="Liberation Sans"/>
              </a:defRPr>
            </a:lvl9pPr>
          </a:lstStyle>
          <a:p xmlns:a="http://schemas.openxmlformats.org/drawingml/2006/main">
            <a:pPr>
              <a:defRPr sz="2250" b="0">
                <a:solidFill>
                  <a:srgbClr val="172C42"/>
                </a:solidFill>
                <a:latin typeface="Liberation Sans"/>
                <a:ea typeface="Liberation Sans"/>
                <a:cs typeface="Liberation Sans"/>
              </a:defRPr>
            </a:pPr>
            <a:r>
              <a:rPr sz="2250" b="0">
                <a:solidFill>
                  <a:srgbClr val="172C42"/>
                </a:solidFill>
                <a:latin typeface="Liberation Sans"/>
                <a:ea typeface="Liberation Sans"/>
                <a:cs typeface="Liberation Sans"/>
              </a:rPr>
              <a:t>Hybrid median error</a:t>
            </a:r>
          </a:p>
          <a:p xmlns:a="http://schemas.openxmlformats.org/drawingml/2006/main">
            <a:pPr>
              <a:defRPr sz="2250" b="0">
                <a:solidFill>
                  <a:srgbClr val="172C42"/>
                </a:solidFill>
                <a:latin typeface="Liberation Sans"/>
                <a:ea typeface="Liberation Sans"/>
                <a:cs typeface="Liberation Sans"/>
              </a:defRPr>
            </a:pPr>
            <a:r>
              <a:rPr sz="2250" b="0">
                <a:solidFill>
                  <a:srgbClr val="172C42"/>
                </a:solidFill>
                <a:latin typeface="Liberation Sans"/>
                <a:ea typeface="Liberation Sans"/>
                <a:cs typeface="Liberation Sans"/>
              </a:rPr>
              <a:t>L6 alone: 28.4 km</a:t>
            </a:r>
          </a:p>
        </p:txBody>
      </p:sp>
      <p:sp>
        <p:nvSpPr>
          <p:cNvPr id="8" name="">
            <a:extLst xmlns:a="http://schemas.openxmlformats.org/drawingml/2006/main">
              <a:ext uri="{FF2B5EF4-FFF2-40B4-BE49-F238E27FC236}">
                <a16:creationId xmlns:a16="http://schemas.microsoft.com/office/drawing/2014/main" id="{02908842-809E-4EB6-8540-C55C49996920}"/>
              </a:ext>
            </a:extLst>
          </p:cNvPr>
          <p:cNvSpPr>
            <a:spLocks xmlns:a="http://schemas.openxmlformats.org/drawingml/2006/main" noGrp="1"/>
          </p:cNvSpPr>
          <p:nvPr/>
        </p:nvSpPr>
        <p:spPr>
          <a:xfrm xmlns:a="http://schemas.openxmlformats.org/drawingml/2006/main">
            <a:off x="609600" y="57150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C42"/>
                </a:solidFill>
                <a:latin typeface="Liberation Sans"/>
                <a:ea typeface="Liberation Sans"/>
                <a:cs typeface="Liberation Sans"/>
              </a:defRPr>
            </a:defPPr>
            <a:lvl1pPr>
              <a:defRPr sz="2025" b="0">
                <a:solidFill>
                  <a:srgbClr val="172C42"/>
                </a:solidFill>
                <a:latin typeface="Liberation Sans"/>
                <a:ea typeface="Liberation Sans"/>
                <a:cs typeface="Liberation Sans"/>
              </a:defRPr>
            </a:lvl1pPr>
            <a:lvl2pPr>
              <a:defRPr sz="2025" b="0">
                <a:solidFill>
                  <a:srgbClr val="172C42"/>
                </a:solidFill>
                <a:latin typeface="Liberation Sans"/>
                <a:ea typeface="Liberation Sans"/>
                <a:cs typeface="Liberation Sans"/>
              </a:defRPr>
            </a:lvl2pPr>
            <a:lvl3pPr>
              <a:defRPr sz="2025" b="0">
                <a:solidFill>
                  <a:srgbClr val="172C42"/>
                </a:solidFill>
                <a:latin typeface="Liberation Sans"/>
                <a:ea typeface="Liberation Sans"/>
                <a:cs typeface="Liberation Sans"/>
              </a:defRPr>
            </a:lvl3pPr>
            <a:lvl4pPr>
              <a:defRPr sz="2025" b="0">
                <a:solidFill>
                  <a:srgbClr val="172C42"/>
                </a:solidFill>
                <a:latin typeface="Liberation Sans"/>
                <a:ea typeface="Liberation Sans"/>
                <a:cs typeface="Liberation Sans"/>
              </a:defRPr>
            </a:lvl4pPr>
            <a:lvl5pPr>
              <a:defRPr sz="2025" b="0">
                <a:solidFill>
                  <a:srgbClr val="172C42"/>
                </a:solidFill>
                <a:latin typeface="Liberation Sans"/>
                <a:ea typeface="Liberation Sans"/>
                <a:cs typeface="Liberation Sans"/>
              </a:defRPr>
            </a:lvl5pPr>
            <a:lvl6pPr>
              <a:defRPr sz="2025" b="0">
                <a:solidFill>
                  <a:srgbClr val="172C42"/>
                </a:solidFill>
                <a:latin typeface="Liberation Sans"/>
                <a:ea typeface="Liberation Sans"/>
                <a:cs typeface="Liberation Sans"/>
              </a:defRPr>
            </a:lvl6pPr>
            <a:lvl7pPr>
              <a:defRPr sz="2025" b="0">
                <a:solidFill>
                  <a:srgbClr val="172C42"/>
                </a:solidFill>
                <a:latin typeface="Liberation Sans"/>
                <a:ea typeface="Liberation Sans"/>
                <a:cs typeface="Liberation Sans"/>
              </a:defRPr>
            </a:lvl7pPr>
            <a:lvl8pPr>
              <a:defRPr sz="2025" b="0">
                <a:solidFill>
                  <a:srgbClr val="172C42"/>
                </a:solidFill>
                <a:latin typeface="Liberation Sans"/>
                <a:ea typeface="Liberation Sans"/>
                <a:cs typeface="Liberation Sans"/>
              </a:defRPr>
            </a:lvl8pPr>
            <a:lvl9pPr>
              <a:defRPr sz="2025" b="0">
                <a:solidFill>
                  <a:srgbClr val="172C42"/>
                </a:solidFill>
                <a:latin typeface="Liberation Sans"/>
                <a:ea typeface="Liberation Sans"/>
                <a:cs typeface="Liberation Sans"/>
              </a:defRPr>
            </a:lvl9pPr>
          </a:lstStyle>
          <a:p xmlns:a="http://schemas.openxmlformats.org/drawingml/2006/main">
            <a:pPr>
              <a:defRPr sz="2025" b="0">
                <a:solidFill>
                  <a:srgbClr val="172C42"/>
                </a:solidFill>
                <a:latin typeface="Liberation Sans"/>
                <a:ea typeface="Liberation Sans"/>
                <a:cs typeface="Liberation Sans"/>
              </a:defRPr>
            </a:pPr>
            <a:r>
              <a:rPr sz="2025" b="0">
                <a:solidFill>
                  <a:srgbClr val="172C42"/>
                </a:solidFill>
                <a:latin typeface="Liberation Sans"/>
                <a:ea typeface="Liberation Sans"/>
                <a:cs typeface="Liberation Sans"/>
              </a:rPr>
              <a:t>147 → 170 → 191 correct images out of 357</a:t>
            </a:r>
          </a:p>
        </p:txBody>
      </p:sp>
    </p:spTree>
    <p:extLst>
      <p:ext uri="{BB962C8B-B14F-4D97-AF65-F5344CB8AC3E}">
        <p14:creationId xmlns:p14="http://schemas.microsoft.com/office/powerpoint/2010/main" val="1757220753"/>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9405D5-D91E-41C9-9D6E-C9A9E57E8584}"/>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2C42"/>
                </a:solidFill>
                <a:latin typeface="Liberation Sans"/>
                <a:ea typeface="Liberation Sans"/>
                <a:cs typeface="Liberation Sans"/>
              </a:defRPr>
            </a:defPPr>
            <a:lvl1pPr>
              <a:defRPr sz="3600" b="1">
                <a:solidFill>
                  <a:srgbClr val="172C42"/>
                </a:solidFill>
                <a:latin typeface="Liberation Sans"/>
                <a:ea typeface="Liberation Sans"/>
                <a:cs typeface="Liberation Sans"/>
              </a:defRPr>
            </a:lvl1pPr>
            <a:lvl2pPr>
              <a:defRPr sz="3600" b="1">
                <a:solidFill>
                  <a:srgbClr val="172C42"/>
                </a:solidFill>
                <a:latin typeface="Liberation Sans"/>
                <a:ea typeface="Liberation Sans"/>
                <a:cs typeface="Liberation Sans"/>
              </a:defRPr>
            </a:lvl2pPr>
            <a:lvl3pPr>
              <a:defRPr sz="3600" b="1">
                <a:solidFill>
                  <a:srgbClr val="172C42"/>
                </a:solidFill>
                <a:latin typeface="Liberation Sans"/>
                <a:ea typeface="Liberation Sans"/>
                <a:cs typeface="Liberation Sans"/>
              </a:defRPr>
            </a:lvl3pPr>
            <a:lvl4pPr>
              <a:defRPr sz="3600" b="1">
                <a:solidFill>
                  <a:srgbClr val="172C42"/>
                </a:solidFill>
                <a:latin typeface="Liberation Sans"/>
                <a:ea typeface="Liberation Sans"/>
                <a:cs typeface="Liberation Sans"/>
              </a:defRPr>
            </a:lvl4pPr>
            <a:lvl5pPr>
              <a:defRPr sz="3600" b="1">
                <a:solidFill>
                  <a:srgbClr val="172C42"/>
                </a:solidFill>
                <a:latin typeface="Liberation Sans"/>
                <a:ea typeface="Liberation Sans"/>
                <a:cs typeface="Liberation Sans"/>
              </a:defRPr>
            </a:lvl5pPr>
            <a:lvl6pPr>
              <a:defRPr sz="3600" b="1">
                <a:solidFill>
                  <a:srgbClr val="172C42"/>
                </a:solidFill>
                <a:latin typeface="Liberation Sans"/>
                <a:ea typeface="Liberation Sans"/>
                <a:cs typeface="Liberation Sans"/>
              </a:defRPr>
            </a:lvl6pPr>
            <a:lvl7pPr>
              <a:defRPr sz="3600" b="1">
                <a:solidFill>
                  <a:srgbClr val="172C42"/>
                </a:solidFill>
                <a:latin typeface="Liberation Sans"/>
                <a:ea typeface="Liberation Sans"/>
                <a:cs typeface="Liberation Sans"/>
              </a:defRPr>
            </a:lvl7pPr>
            <a:lvl8pPr>
              <a:defRPr sz="3600" b="1">
                <a:solidFill>
                  <a:srgbClr val="172C42"/>
                </a:solidFill>
                <a:latin typeface="Liberation Sans"/>
                <a:ea typeface="Liberation Sans"/>
                <a:cs typeface="Liberation Sans"/>
              </a:defRPr>
            </a:lvl8pPr>
            <a:lvl9pPr>
              <a:defRPr sz="3600" b="1">
                <a:solidFill>
                  <a:srgbClr val="172C42"/>
                </a:solidFill>
                <a:latin typeface="Liberation Sans"/>
                <a:ea typeface="Liberation Sans"/>
                <a:cs typeface="Liberation Sans"/>
              </a:defRPr>
            </a:lvl9pPr>
          </a:lstStyle>
          <a:p xmlns:a="http://schemas.openxmlformats.org/drawingml/2006/main">
            <a:pPr>
              <a:defRPr sz="3600" b="1">
                <a:solidFill>
                  <a:srgbClr val="172C42"/>
                </a:solidFill>
                <a:latin typeface="Liberation Sans"/>
                <a:ea typeface="Liberation Sans"/>
                <a:cs typeface="Liberation Sans"/>
              </a:defRPr>
            </a:pPr>
            <a:r>
              <a:rPr sz="3600" b="1">
                <a:solidFill>
                  <a:srgbClr val="172C42"/>
                </a:solidFill>
                <a:latin typeface="Liberation Sans"/>
                <a:ea typeface="Liberation Sans"/>
                <a:cs typeface="Liberation Sans"/>
              </a:rPr>
              <a:t>Random validation contains nearby street views</a:t>
            </a:r>
          </a:p>
        </p:txBody>
      </p:sp>
      <p:sp>
        <p:nvSpPr>
          <p:cNvPr id="2" name="">
            <a:extLst xmlns:a="http://schemas.openxmlformats.org/drawingml/2006/main">
              <a:ext uri="{FF2B5EF4-FFF2-40B4-BE49-F238E27FC236}">
                <a16:creationId xmlns:a16="http://schemas.microsoft.com/office/drawing/2014/main" id="{E23CF162-89BD-4DC2-AF67-41E6C4B9601E}"/>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D8D0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B9D4F7-9652-4FB3-A909-31ADF9C5A421}"/>
              </a:ext>
            </a:extLst>
          </p:cNvPr>
          <p:cNvSpPr>
            <a:spLocks xmlns:a="http://schemas.openxmlformats.org/drawingml/2006/main" noGrp="1"/>
          </p:cNvSpPr>
          <p:nvPr/>
        </p:nvSpPr>
        <p:spPr>
          <a:xfrm xmlns:a="http://schemas.openxmlformats.org/drawingml/2006/main">
            <a:off x="60960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Source: nearest-training-coordinate audit of the recovered subset</a:t>
            </a:r>
          </a:p>
        </p:txBody>
      </p:sp>
      <p:sp>
        <p:nvSpPr>
          <p:cNvPr id="4" name="">
            <a:extLst xmlns:a="http://schemas.openxmlformats.org/drawingml/2006/main">
              <a:ext uri="{FF2B5EF4-FFF2-40B4-BE49-F238E27FC236}">
                <a16:creationId xmlns:a16="http://schemas.microsoft.com/office/drawing/2014/main" id="{E0C22CB9-A063-45A5-B76B-6ABCC38A967B}"/>
              </a:ext>
            </a:extLst>
          </p:cNvPr>
          <p:cNvSpPr>
            <a:spLocks xmlns:a="http://schemas.openxmlformats.org/drawingml/2006/main" noGrp="1"/>
          </p:cNvSpPr>
          <p:nvPr/>
        </p:nvSpPr>
        <p:spPr>
          <a:xfrm xmlns:a="http://schemas.openxmlformats.org/drawingml/2006/main">
            <a:off x="11191875"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8</a:t>
            </a:r>
          </a:p>
        </p:txBody>
      </p:sp>
      <p:graphicFrame>
        <p:nvGraphicFramePr>
          <p:cNvPr id="5" name="Chart">
            <a:extLst xmlns:a="http://schemas.openxmlformats.org/drawingml/2006/main">
              <a:ext uri="{FF2B5EF4-FFF2-40B4-BE49-F238E27FC236}">
                <a16:creationId xmlns:a16="http://schemas.microsoft.com/office/drawing/2014/main" id="{3560183B-6755-4241-923D-7F13DD377D09}"/>
              </a:ext>
            </a:extLst>
          </p:cNvPr>
          <p:cNvGraphicFramePr/>
          <p:nvPr/>
        </p:nvGraphicFramePr>
        <p:xfrm>
          <a:off xmlns:a="http://schemas.openxmlformats.org/drawingml/2006/main" x="609600" y="1619250"/>
          <a:ext xmlns:a="http://schemas.openxmlformats.org/drawingml/2006/main" cx="10820400" cy="3762375"/>
        </p:xfrm>
        <a:graphic xmlns:a="http://schemas.openxmlformats.org/drawingml/2006/main">
          <a:graphicData uri="http://schemas.openxmlformats.org/drawingml/2006/chart">
            <c:chart xmlns:r="http://schemas.openxmlformats.org/officeDocument/2006/relationships" xmlns:c="http://schemas.openxmlformats.org/drawingml/2006/chart" r:id="Rcf589dea16094751"/>
          </a:graphicData>
        </a:graphic>
      </p:graphicFrame>
      <p:sp>
        <p:nvSpPr>
          <p:cNvPr id="6" name="">
            <a:extLst xmlns:a="http://schemas.openxmlformats.org/drawingml/2006/main">
              <a:ext uri="{FF2B5EF4-FFF2-40B4-BE49-F238E27FC236}">
                <a16:creationId xmlns:a16="http://schemas.microsoft.com/office/drawing/2014/main" id="{F0D6718E-2214-4571-B7B4-B5ADA7F463B7}"/>
              </a:ext>
            </a:extLst>
          </p:cNvPr>
          <p:cNvSpPr>
            <a:spLocks xmlns:a="http://schemas.openxmlformats.org/drawingml/2006/main" noGrp="1"/>
          </p:cNvSpPr>
          <p:nvPr/>
        </p:nvSpPr>
        <p:spPr>
          <a:xfrm xmlns:a="http://schemas.openxmlformats.org/drawingml/2006/main">
            <a:off x="609600" y="57150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2C42"/>
                </a:solidFill>
                <a:latin typeface="Liberation Sans"/>
                <a:ea typeface="Liberation Sans"/>
                <a:cs typeface="Liberation Sans"/>
              </a:defRPr>
            </a:defPPr>
            <a:lvl1pPr>
              <a:defRPr sz="2100" b="1">
                <a:solidFill>
                  <a:srgbClr val="172C42"/>
                </a:solidFill>
                <a:latin typeface="Liberation Sans"/>
                <a:ea typeface="Liberation Sans"/>
                <a:cs typeface="Liberation Sans"/>
              </a:defRPr>
            </a:lvl1pPr>
            <a:lvl2pPr>
              <a:defRPr sz="2100" b="1">
                <a:solidFill>
                  <a:srgbClr val="172C42"/>
                </a:solidFill>
                <a:latin typeface="Liberation Sans"/>
                <a:ea typeface="Liberation Sans"/>
                <a:cs typeface="Liberation Sans"/>
              </a:defRPr>
            </a:lvl2pPr>
            <a:lvl3pPr>
              <a:defRPr sz="2100" b="1">
                <a:solidFill>
                  <a:srgbClr val="172C42"/>
                </a:solidFill>
                <a:latin typeface="Liberation Sans"/>
                <a:ea typeface="Liberation Sans"/>
                <a:cs typeface="Liberation Sans"/>
              </a:defRPr>
            </a:lvl3pPr>
            <a:lvl4pPr>
              <a:defRPr sz="2100" b="1">
                <a:solidFill>
                  <a:srgbClr val="172C42"/>
                </a:solidFill>
                <a:latin typeface="Liberation Sans"/>
                <a:ea typeface="Liberation Sans"/>
                <a:cs typeface="Liberation Sans"/>
              </a:defRPr>
            </a:lvl4pPr>
            <a:lvl5pPr>
              <a:defRPr sz="2100" b="1">
                <a:solidFill>
                  <a:srgbClr val="172C42"/>
                </a:solidFill>
                <a:latin typeface="Liberation Sans"/>
                <a:ea typeface="Liberation Sans"/>
                <a:cs typeface="Liberation Sans"/>
              </a:defRPr>
            </a:lvl5pPr>
            <a:lvl6pPr>
              <a:defRPr sz="2100" b="1">
                <a:solidFill>
                  <a:srgbClr val="172C42"/>
                </a:solidFill>
                <a:latin typeface="Liberation Sans"/>
                <a:ea typeface="Liberation Sans"/>
                <a:cs typeface="Liberation Sans"/>
              </a:defRPr>
            </a:lvl6pPr>
            <a:lvl7pPr>
              <a:defRPr sz="2100" b="1">
                <a:solidFill>
                  <a:srgbClr val="172C42"/>
                </a:solidFill>
                <a:latin typeface="Liberation Sans"/>
                <a:ea typeface="Liberation Sans"/>
                <a:cs typeface="Liberation Sans"/>
              </a:defRPr>
            </a:lvl7pPr>
            <a:lvl8pPr>
              <a:defRPr sz="2100" b="1">
                <a:solidFill>
                  <a:srgbClr val="172C42"/>
                </a:solidFill>
                <a:latin typeface="Liberation Sans"/>
                <a:ea typeface="Liberation Sans"/>
                <a:cs typeface="Liberation Sans"/>
              </a:defRPr>
            </a:lvl8pPr>
            <a:lvl9pPr>
              <a:defRPr sz="2100" b="1">
                <a:solidFill>
                  <a:srgbClr val="172C42"/>
                </a:solidFill>
                <a:latin typeface="Liberation Sans"/>
                <a:ea typeface="Liberation Sans"/>
                <a:cs typeface="Liberation Sans"/>
              </a:defRPr>
            </a:lvl9pPr>
          </a:lstStyle>
          <a:p xmlns:a="http://schemas.openxmlformats.org/drawingml/2006/main">
            <a:pPr>
              <a:defRPr sz="2100" b="1">
                <a:solidFill>
                  <a:srgbClr val="172C42"/>
                </a:solidFill>
                <a:latin typeface="Liberation Sans"/>
                <a:ea typeface="Liberation Sans"/>
                <a:cs typeface="Liberation Sans"/>
              </a:defRPr>
            </a:pPr>
            <a:r>
              <a:rPr sz="2100" b="1">
                <a:solidFill>
                  <a:srgbClr val="172C42"/>
                </a:solidFill>
                <a:latin typeface="Liberation Sans"/>
                <a:ea typeface="Liberation Sans"/>
                <a:cs typeface="Liberation Sans"/>
              </a:rPr>
              <a:t>Photos within 1 km of a training coordinate</a:t>
            </a:r>
          </a:p>
        </p:txBody>
      </p:sp>
    </p:spTree>
    <p:extLst>
      <p:ext uri="{BB962C8B-B14F-4D97-AF65-F5344CB8AC3E}">
        <p14:creationId xmlns:p14="http://schemas.microsoft.com/office/powerpoint/2010/main" val="457159378"/>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7DDFC8-C665-487F-AC08-671A6A2D40FB}"/>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2C42"/>
                </a:solidFill>
                <a:latin typeface="Liberation Sans"/>
                <a:ea typeface="Liberation Sans"/>
                <a:cs typeface="Liberation Sans"/>
              </a:defRPr>
            </a:defPPr>
            <a:lvl1pPr>
              <a:defRPr sz="3600" b="1">
                <a:solidFill>
                  <a:srgbClr val="172C42"/>
                </a:solidFill>
                <a:latin typeface="Liberation Sans"/>
                <a:ea typeface="Liberation Sans"/>
                <a:cs typeface="Liberation Sans"/>
              </a:defRPr>
            </a:lvl1pPr>
            <a:lvl2pPr>
              <a:defRPr sz="3600" b="1">
                <a:solidFill>
                  <a:srgbClr val="172C42"/>
                </a:solidFill>
                <a:latin typeface="Liberation Sans"/>
                <a:ea typeface="Liberation Sans"/>
                <a:cs typeface="Liberation Sans"/>
              </a:defRPr>
            </a:lvl2pPr>
            <a:lvl3pPr>
              <a:defRPr sz="3600" b="1">
                <a:solidFill>
                  <a:srgbClr val="172C42"/>
                </a:solidFill>
                <a:latin typeface="Liberation Sans"/>
                <a:ea typeface="Liberation Sans"/>
                <a:cs typeface="Liberation Sans"/>
              </a:defRPr>
            </a:lvl3pPr>
            <a:lvl4pPr>
              <a:defRPr sz="3600" b="1">
                <a:solidFill>
                  <a:srgbClr val="172C42"/>
                </a:solidFill>
                <a:latin typeface="Liberation Sans"/>
                <a:ea typeface="Liberation Sans"/>
                <a:cs typeface="Liberation Sans"/>
              </a:defRPr>
            </a:lvl4pPr>
            <a:lvl5pPr>
              <a:defRPr sz="3600" b="1">
                <a:solidFill>
                  <a:srgbClr val="172C42"/>
                </a:solidFill>
                <a:latin typeface="Liberation Sans"/>
                <a:ea typeface="Liberation Sans"/>
                <a:cs typeface="Liberation Sans"/>
              </a:defRPr>
            </a:lvl5pPr>
            <a:lvl6pPr>
              <a:defRPr sz="3600" b="1">
                <a:solidFill>
                  <a:srgbClr val="172C42"/>
                </a:solidFill>
                <a:latin typeface="Liberation Sans"/>
                <a:ea typeface="Liberation Sans"/>
                <a:cs typeface="Liberation Sans"/>
              </a:defRPr>
            </a:lvl6pPr>
            <a:lvl7pPr>
              <a:defRPr sz="3600" b="1">
                <a:solidFill>
                  <a:srgbClr val="172C42"/>
                </a:solidFill>
                <a:latin typeface="Liberation Sans"/>
                <a:ea typeface="Liberation Sans"/>
                <a:cs typeface="Liberation Sans"/>
              </a:defRPr>
            </a:lvl7pPr>
            <a:lvl8pPr>
              <a:defRPr sz="3600" b="1">
                <a:solidFill>
                  <a:srgbClr val="172C42"/>
                </a:solidFill>
                <a:latin typeface="Liberation Sans"/>
                <a:ea typeface="Liberation Sans"/>
                <a:cs typeface="Liberation Sans"/>
              </a:defRPr>
            </a:lvl8pPr>
            <a:lvl9pPr>
              <a:defRPr sz="3600" b="1">
                <a:solidFill>
                  <a:srgbClr val="172C42"/>
                </a:solidFill>
                <a:latin typeface="Liberation Sans"/>
                <a:ea typeface="Liberation Sans"/>
                <a:cs typeface="Liberation Sans"/>
              </a:defRPr>
            </a:lvl9pPr>
          </a:lstStyle>
          <a:p xmlns:a="http://schemas.openxmlformats.org/drawingml/2006/main">
            <a:pPr>
              <a:defRPr sz="3600" b="1">
                <a:solidFill>
                  <a:srgbClr val="172C42"/>
                </a:solidFill>
                <a:latin typeface="Liberation Sans"/>
                <a:ea typeface="Liberation Sans"/>
                <a:cs typeface="Liberation Sans"/>
              </a:defRPr>
            </a:pPr>
            <a:r>
              <a:rPr sz="3600" b="1">
                <a:solidFill>
                  <a:srgbClr val="172C42"/>
                </a:solidFill>
                <a:latin typeface="Liberation Sans"/>
                <a:ea typeface="Liberation Sans"/>
                <a:cs typeface="Liberation Sans"/>
              </a:rPr>
              <a:t>Confidence and distance measure different things</a:t>
            </a:r>
          </a:p>
        </p:txBody>
      </p:sp>
      <p:sp>
        <p:nvSpPr>
          <p:cNvPr id="2" name="">
            <a:extLst xmlns:a="http://schemas.openxmlformats.org/drawingml/2006/main">
              <a:ext uri="{FF2B5EF4-FFF2-40B4-BE49-F238E27FC236}">
                <a16:creationId xmlns:a16="http://schemas.microsoft.com/office/drawing/2014/main" id="{B0C1AFDB-36E3-4C29-9913-43DEA6518828}"/>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D8D0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9158FA-5399-4A96-A223-2B1369B879DC}"/>
              </a:ext>
            </a:extLst>
          </p:cNvPr>
          <p:cNvSpPr>
            <a:spLocks xmlns:a="http://schemas.openxmlformats.org/drawingml/2006/main" noGrp="1"/>
          </p:cNvSpPr>
          <p:nvPr/>
        </p:nvSpPr>
        <p:spPr>
          <a:xfrm xmlns:a="http://schemas.openxmlformats.org/drawingml/2006/main">
            <a:off x="60960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Source: demo/app.py and the recorded global uncertainty study</a:t>
            </a:r>
          </a:p>
        </p:txBody>
      </p:sp>
      <p:sp>
        <p:nvSpPr>
          <p:cNvPr id="4" name="">
            <a:extLst xmlns:a="http://schemas.openxmlformats.org/drawingml/2006/main">
              <a:ext uri="{FF2B5EF4-FFF2-40B4-BE49-F238E27FC236}">
                <a16:creationId xmlns:a16="http://schemas.microsoft.com/office/drawing/2014/main" id="{6DF929AB-81CE-427A-963F-816DC02D950C}"/>
              </a:ext>
            </a:extLst>
          </p:cNvPr>
          <p:cNvSpPr>
            <a:spLocks xmlns:a="http://schemas.openxmlformats.org/drawingml/2006/main" noGrp="1"/>
          </p:cNvSpPr>
          <p:nvPr/>
        </p:nvSpPr>
        <p:spPr>
          <a:xfrm xmlns:a="http://schemas.openxmlformats.org/drawingml/2006/main">
            <a:off x="11191875"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9</a:t>
            </a:r>
          </a:p>
        </p:txBody>
      </p:sp>
      <p:graphicFrame>
        <p:nvGraphicFramePr>
          <p:cNvPr id="5" name="">
            <a:extLst xmlns:a="http://schemas.openxmlformats.org/drawingml/2006/main">
              <a:ext uri="{FF2B5EF4-FFF2-40B4-BE49-F238E27FC236}">
                <a16:creationId xmlns:a16="http://schemas.microsoft.com/office/drawing/2014/main" id="{CD539B97-8AFA-46A0-A910-D6E12053C9B8}"/>
              </a:ext>
            </a:extLst>
          </p:cNvPr>
          <p:cNvGraphicFramePr/>
          <p:nvPr/>
        </p:nvGraphicFramePr>
        <p:xfrm>
          <a:off xmlns:a="http://schemas.openxmlformats.org/drawingml/2006/main" x="609600" y="1714500"/>
          <a:ext xmlns:a="http://schemas.openxmlformats.org/drawingml/2006/main" cx="10820400" cy="3381375"/>
        </p:xfrm>
        <a:graphic xmlns:a="http://schemas.openxmlformats.org/drawingml/2006/main">
          <a:graphicData uri="http://schemas.openxmlformats.org/drawingml/2006/table">
            <a:tbl>
              <a:tblPr/>
              <a:tblGrid>
                <a:gridCol w="3714750"/>
                <a:gridCol w="7105650"/>
              </a:tblGrid>
              <a:tr h="845344">
                <a:tc>
                  <a:txBody>
                    <a:bodyPr lIns="152400" tIns="152400" rIns="152400" bIns="152400"/>
                    <a:lstStyle/>
                    <a:p>
                      <a:r>
                        <a:rPr sz="1950" b="1">
                          <a:solidFill>
                            <a:srgbClr val="FFFCF7"/>
                          </a:solidFill>
                          <a:latin typeface="Liberation Sans"/>
                          <a:ea typeface="Liberation Sans"/>
                          <a:cs typeface="Liberation Sans"/>
                        </a:rPr>
                        <a:t>Quantity</a:t>
                      </a:r>
                    </a:p>
                  </a:txBody>
                  <a:tcPr marL="91440" marR="91440" marT="45720" marB="45720" anchor="ctr">
                    <a:solidFill>
                      <a:srgbClr val="172C42"/>
                    </a:solidFill>
                  </a:tcPr>
                </a:tc>
                <a:tc>
                  <a:txBody>
                    <a:bodyPr lIns="152400" tIns="152400" rIns="152400" bIns="152400"/>
                    <a:lstStyle/>
                    <a:p>
                      <a:r>
                        <a:rPr sz="1950" b="1">
                          <a:solidFill>
                            <a:srgbClr val="FFFCF7"/>
                          </a:solidFill>
                          <a:latin typeface="Liberation Sans"/>
                          <a:ea typeface="Liberation Sans"/>
                          <a:cs typeface="Liberation Sans"/>
                        </a:rPr>
                        <a:t>What it measures</a:t>
                      </a:r>
                    </a:p>
                  </a:txBody>
                  <a:tcPr marL="91440" marR="91440" marT="45720" marB="45720" anchor="ctr">
                    <a:solidFill>
                      <a:srgbClr val="172C42"/>
                    </a:solidFill>
                  </a:tcPr>
                </a:tc>
              </a:tr>
              <a:tr h="845344">
                <a:tc>
                  <a:txBody>
                    <a:bodyPr lIns="152400" tIns="152400" rIns="152400" bIns="152400"/>
                    <a:lstStyle/>
                    <a:p>
                      <a:r>
                        <a:rPr sz="1950" b="0">
                          <a:solidFill>
                            <a:srgbClr val="172C42"/>
                          </a:solidFill>
                          <a:latin typeface="Liberation Sans"/>
                          <a:ea typeface="Liberation Sans"/>
                          <a:cs typeface="Liberation Sans"/>
                        </a:rPr>
                        <a:t>Raw model score</a:t>
                      </a:r>
                    </a:p>
                  </a:txBody>
                  <a:tcPr marL="91440" marR="91440" marT="45720" marB="45720" anchor="ctr">
                    <a:solidFill>
                      <a:srgbClr val="FFFCF7"/>
                    </a:solidFill>
                  </a:tcPr>
                </a:tc>
                <a:tc>
                  <a:txBody>
                    <a:bodyPr lIns="152400" tIns="152400" rIns="152400" bIns="152400"/>
                    <a:lstStyle/>
                    <a:p>
                      <a:r>
                        <a:rPr sz="1950" b="0">
                          <a:solidFill>
                            <a:srgbClr val="172C42"/>
                          </a:solidFill>
                          <a:latin typeface="Liberation Sans"/>
                          <a:ea typeface="Liberation Sans"/>
                          <a:cs typeface="Liberation Sans"/>
                        </a:rPr>
                        <a:t>Relative preference among cells</a:t>
                      </a:r>
                    </a:p>
                  </a:txBody>
                  <a:tcPr marL="91440" marR="91440" marT="45720" marB="45720" anchor="ctr">
                    <a:solidFill>
                      <a:srgbClr val="FFFCF7"/>
                    </a:solidFill>
                  </a:tcPr>
                </a:tc>
              </a:tr>
              <a:tr h="845344">
                <a:tc>
                  <a:txBody>
                    <a:bodyPr lIns="152400" tIns="152400" rIns="152400" bIns="152400"/>
                    <a:lstStyle/>
                    <a:p>
                      <a:r>
                        <a:rPr sz="1950" b="0">
                          <a:solidFill>
                            <a:srgbClr val="172C42"/>
                          </a:solidFill>
                          <a:latin typeface="Liberation Sans"/>
                          <a:ea typeface="Liberation Sans"/>
                          <a:cs typeface="Liberation Sans"/>
                        </a:rPr>
                        <a:t>Within-25-km accuracy</a:t>
                      </a:r>
                    </a:p>
                  </a:txBody>
                  <a:tcPr marL="91440" marR="91440" marT="45720" marB="45720" anchor="ctr">
                    <a:solidFill>
                      <a:srgbClr val="F5F1E8"/>
                    </a:solidFill>
                  </a:tcPr>
                </a:tc>
                <a:tc>
                  <a:txBody>
                    <a:bodyPr lIns="152400" tIns="152400" rIns="152400" bIns="152400"/>
                    <a:lstStyle/>
                    <a:p>
                      <a:r>
                        <a:rPr sz="1950" b="0">
                          <a:solidFill>
                            <a:srgbClr val="172C42"/>
                          </a:solidFill>
                          <a:latin typeface="Liberation Sans"/>
                          <a:ea typeface="Liberation Sans"/>
                          <a:cs typeface="Liberation Sans"/>
                        </a:rPr>
                        <a:t>Labeled test locations near enough</a:t>
                      </a:r>
                    </a:p>
                  </a:txBody>
                  <a:tcPr marL="91440" marR="91440" marT="45720" marB="45720" anchor="ctr">
                    <a:solidFill>
                      <a:srgbClr val="F5F1E8"/>
                    </a:solidFill>
                  </a:tcPr>
                </a:tc>
              </a:tr>
              <a:tr h="845344">
                <a:tc>
                  <a:txBody>
                    <a:bodyPr lIns="152400" tIns="152400" rIns="152400" bIns="152400"/>
                    <a:lstStyle/>
                    <a:p>
                      <a:r>
                        <a:rPr sz="1950" b="0">
                          <a:solidFill>
                            <a:srgbClr val="172C42"/>
                          </a:solidFill>
                          <a:latin typeface="Liberation Sans"/>
                          <a:ea typeface="Liberation Sans"/>
                          <a:cs typeface="Liberation Sans"/>
                        </a:rPr>
                        <a:t>Conformal coverage</a:t>
                      </a:r>
                    </a:p>
                  </a:txBody>
                  <a:tcPr marL="91440" marR="91440" marT="45720" marB="45720" anchor="ctr">
                    <a:solidFill>
                      <a:srgbClr val="FFFCF7"/>
                    </a:solidFill>
                  </a:tcPr>
                </a:tc>
                <a:tc>
                  <a:txBody>
                    <a:bodyPr lIns="152400" tIns="152400" rIns="152400" bIns="152400"/>
                    <a:lstStyle/>
                    <a:p>
                      <a:r>
                        <a:rPr sz="1950" b="0">
                          <a:solidFill>
                            <a:srgbClr val="172C42"/>
                          </a:solidFill>
                          <a:latin typeface="Liberation Sans"/>
                          <a:ea typeface="Liberation Sans"/>
                          <a:cs typeface="Liberation Sans"/>
                        </a:rPr>
                        <a:t>Truth appears in the candidate set</a:t>
                      </a:r>
                    </a:p>
                  </a:txBody>
                  <a:tcPr marL="91440" marR="91440" marT="45720" marB="45720" anchor="ctr">
                    <a:solidFill>
                      <a:srgbClr val="FFFCF7"/>
                    </a:solidFill>
                  </a:tcPr>
                </a:tc>
              </a:tr>
            </a:tbl>
          </a:graphicData>
        </a:graphic>
      </p:graphicFrame>
      <p:sp>
        <p:nvSpPr>
          <p:cNvPr id="6" name="">
            <a:extLst xmlns:a="http://schemas.openxmlformats.org/drawingml/2006/main">
              <a:ext uri="{FF2B5EF4-FFF2-40B4-BE49-F238E27FC236}">
                <a16:creationId xmlns:a16="http://schemas.microsoft.com/office/drawing/2014/main" id="{509EEA11-60CA-40B2-86C6-AC1D73AEC683}"/>
              </a:ext>
            </a:extLst>
          </p:cNvPr>
          <p:cNvSpPr>
            <a:spLocks xmlns:a="http://schemas.openxmlformats.org/drawingml/2006/main" noGrp="1"/>
          </p:cNvSpPr>
          <p:nvPr/>
        </p:nvSpPr>
        <p:spPr>
          <a:xfrm xmlns:a="http://schemas.openxmlformats.org/drawingml/2006/main">
            <a:off x="609600" y="55245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D5663F"/>
                </a:solidFill>
                <a:latin typeface="Liberation Sans"/>
                <a:ea typeface="Liberation Sans"/>
                <a:cs typeface="Liberation Sans"/>
              </a:defRPr>
            </a:defPPr>
            <a:lvl1pPr>
              <a:defRPr sz="2325" b="1">
                <a:solidFill>
                  <a:srgbClr val="D5663F"/>
                </a:solidFill>
                <a:latin typeface="Liberation Sans"/>
                <a:ea typeface="Liberation Sans"/>
                <a:cs typeface="Liberation Sans"/>
              </a:defRPr>
            </a:lvl1pPr>
            <a:lvl2pPr>
              <a:defRPr sz="2325" b="1">
                <a:solidFill>
                  <a:srgbClr val="D5663F"/>
                </a:solidFill>
                <a:latin typeface="Liberation Sans"/>
                <a:ea typeface="Liberation Sans"/>
                <a:cs typeface="Liberation Sans"/>
              </a:defRPr>
            </a:lvl2pPr>
            <a:lvl3pPr>
              <a:defRPr sz="2325" b="1">
                <a:solidFill>
                  <a:srgbClr val="D5663F"/>
                </a:solidFill>
                <a:latin typeface="Liberation Sans"/>
                <a:ea typeface="Liberation Sans"/>
                <a:cs typeface="Liberation Sans"/>
              </a:defRPr>
            </a:lvl3pPr>
            <a:lvl4pPr>
              <a:defRPr sz="2325" b="1">
                <a:solidFill>
                  <a:srgbClr val="D5663F"/>
                </a:solidFill>
                <a:latin typeface="Liberation Sans"/>
                <a:ea typeface="Liberation Sans"/>
                <a:cs typeface="Liberation Sans"/>
              </a:defRPr>
            </a:lvl4pPr>
            <a:lvl5pPr>
              <a:defRPr sz="2325" b="1">
                <a:solidFill>
                  <a:srgbClr val="D5663F"/>
                </a:solidFill>
                <a:latin typeface="Liberation Sans"/>
                <a:ea typeface="Liberation Sans"/>
                <a:cs typeface="Liberation Sans"/>
              </a:defRPr>
            </a:lvl5pPr>
            <a:lvl6pPr>
              <a:defRPr sz="2325" b="1">
                <a:solidFill>
                  <a:srgbClr val="D5663F"/>
                </a:solidFill>
                <a:latin typeface="Liberation Sans"/>
                <a:ea typeface="Liberation Sans"/>
                <a:cs typeface="Liberation Sans"/>
              </a:defRPr>
            </a:lvl6pPr>
            <a:lvl7pPr>
              <a:defRPr sz="2325" b="1">
                <a:solidFill>
                  <a:srgbClr val="D5663F"/>
                </a:solidFill>
                <a:latin typeface="Liberation Sans"/>
                <a:ea typeface="Liberation Sans"/>
                <a:cs typeface="Liberation Sans"/>
              </a:defRPr>
            </a:lvl7pPr>
            <a:lvl8pPr>
              <a:defRPr sz="2325" b="1">
                <a:solidFill>
                  <a:srgbClr val="D5663F"/>
                </a:solidFill>
                <a:latin typeface="Liberation Sans"/>
                <a:ea typeface="Liberation Sans"/>
                <a:cs typeface="Liberation Sans"/>
              </a:defRPr>
            </a:lvl8pPr>
            <a:lvl9pPr>
              <a:defRPr sz="2325" b="1">
                <a:solidFill>
                  <a:srgbClr val="D5663F"/>
                </a:solidFill>
                <a:latin typeface="Liberation Sans"/>
                <a:ea typeface="Liberation Sans"/>
                <a:cs typeface="Liberation Sans"/>
              </a:defRPr>
            </a:lvl9pPr>
          </a:lstStyle>
          <a:p xmlns:a="http://schemas.openxmlformats.org/drawingml/2006/main">
            <a:pPr>
              <a:defRPr sz="2325" b="1">
                <a:solidFill>
                  <a:srgbClr val="D5663F"/>
                </a:solidFill>
                <a:latin typeface="Liberation Sans"/>
                <a:ea typeface="Liberation Sans"/>
                <a:cs typeface="Liberation Sans"/>
              </a:defRPr>
            </a:pPr>
            <a:r>
              <a:rPr sz="2325" b="1">
                <a:solidFill>
                  <a:srgbClr val="D5663F"/>
                </a:solidFill>
                <a:latin typeface="Liberation Sans"/>
                <a:ea typeface="Liberation Sans"/>
                <a:cs typeface="Liberation Sans"/>
              </a:rPr>
              <a:t>Kerala scores remain uncalibrated</a:t>
            </a:r>
          </a:p>
        </p:txBody>
      </p:sp>
    </p:spTree>
    <p:extLst>
      <p:ext uri="{BB962C8B-B14F-4D97-AF65-F5344CB8AC3E}">
        <p14:creationId xmlns:p14="http://schemas.microsoft.com/office/powerpoint/2010/main" val="1035736220"/>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6CB8673-3F62-4423-A187-8559C64A481A}"/>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2C42"/>
                </a:solidFill>
                <a:latin typeface="Liberation Sans"/>
                <a:ea typeface="Liberation Sans"/>
                <a:cs typeface="Liberation Sans"/>
              </a:defRPr>
            </a:defPPr>
            <a:lvl1pPr>
              <a:defRPr sz="3600" b="1">
                <a:solidFill>
                  <a:srgbClr val="172C42"/>
                </a:solidFill>
                <a:latin typeface="Liberation Sans"/>
                <a:ea typeface="Liberation Sans"/>
                <a:cs typeface="Liberation Sans"/>
              </a:defRPr>
            </a:lvl1pPr>
            <a:lvl2pPr>
              <a:defRPr sz="3600" b="1">
                <a:solidFill>
                  <a:srgbClr val="172C42"/>
                </a:solidFill>
                <a:latin typeface="Liberation Sans"/>
                <a:ea typeface="Liberation Sans"/>
                <a:cs typeface="Liberation Sans"/>
              </a:defRPr>
            </a:lvl2pPr>
            <a:lvl3pPr>
              <a:defRPr sz="3600" b="1">
                <a:solidFill>
                  <a:srgbClr val="172C42"/>
                </a:solidFill>
                <a:latin typeface="Liberation Sans"/>
                <a:ea typeface="Liberation Sans"/>
                <a:cs typeface="Liberation Sans"/>
              </a:defRPr>
            </a:lvl3pPr>
            <a:lvl4pPr>
              <a:defRPr sz="3600" b="1">
                <a:solidFill>
                  <a:srgbClr val="172C42"/>
                </a:solidFill>
                <a:latin typeface="Liberation Sans"/>
                <a:ea typeface="Liberation Sans"/>
                <a:cs typeface="Liberation Sans"/>
              </a:defRPr>
            </a:lvl4pPr>
            <a:lvl5pPr>
              <a:defRPr sz="3600" b="1">
                <a:solidFill>
                  <a:srgbClr val="172C42"/>
                </a:solidFill>
                <a:latin typeface="Liberation Sans"/>
                <a:ea typeface="Liberation Sans"/>
                <a:cs typeface="Liberation Sans"/>
              </a:defRPr>
            </a:lvl5pPr>
            <a:lvl6pPr>
              <a:defRPr sz="3600" b="1">
                <a:solidFill>
                  <a:srgbClr val="172C42"/>
                </a:solidFill>
                <a:latin typeface="Liberation Sans"/>
                <a:ea typeface="Liberation Sans"/>
                <a:cs typeface="Liberation Sans"/>
              </a:defRPr>
            </a:lvl6pPr>
            <a:lvl7pPr>
              <a:defRPr sz="3600" b="1">
                <a:solidFill>
                  <a:srgbClr val="172C42"/>
                </a:solidFill>
                <a:latin typeface="Liberation Sans"/>
                <a:ea typeface="Liberation Sans"/>
                <a:cs typeface="Liberation Sans"/>
              </a:defRPr>
            </a:lvl7pPr>
            <a:lvl8pPr>
              <a:defRPr sz="3600" b="1">
                <a:solidFill>
                  <a:srgbClr val="172C42"/>
                </a:solidFill>
                <a:latin typeface="Liberation Sans"/>
                <a:ea typeface="Liberation Sans"/>
                <a:cs typeface="Liberation Sans"/>
              </a:defRPr>
            </a:lvl8pPr>
            <a:lvl9pPr>
              <a:defRPr sz="3600" b="1">
                <a:solidFill>
                  <a:srgbClr val="172C42"/>
                </a:solidFill>
                <a:latin typeface="Liberation Sans"/>
                <a:ea typeface="Liberation Sans"/>
                <a:cs typeface="Liberation Sans"/>
              </a:defRPr>
            </a:lvl9pPr>
          </a:lstStyle>
          <a:p xmlns:a="http://schemas.openxmlformats.org/drawingml/2006/main">
            <a:pPr>
              <a:defRPr sz="3600" b="1">
                <a:solidFill>
                  <a:srgbClr val="172C42"/>
                </a:solidFill>
                <a:latin typeface="Liberation Sans"/>
                <a:ea typeface="Liberation Sans"/>
                <a:cs typeface="Liberation Sans"/>
              </a:defRPr>
            </a:pPr>
            <a:r>
              <a:rPr sz="3600" b="1">
                <a:solidFill>
                  <a:srgbClr val="172C42"/>
                </a:solidFill>
                <a:latin typeface="Liberation Sans"/>
                <a:ea typeface="Liberation Sans"/>
                <a:cs typeface="Liberation Sans"/>
              </a:rPr>
              <a:t>The ETH paper adds aerial imagery and retrieval</a:t>
            </a:r>
          </a:p>
        </p:txBody>
      </p:sp>
      <p:sp>
        <p:nvSpPr>
          <p:cNvPr id="2" name="">
            <a:extLst xmlns:a="http://schemas.openxmlformats.org/drawingml/2006/main">
              <a:ext uri="{FF2B5EF4-FFF2-40B4-BE49-F238E27FC236}">
                <a16:creationId xmlns:a16="http://schemas.microsoft.com/office/drawing/2014/main" id="{291B415E-102D-4B44-A0E6-7BB01AF973CE}"/>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D8D0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C12F57-EEA0-4793-95C8-222036AC5E1C}"/>
              </a:ext>
            </a:extLst>
          </p:cNvPr>
          <p:cNvSpPr>
            <a:spLocks xmlns:a="http://schemas.openxmlformats.org/drawingml/2006/main" noGrp="1"/>
          </p:cNvSpPr>
          <p:nvPr/>
        </p:nvSpPr>
        <p:spPr>
          <a:xfrm xmlns:a="http://schemas.openxmlformats.org/drawingml/2006/main">
            <a:off x="60960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Source: Lindenberger et al., NeurIPS 2025. arXiv:2510.26795.</a:t>
            </a:r>
          </a:p>
        </p:txBody>
      </p:sp>
      <p:sp>
        <p:nvSpPr>
          <p:cNvPr id="4" name="">
            <a:extLst xmlns:a="http://schemas.openxmlformats.org/drawingml/2006/main">
              <a:ext uri="{FF2B5EF4-FFF2-40B4-BE49-F238E27FC236}">
                <a16:creationId xmlns:a16="http://schemas.microsoft.com/office/drawing/2014/main" id="{63A4F376-786D-41FE-AD35-1F000E447788}"/>
              </a:ext>
            </a:extLst>
          </p:cNvPr>
          <p:cNvSpPr>
            <a:spLocks xmlns:a="http://schemas.openxmlformats.org/drawingml/2006/main" noGrp="1"/>
          </p:cNvSpPr>
          <p:nvPr/>
        </p:nvSpPr>
        <p:spPr>
          <a:xfrm xmlns:a="http://schemas.openxmlformats.org/drawingml/2006/main">
            <a:off x="11191875"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10</a:t>
            </a:r>
          </a:p>
        </p:txBody>
      </p:sp>
      <p:sp>
        <p:nvSpPr>
          <p:cNvPr id="5" name="">
            <a:extLst xmlns:a="http://schemas.openxmlformats.org/drawingml/2006/main">
              <a:ext uri="{FF2B5EF4-FFF2-40B4-BE49-F238E27FC236}">
                <a16:creationId xmlns:a16="http://schemas.microsoft.com/office/drawing/2014/main" id="{CC53CD15-85E9-414A-B92A-7AB2A76B8DF4}"/>
              </a:ext>
            </a:extLst>
          </p:cNvPr>
          <p:cNvSpPr>
            <a:spLocks xmlns:a="http://schemas.openxmlformats.org/drawingml/2006/main" noGrp="1"/>
          </p:cNvSpPr>
          <p:nvPr/>
        </p:nvSpPr>
        <p:spPr>
          <a:xfrm xmlns:a="http://schemas.openxmlformats.org/drawingml/2006/main">
            <a:off x="609600" y="18097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2C42"/>
                </a:solidFill>
                <a:latin typeface="Liberation Sans"/>
                <a:ea typeface="Liberation Sans"/>
                <a:cs typeface="Liberation Sans"/>
              </a:defRPr>
            </a:defPPr>
            <a:lvl1pPr>
              <a:defRPr sz="2550" b="1">
                <a:solidFill>
                  <a:srgbClr val="172C42"/>
                </a:solidFill>
                <a:latin typeface="Liberation Sans"/>
                <a:ea typeface="Liberation Sans"/>
                <a:cs typeface="Liberation Sans"/>
              </a:defRPr>
            </a:lvl1pPr>
            <a:lvl2pPr>
              <a:defRPr sz="2550" b="1">
                <a:solidFill>
                  <a:srgbClr val="172C42"/>
                </a:solidFill>
                <a:latin typeface="Liberation Sans"/>
                <a:ea typeface="Liberation Sans"/>
                <a:cs typeface="Liberation Sans"/>
              </a:defRPr>
            </a:lvl2pPr>
            <a:lvl3pPr>
              <a:defRPr sz="2550" b="1">
                <a:solidFill>
                  <a:srgbClr val="172C42"/>
                </a:solidFill>
                <a:latin typeface="Liberation Sans"/>
                <a:ea typeface="Liberation Sans"/>
                <a:cs typeface="Liberation Sans"/>
              </a:defRPr>
            </a:lvl3pPr>
            <a:lvl4pPr>
              <a:defRPr sz="2550" b="1">
                <a:solidFill>
                  <a:srgbClr val="172C42"/>
                </a:solidFill>
                <a:latin typeface="Liberation Sans"/>
                <a:ea typeface="Liberation Sans"/>
                <a:cs typeface="Liberation Sans"/>
              </a:defRPr>
            </a:lvl4pPr>
            <a:lvl5pPr>
              <a:defRPr sz="2550" b="1">
                <a:solidFill>
                  <a:srgbClr val="172C42"/>
                </a:solidFill>
                <a:latin typeface="Liberation Sans"/>
                <a:ea typeface="Liberation Sans"/>
                <a:cs typeface="Liberation Sans"/>
              </a:defRPr>
            </a:lvl5pPr>
            <a:lvl6pPr>
              <a:defRPr sz="2550" b="1">
                <a:solidFill>
                  <a:srgbClr val="172C42"/>
                </a:solidFill>
                <a:latin typeface="Liberation Sans"/>
                <a:ea typeface="Liberation Sans"/>
                <a:cs typeface="Liberation Sans"/>
              </a:defRPr>
            </a:lvl6pPr>
            <a:lvl7pPr>
              <a:defRPr sz="2550" b="1">
                <a:solidFill>
                  <a:srgbClr val="172C42"/>
                </a:solidFill>
                <a:latin typeface="Liberation Sans"/>
                <a:ea typeface="Liberation Sans"/>
                <a:cs typeface="Liberation Sans"/>
              </a:defRPr>
            </a:lvl7pPr>
            <a:lvl8pPr>
              <a:defRPr sz="2550" b="1">
                <a:solidFill>
                  <a:srgbClr val="172C42"/>
                </a:solidFill>
                <a:latin typeface="Liberation Sans"/>
                <a:ea typeface="Liberation Sans"/>
                <a:cs typeface="Liberation Sans"/>
              </a:defRPr>
            </a:lvl8pPr>
            <a:lvl9pPr>
              <a:defRPr sz="2550" b="1">
                <a:solidFill>
                  <a:srgbClr val="172C42"/>
                </a:solidFill>
                <a:latin typeface="Liberation Sans"/>
                <a:ea typeface="Liberation Sans"/>
                <a:cs typeface="Liberation Sans"/>
              </a:defRPr>
            </a:lvl9pPr>
          </a:lstStyle>
          <a:p xmlns:a="http://schemas.openxmlformats.org/drawingml/2006/main">
            <a:pPr>
              <a:defRPr sz="2550" b="1">
                <a:solidFill>
                  <a:srgbClr val="172C42"/>
                </a:solidFill>
                <a:latin typeface="Liberation Sans"/>
                <a:ea typeface="Liberation Sans"/>
                <a:cs typeface="Liberation Sans"/>
              </a:defRPr>
            </a:pPr>
            <a:r>
              <a:rPr sz="2550" b="1">
                <a:solidFill>
                  <a:srgbClr val="172C42"/>
                </a:solidFill>
                <a:latin typeface="Liberation Sans"/>
                <a:ea typeface="Liberation Sans"/>
                <a:cs typeface="Liberation Sans"/>
              </a:rPr>
              <a:t>KPlaceNet</a:t>
            </a:r>
          </a:p>
        </p:txBody>
      </p:sp>
      <p:sp>
        <p:nvSpPr>
          <p:cNvPr id="6" name="">
            <a:extLst xmlns:a="http://schemas.openxmlformats.org/drawingml/2006/main">
              <a:ext uri="{FF2B5EF4-FFF2-40B4-BE49-F238E27FC236}">
                <a16:creationId xmlns:a16="http://schemas.microsoft.com/office/drawing/2014/main" id="{4FCEBCDE-FFA9-4C08-B463-3CCBA60CC5A3}"/>
              </a:ext>
            </a:extLst>
          </p:cNvPr>
          <p:cNvSpPr>
            <a:spLocks xmlns:a="http://schemas.openxmlformats.org/drawingml/2006/main" noGrp="1"/>
          </p:cNvSpPr>
          <p:nvPr/>
        </p:nvSpPr>
        <p:spPr>
          <a:xfrm xmlns:a="http://schemas.openxmlformats.org/drawingml/2006/main">
            <a:off x="609600" y="2809875"/>
            <a:ext cx="2714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C42"/>
                </a:solidFill>
                <a:latin typeface="Liberation Sans"/>
                <a:ea typeface="Liberation Sans"/>
                <a:cs typeface="Liberation Sans"/>
              </a:defRPr>
            </a:defPPr>
            <a:lvl1pPr>
              <a:defRPr sz="2325" b="0">
                <a:solidFill>
                  <a:srgbClr val="172C42"/>
                </a:solidFill>
                <a:latin typeface="Liberation Sans"/>
                <a:ea typeface="Liberation Sans"/>
                <a:cs typeface="Liberation Sans"/>
              </a:defRPr>
            </a:lvl1pPr>
            <a:lvl2pPr>
              <a:defRPr sz="2325" b="0">
                <a:solidFill>
                  <a:srgbClr val="172C42"/>
                </a:solidFill>
                <a:latin typeface="Liberation Sans"/>
                <a:ea typeface="Liberation Sans"/>
                <a:cs typeface="Liberation Sans"/>
              </a:defRPr>
            </a:lvl2pPr>
            <a:lvl3pPr>
              <a:defRPr sz="2325" b="0">
                <a:solidFill>
                  <a:srgbClr val="172C42"/>
                </a:solidFill>
                <a:latin typeface="Liberation Sans"/>
                <a:ea typeface="Liberation Sans"/>
                <a:cs typeface="Liberation Sans"/>
              </a:defRPr>
            </a:lvl3pPr>
            <a:lvl4pPr>
              <a:defRPr sz="2325" b="0">
                <a:solidFill>
                  <a:srgbClr val="172C42"/>
                </a:solidFill>
                <a:latin typeface="Liberation Sans"/>
                <a:ea typeface="Liberation Sans"/>
                <a:cs typeface="Liberation Sans"/>
              </a:defRPr>
            </a:lvl4pPr>
            <a:lvl5pPr>
              <a:defRPr sz="2325" b="0">
                <a:solidFill>
                  <a:srgbClr val="172C42"/>
                </a:solidFill>
                <a:latin typeface="Liberation Sans"/>
                <a:ea typeface="Liberation Sans"/>
                <a:cs typeface="Liberation Sans"/>
              </a:defRPr>
            </a:lvl5pPr>
            <a:lvl6pPr>
              <a:defRPr sz="2325" b="0">
                <a:solidFill>
                  <a:srgbClr val="172C42"/>
                </a:solidFill>
                <a:latin typeface="Liberation Sans"/>
                <a:ea typeface="Liberation Sans"/>
                <a:cs typeface="Liberation Sans"/>
              </a:defRPr>
            </a:lvl6pPr>
            <a:lvl7pPr>
              <a:defRPr sz="2325" b="0">
                <a:solidFill>
                  <a:srgbClr val="172C42"/>
                </a:solidFill>
                <a:latin typeface="Liberation Sans"/>
                <a:ea typeface="Liberation Sans"/>
                <a:cs typeface="Liberation Sans"/>
              </a:defRPr>
            </a:lvl7pPr>
            <a:lvl8pPr>
              <a:defRPr sz="2325" b="0">
                <a:solidFill>
                  <a:srgbClr val="172C42"/>
                </a:solidFill>
                <a:latin typeface="Liberation Sans"/>
                <a:ea typeface="Liberation Sans"/>
                <a:cs typeface="Liberation Sans"/>
              </a:defRPr>
            </a:lvl8pPr>
            <a:lvl9pPr>
              <a:defRPr sz="2325" b="0">
                <a:solidFill>
                  <a:srgbClr val="172C42"/>
                </a:solidFill>
                <a:latin typeface="Liberation Sans"/>
                <a:ea typeface="Liberation Sans"/>
                <a:cs typeface="Liberation Sans"/>
              </a:defRPr>
            </a:lvl9pPr>
          </a:lstStyle>
          <a:p xmlns:a="http://schemas.openxmlformats.org/drawingml/2006/main">
            <a:pPr>
              <a:defRPr sz="2325" b="0">
                <a:solidFill>
                  <a:srgbClr val="172C42"/>
                </a:solidFill>
                <a:latin typeface="Liberation Sans"/>
                <a:ea typeface="Liberation Sans"/>
                <a:cs typeface="Liberation Sans"/>
              </a:defRPr>
            </a:pPr>
            <a:r>
              <a:rPr sz="2325" b="0">
                <a:solidFill>
                  <a:srgbClr val="172C42"/>
                </a:solidFill>
                <a:latin typeface="Liberation Sans"/>
                <a:ea typeface="Liberation Sans"/>
                <a:cs typeface="Liberation Sans"/>
              </a:rPr>
              <a:t>Image features</a:t>
            </a:r>
          </a:p>
        </p:txBody>
      </p:sp>
      <p:sp>
        <p:nvSpPr>
          <p:cNvPr id="7" name="">
            <a:extLst xmlns:a="http://schemas.openxmlformats.org/drawingml/2006/main">
              <a:ext uri="{FF2B5EF4-FFF2-40B4-BE49-F238E27FC236}">
                <a16:creationId xmlns:a16="http://schemas.microsoft.com/office/drawing/2014/main" id="{DF9F6411-1BCD-44DA-B913-1A5A2D2B3542}"/>
              </a:ext>
            </a:extLst>
          </p:cNvPr>
          <p:cNvSpPr>
            <a:spLocks xmlns:a="http://schemas.openxmlformats.org/drawingml/2006/main" noGrp="1"/>
          </p:cNvSpPr>
          <p:nvPr/>
        </p:nvSpPr>
        <p:spPr>
          <a:xfrm xmlns:a="http://schemas.openxmlformats.org/drawingml/2006/main">
            <a:off x="3333750" y="3000375"/>
            <a:ext cx="666750" cy="238125"/>
          </a:xfrm>
          <a:prstGeom xmlns:a="http://schemas.openxmlformats.org/drawingml/2006/main" prst="rightArrow">
            <a:avLst/>
          </a:prstGeom>
          <a:solidFill xmlns:a="http://schemas.openxmlformats.org/drawingml/2006/main">
            <a:srgbClr val="D5663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68218C3-0288-44DD-A033-9EC06A0E4F89}"/>
              </a:ext>
            </a:extLst>
          </p:cNvPr>
          <p:cNvSpPr>
            <a:spLocks xmlns:a="http://schemas.openxmlformats.org/drawingml/2006/main" noGrp="1"/>
          </p:cNvSpPr>
          <p:nvPr/>
        </p:nvSpPr>
        <p:spPr>
          <a:xfrm xmlns:a="http://schemas.openxmlformats.org/drawingml/2006/main">
            <a:off x="4381500" y="2809875"/>
            <a:ext cx="2714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C42"/>
                </a:solidFill>
                <a:latin typeface="Liberation Sans"/>
                <a:ea typeface="Liberation Sans"/>
                <a:cs typeface="Liberation Sans"/>
              </a:defRPr>
            </a:defPPr>
            <a:lvl1pPr>
              <a:defRPr sz="2325" b="0">
                <a:solidFill>
                  <a:srgbClr val="172C42"/>
                </a:solidFill>
                <a:latin typeface="Liberation Sans"/>
                <a:ea typeface="Liberation Sans"/>
                <a:cs typeface="Liberation Sans"/>
              </a:defRPr>
            </a:lvl1pPr>
            <a:lvl2pPr>
              <a:defRPr sz="2325" b="0">
                <a:solidFill>
                  <a:srgbClr val="172C42"/>
                </a:solidFill>
                <a:latin typeface="Liberation Sans"/>
                <a:ea typeface="Liberation Sans"/>
                <a:cs typeface="Liberation Sans"/>
              </a:defRPr>
            </a:lvl2pPr>
            <a:lvl3pPr>
              <a:defRPr sz="2325" b="0">
                <a:solidFill>
                  <a:srgbClr val="172C42"/>
                </a:solidFill>
                <a:latin typeface="Liberation Sans"/>
                <a:ea typeface="Liberation Sans"/>
                <a:cs typeface="Liberation Sans"/>
              </a:defRPr>
            </a:lvl3pPr>
            <a:lvl4pPr>
              <a:defRPr sz="2325" b="0">
                <a:solidFill>
                  <a:srgbClr val="172C42"/>
                </a:solidFill>
                <a:latin typeface="Liberation Sans"/>
                <a:ea typeface="Liberation Sans"/>
                <a:cs typeface="Liberation Sans"/>
              </a:defRPr>
            </a:lvl4pPr>
            <a:lvl5pPr>
              <a:defRPr sz="2325" b="0">
                <a:solidFill>
                  <a:srgbClr val="172C42"/>
                </a:solidFill>
                <a:latin typeface="Liberation Sans"/>
                <a:ea typeface="Liberation Sans"/>
                <a:cs typeface="Liberation Sans"/>
              </a:defRPr>
            </a:lvl5pPr>
            <a:lvl6pPr>
              <a:defRPr sz="2325" b="0">
                <a:solidFill>
                  <a:srgbClr val="172C42"/>
                </a:solidFill>
                <a:latin typeface="Liberation Sans"/>
                <a:ea typeface="Liberation Sans"/>
                <a:cs typeface="Liberation Sans"/>
              </a:defRPr>
            </a:lvl6pPr>
            <a:lvl7pPr>
              <a:defRPr sz="2325" b="0">
                <a:solidFill>
                  <a:srgbClr val="172C42"/>
                </a:solidFill>
                <a:latin typeface="Liberation Sans"/>
                <a:ea typeface="Liberation Sans"/>
                <a:cs typeface="Liberation Sans"/>
              </a:defRPr>
            </a:lvl7pPr>
            <a:lvl8pPr>
              <a:defRPr sz="2325" b="0">
                <a:solidFill>
                  <a:srgbClr val="172C42"/>
                </a:solidFill>
                <a:latin typeface="Liberation Sans"/>
                <a:ea typeface="Liberation Sans"/>
                <a:cs typeface="Liberation Sans"/>
              </a:defRPr>
            </a:lvl8pPr>
            <a:lvl9pPr>
              <a:defRPr sz="2325" b="0">
                <a:solidFill>
                  <a:srgbClr val="172C42"/>
                </a:solidFill>
                <a:latin typeface="Liberation Sans"/>
                <a:ea typeface="Liberation Sans"/>
                <a:cs typeface="Liberation Sans"/>
              </a:defRPr>
            </a:lvl9pPr>
          </a:lstStyle>
          <a:p xmlns:a="http://schemas.openxmlformats.org/drawingml/2006/main">
            <a:pPr>
              <a:defRPr sz="2325" b="0">
                <a:solidFill>
                  <a:srgbClr val="172C42"/>
                </a:solidFill>
                <a:latin typeface="Liberation Sans"/>
                <a:ea typeface="Liberation Sans"/>
                <a:cs typeface="Liberation Sans"/>
              </a:defRPr>
            </a:pPr>
            <a:r>
              <a:rPr sz="2325" b="0">
                <a:solidFill>
                  <a:srgbClr val="172C42"/>
                </a:solidFill>
                <a:latin typeface="Liberation Sans"/>
                <a:ea typeface="Liberation Sans"/>
                <a:cs typeface="Liberation Sans"/>
              </a:rPr>
              <a:t>Cell classifier</a:t>
            </a:r>
          </a:p>
        </p:txBody>
      </p:sp>
      <p:sp>
        <p:nvSpPr>
          <p:cNvPr id="9" name="">
            <a:extLst xmlns:a="http://schemas.openxmlformats.org/drawingml/2006/main">
              <a:ext uri="{FF2B5EF4-FFF2-40B4-BE49-F238E27FC236}">
                <a16:creationId xmlns:a16="http://schemas.microsoft.com/office/drawing/2014/main" id="{29EFDAC9-A258-4D3F-8B00-0F945D84502E}"/>
              </a:ext>
            </a:extLst>
          </p:cNvPr>
          <p:cNvSpPr>
            <a:spLocks xmlns:a="http://schemas.openxmlformats.org/drawingml/2006/main" noGrp="1"/>
          </p:cNvSpPr>
          <p:nvPr/>
        </p:nvSpPr>
        <p:spPr>
          <a:xfrm xmlns:a="http://schemas.openxmlformats.org/drawingml/2006/main">
            <a:off x="7286625" y="3000375"/>
            <a:ext cx="666750" cy="238125"/>
          </a:xfrm>
          <a:prstGeom xmlns:a="http://schemas.openxmlformats.org/drawingml/2006/main" prst="rightArrow">
            <a:avLst/>
          </a:prstGeom>
          <a:solidFill xmlns:a="http://schemas.openxmlformats.org/drawingml/2006/main">
            <a:srgbClr val="D5663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EB7E7C0-7027-45BA-A3B8-B9A68FB197ED}"/>
              </a:ext>
            </a:extLst>
          </p:cNvPr>
          <p:cNvSpPr>
            <a:spLocks xmlns:a="http://schemas.openxmlformats.org/drawingml/2006/main" noGrp="1"/>
          </p:cNvSpPr>
          <p:nvPr/>
        </p:nvSpPr>
        <p:spPr>
          <a:xfrm xmlns:a="http://schemas.openxmlformats.org/drawingml/2006/main">
            <a:off x="8382000" y="2809875"/>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C42"/>
                </a:solidFill>
                <a:latin typeface="Liberation Sans"/>
                <a:ea typeface="Liberation Sans"/>
                <a:cs typeface="Liberation Sans"/>
              </a:defRPr>
            </a:defPPr>
            <a:lvl1pPr>
              <a:defRPr sz="2325" b="0">
                <a:solidFill>
                  <a:srgbClr val="172C42"/>
                </a:solidFill>
                <a:latin typeface="Liberation Sans"/>
                <a:ea typeface="Liberation Sans"/>
                <a:cs typeface="Liberation Sans"/>
              </a:defRPr>
            </a:lvl1pPr>
            <a:lvl2pPr>
              <a:defRPr sz="2325" b="0">
                <a:solidFill>
                  <a:srgbClr val="172C42"/>
                </a:solidFill>
                <a:latin typeface="Liberation Sans"/>
                <a:ea typeface="Liberation Sans"/>
                <a:cs typeface="Liberation Sans"/>
              </a:defRPr>
            </a:lvl2pPr>
            <a:lvl3pPr>
              <a:defRPr sz="2325" b="0">
                <a:solidFill>
                  <a:srgbClr val="172C42"/>
                </a:solidFill>
                <a:latin typeface="Liberation Sans"/>
                <a:ea typeface="Liberation Sans"/>
                <a:cs typeface="Liberation Sans"/>
              </a:defRPr>
            </a:lvl3pPr>
            <a:lvl4pPr>
              <a:defRPr sz="2325" b="0">
                <a:solidFill>
                  <a:srgbClr val="172C42"/>
                </a:solidFill>
                <a:latin typeface="Liberation Sans"/>
                <a:ea typeface="Liberation Sans"/>
                <a:cs typeface="Liberation Sans"/>
              </a:defRPr>
            </a:lvl4pPr>
            <a:lvl5pPr>
              <a:defRPr sz="2325" b="0">
                <a:solidFill>
                  <a:srgbClr val="172C42"/>
                </a:solidFill>
                <a:latin typeface="Liberation Sans"/>
                <a:ea typeface="Liberation Sans"/>
                <a:cs typeface="Liberation Sans"/>
              </a:defRPr>
            </a:lvl5pPr>
            <a:lvl6pPr>
              <a:defRPr sz="2325" b="0">
                <a:solidFill>
                  <a:srgbClr val="172C42"/>
                </a:solidFill>
                <a:latin typeface="Liberation Sans"/>
                <a:ea typeface="Liberation Sans"/>
                <a:cs typeface="Liberation Sans"/>
              </a:defRPr>
            </a:lvl6pPr>
            <a:lvl7pPr>
              <a:defRPr sz="2325" b="0">
                <a:solidFill>
                  <a:srgbClr val="172C42"/>
                </a:solidFill>
                <a:latin typeface="Liberation Sans"/>
                <a:ea typeface="Liberation Sans"/>
                <a:cs typeface="Liberation Sans"/>
              </a:defRPr>
            </a:lvl7pPr>
            <a:lvl8pPr>
              <a:defRPr sz="2325" b="0">
                <a:solidFill>
                  <a:srgbClr val="172C42"/>
                </a:solidFill>
                <a:latin typeface="Liberation Sans"/>
                <a:ea typeface="Liberation Sans"/>
                <a:cs typeface="Liberation Sans"/>
              </a:defRPr>
            </a:lvl8pPr>
            <a:lvl9pPr>
              <a:defRPr sz="2325" b="0">
                <a:solidFill>
                  <a:srgbClr val="172C42"/>
                </a:solidFill>
                <a:latin typeface="Liberation Sans"/>
                <a:ea typeface="Liberation Sans"/>
                <a:cs typeface="Liberation Sans"/>
              </a:defRPr>
            </a:lvl9pPr>
          </a:lstStyle>
          <a:p xmlns:a="http://schemas.openxmlformats.org/drawingml/2006/main">
            <a:pPr>
              <a:defRPr sz="2325" b="0">
                <a:solidFill>
                  <a:srgbClr val="172C42"/>
                </a:solidFill>
                <a:latin typeface="Liberation Sans"/>
                <a:ea typeface="Liberation Sans"/>
                <a:cs typeface="Liberation Sans"/>
              </a:defRPr>
            </a:pPr>
            <a:r>
              <a:rPr sz="2325" b="0">
                <a:solidFill>
                  <a:srgbClr val="172C42"/>
                </a:solidFill>
                <a:latin typeface="Liberation Sans"/>
                <a:ea typeface="Liberation Sans"/>
                <a:cs typeface="Liberation Sans"/>
              </a:rPr>
              <a:t>Cell center</a:t>
            </a:r>
          </a:p>
        </p:txBody>
      </p:sp>
      <p:sp>
        <p:nvSpPr>
          <p:cNvPr id="11" name="">
            <a:extLst xmlns:a="http://schemas.openxmlformats.org/drawingml/2006/main">
              <a:ext uri="{FF2B5EF4-FFF2-40B4-BE49-F238E27FC236}">
                <a16:creationId xmlns:a16="http://schemas.microsoft.com/office/drawing/2014/main" id="{ACF93058-4EE4-4F2F-85C2-6589BC108A21}"/>
              </a:ext>
            </a:extLst>
          </p:cNvPr>
          <p:cNvSpPr>
            <a:spLocks xmlns:a="http://schemas.openxmlformats.org/drawingml/2006/main" noGrp="1"/>
          </p:cNvSpPr>
          <p:nvPr/>
        </p:nvSpPr>
        <p:spPr>
          <a:xfrm xmlns:a="http://schemas.openxmlformats.org/drawingml/2006/main">
            <a:off x="609600" y="3905250"/>
            <a:ext cx="10820400" cy="9525"/>
          </a:xfrm>
          <a:prstGeom xmlns:a="http://schemas.openxmlformats.org/drawingml/2006/main" prst="rect">
            <a:avLst/>
          </a:prstGeom>
          <a:solidFill xmlns:a="http://schemas.openxmlformats.org/drawingml/2006/main">
            <a:srgbClr val="D8D0C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07D9DAF-1306-4B9B-9306-3B4C2E20CC83}"/>
              </a:ext>
            </a:extLst>
          </p:cNvPr>
          <p:cNvSpPr>
            <a:spLocks xmlns:a="http://schemas.openxmlformats.org/drawingml/2006/main" noGrp="1"/>
          </p:cNvSpPr>
          <p:nvPr/>
        </p:nvSpPr>
        <p:spPr>
          <a:xfrm xmlns:a="http://schemas.openxmlformats.org/drawingml/2006/main">
            <a:off x="609600" y="42386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2C42"/>
                </a:solidFill>
                <a:latin typeface="Liberation Sans"/>
                <a:ea typeface="Liberation Sans"/>
                <a:cs typeface="Liberation Sans"/>
              </a:defRPr>
            </a:defPPr>
            <a:lvl1pPr>
              <a:defRPr sz="2550" b="1">
                <a:solidFill>
                  <a:srgbClr val="172C42"/>
                </a:solidFill>
                <a:latin typeface="Liberation Sans"/>
                <a:ea typeface="Liberation Sans"/>
                <a:cs typeface="Liberation Sans"/>
              </a:defRPr>
            </a:lvl1pPr>
            <a:lvl2pPr>
              <a:defRPr sz="2550" b="1">
                <a:solidFill>
                  <a:srgbClr val="172C42"/>
                </a:solidFill>
                <a:latin typeface="Liberation Sans"/>
                <a:ea typeface="Liberation Sans"/>
                <a:cs typeface="Liberation Sans"/>
              </a:defRPr>
            </a:lvl2pPr>
            <a:lvl3pPr>
              <a:defRPr sz="2550" b="1">
                <a:solidFill>
                  <a:srgbClr val="172C42"/>
                </a:solidFill>
                <a:latin typeface="Liberation Sans"/>
                <a:ea typeface="Liberation Sans"/>
                <a:cs typeface="Liberation Sans"/>
              </a:defRPr>
            </a:lvl3pPr>
            <a:lvl4pPr>
              <a:defRPr sz="2550" b="1">
                <a:solidFill>
                  <a:srgbClr val="172C42"/>
                </a:solidFill>
                <a:latin typeface="Liberation Sans"/>
                <a:ea typeface="Liberation Sans"/>
                <a:cs typeface="Liberation Sans"/>
              </a:defRPr>
            </a:lvl4pPr>
            <a:lvl5pPr>
              <a:defRPr sz="2550" b="1">
                <a:solidFill>
                  <a:srgbClr val="172C42"/>
                </a:solidFill>
                <a:latin typeface="Liberation Sans"/>
                <a:ea typeface="Liberation Sans"/>
                <a:cs typeface="Liberation Sans"/>
              </a:defRPr>
            </a:lvl5pPr>
            <a:lvl6pPr>
              <a:defRPr sz="2550" b="1">
                <a:solidFill>
                  <a:srgbClr val="172C42"/>
                </a:solidFill>
                <a:latin typeface="Liberation Sans"/>
                <a:ea typeface="Liberation Sans"/>
                <a:cs typeface="Liberation Sans"/>
              </a:defRPr>
            </a:lvl6pPr>
            <a:lvl7pPr>
              <a:defRPr sz="2550" b="1">
                <a:solidFill>
                  <a:srgbClr val="172C42"/>
                </a:solidFill>
                <a:latin typeface="Liberation Sans"/>
                <a:ea typeface="Liberation Sans"/>
                <a:cs typeface="Liberation Sans"/>
              </a:defRPr>
            </a:lvl7pPr>
            <a:lvl8pPr>
              <a:defRPr sz="2550" b="1">
                <a:solidFill>
                  <a:srgbClr val="172C42"/>
                </a:solidFill>
                <a:latin typeface="Liberation Sans"/>
                <a:ea typeface="Liberation Sans"/>
                <a:cs typeface="Liberation Sans"/>
              </a:defRPr>
            </a:lvl8pPr>
            <a:lvl9pPr>
              <a:defRPr sz="2550" b="1">
                <a:solidFill>
                  <a:srgbClr val="172C42"/>
                </a:solidFill>
                <a:latin typeface="Liberation Sans"/>
                <a:ea typeface="Liberation Sans"/>
                <a:cs typeface="Liberation Sans"/>
              </a:defRPr>
            </a:lvl9pPr>
          </a:lstStyle>
          <a:p xmlns:a="http://schemas.openxmlformats.org/drawingml/2006/main">
            <a:pPr>
              <a:defRPr sz="2550" b="1">
                <a:solidFill>
                  <a:srgbClr val="172C42"/>
                </a:solidFill>
                <a:latin typeface="Liberation Sans"/>
                <a:ea typeface="Liberation Sans"/>
                <a:cs typeface="Liberation Sans"/>
              </a:defRPr>
            </a:pPr>
            <a:r>
              <a:rPr sz="2550" b="1">
                <a:solidFill>
                  <a:srgbClr val="172C42"/>
                </a:solidFill>
                <a:latin typeface="Liberation Sans"/>
                <a:ea typeface="Liberation Sans"/>
                <a:cs typeface="Liberation Sans"/>
              </a:rPr>
              <a:t>ETH research</a:t>
            </a:r>
          </a:p>
        </p:txBody>
      </p:sp>
      <p:sp>
        <p:nvSpPr>
          <p:cNvPr id="13" name="">
            <a:extLst xmlns:a="http://schemas.openxmlformats.org/drawingml/2006/main">
              <a:ext uri="{FF2B5EF4-FFF2-40B4-BE49-F238E27FC236}">
                <a16:creationId xmlns:a16="http://schemas.microsoft.com/office/drawing/2014/main" id="{F3FE7F3E-E47C-4FAF-83FC-D4861AB93B4D}"/>
              </a:ext>
            </a:extLst>
          </p:cNvPr>
          <p:cNvSpPr>
            <a:spLocks xmlns:a="http://schemas.openxmlformats.org/drawingml/2006/main" noGrp="1"/>
          </p:cNvSpPr>
          <p:nvPr/>
        </p:nvSpPr>
        <p:spPr>
          <a:xfrm xmlns:a="http://schemas.openxmlformats.org/drawingml/2006/main">
            <a:off x="609600" y="50482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C42"/>
                </a:solidFill>
                <a:latin typeface="Liberation Sans"/>
                <a:ea typeface="Liberation Sans"/>
                <a:cs typeface="Liberation Sans"/>
              </a:defRPr>
            </a:defPPr>
            <a:lvl1pPr>
              <a:defRPr sz="2175" b="0">
                <a:solidFill>
                  <a:srgbClr val="172C42"/>
                </a:solidFill>
                <a:latin typeface="Liberation Sans"/>
                <a:ea typeface="Liberation Sans"/>
                <a:cs typeface="Liberation Sans"/>
              </a:defRPr>
            </a:lvl1pPr>
            <a:lvl2pPr>
              <a:defRPr sz="2175" b="0">
                <a:solidFill>
                  <a:srgbClr val="172C42"/>
                </a:solidFill>
                <a:latin typeface="Liberation Sans"/>
                <a:ea typeface="Liberation Sans"/>
                <a:cs typeface="Liberation Sans"/>
              </a:defRPr>
            </a:lvl2pPr>
            <a:lvl3pPr>
              <a:defRPr sz="2175" b="0">
                <a:solidFill>
                  <a:srgbClr val="172C42"/>
                </a:solidFill>
                <a:latin typeface="Liberation Sans"/>
                <a:ea typeface="Liberation Sans"/>
                <a:cs typeface="Liberation Sans"/>
              </a:defRPr>
            </a:lvl3pPr>
            <a:lvl4pPr>
              <a:defRPr sz="2175" b="0">
                <a:solidFill>
                  <a:srgbClr val="172C42"/>
                </a:solidFill>
                <a:latin typeface="Liberation Sans"/>
                <a:ea typeface="Liberation Sans"/>
                <a:cs typeface="Liberation Sans"/>
              </a:defRPr>
            </a:lvl4pPr>
            <a:lvl5pPr>
              <a:defRPr sz="2175" b="0">
                <a:solidFill>
                  <a:srgbClr val="172C42"/>
                </a:solidFill>
                <a:latin typeface="Liberation Sans"/>
                <a:ea typeface="Liberation Sans"/>
                <a:cs typeface="Liberation Sans"/>
              </a:defRPr>
            </a:lvl5pPr>
            <a:lvl6pPr>
              <a:defRPr sz="2175" b="0">
                <a:solidFill>
                  <a:srgbClr val="172C42"/>
                </a:solidFill>
                <a:latin typeface="Liberation Sans"/>
                <a:ea typeface="Liberation Sans"/>
                <a:cs typeface="Liberation Sans"/>
              </a:defRPr>
            </a:lvl6pPr>
            <a:lvl7pPr>
              <a:defRPr sz="2175" b="0">
                <a:solidFill>
                  <a:srgbClr val="172C42"/>
                </a:solidFill>
                <a:latin typeface="Liberation Sans"/>
                <a:ea typeface="Liberation Sans"/>
                <a:cs typeface="Liberation Sans"/>
              </a:defRPr>
            </a:lvl7pPr>
            <a:lvl8pPr>
              <a:defRPr sz="2175" b="0">
                <a:solidFill>
                  <a:srgbClr val="172C42"/>
                </a:solidFill>
                <a:latin typeface="Liberation Sans"/>
                <a:ea typeface="Liberation Sans"/>
                <a:cs typeface="Liberation Sans"/>
              </a:defRPr>
            </a:lvl8pPr>
            <a:lvl9pPr>
              <a:defRPr sz="2175" b="0">
                <a:solidFill>
                  <a:srgbClr val="172C42"/>
                </a:solidFill>
                <a:latin typeface="Liberation Sans"/>
                <a:ea typeface="Liberation Sans"/>
                <a:cs typeface="Liberation Sans"/>
              </a:defRPr>
            </a:lvl9pPr>
          </a:lstStyle>
          <a:p xmlns:a="http://schemas.openxmlformats.org/drawingml/2006/main">
            <a:pPr>
              <a:defRPr sz="2175" b="0">
                <a:solidFill>
                  <a:srgbClr val="172C42"/>
                </a:solidFill>
                <a:latin typeface="Liberation Sans"/>
                <a:ea typeface="Liberation Sans"/>
                <a:cs typeface="Liberation Sans"/>
              </a:defRPr>
            </a:pPr>
            <a:r>
              <a:rPr sz="2175" b="0">
                <a:solidFill>
                  <a:srgbClr val="172C42"/>
                </a:solidFill>
                <a:latin typeface="Liberation Sans"/>
                <a:ea typeface="Liberation Sans"/>
                <a:cs typeface="Liberation Sans"/>
              </a:rPr>
              <a:t>Ground prototypes</a:t>
            </a:r>
          </a:p>
          <a:p xmlns:a="http://schemas.openxmlformats.org/drawingml/2006/main">
            <a:pPr>
              <a:defRPr sz="2175" b="0">
                <a:solidFill>
                  <a:srgbClr val="172C42"/>
                </a:solidFill>
                <a:latin typeface="Liberation Sans"/>
                <a:ea typeface="Liberation Sans"/>
                <a:cs typeface="Liberation Sans"/>
              </a:defRPr>
            </a:pPr>
            <a:r>
              <a:rPr sz="2175" b="0">
                <a:solidFill>
                  <a:srgbClr val="172C42"/>
                </a:solidFill>
                <a:latin typeface="Liberation Sans"/>
                <a:ea typeface="Liberation Sans"/>
                <a:cs typeface="Liberation Sans"/>
              </a:rPr>
              <a:t>and aerial features</a:t>
            </a:r>
          </a:p>
        </p:txBody>
      </p:sp>
      <p:sp>
        <p:nvSpPr>
          <p:cNvPr id="14" name="">
            <a:extLst xmlns:a="http://schemas.openxmlformats.org/drawingml/2006/main">
              <a:ext uri="{FF2B5EF4-FFF2-40B4-BE49-F238E27FC236}">
                <a16:creationId xmlns:a16="http://schemas.microsoft.com/office/drawing/2014/main" id="{ACAF84C6-F6B0-4422-8C09-8B419C2E0150}"/>
              </a:ext>
            </a:extLst>
          </p:cNvPr>
          <p:cNvSpPr>
            <a:spLocks xmlns:a="http://schemas.openxmlformats.org/drawingml/2006/main" noGrp="1"/>
          </p:cNvSpPr>
          <p:nvPr/>
        </p:nvSpPr>
        <p:spPr>
          <a:xfrm xmlns:a="http://schemas.openxmlformats.org/drawingml/2006/main">
            <a:off x="5810250" y="5238750"/>
            <a:ext cx="666750" cy="238125"/>
          </a:xfrm>
          <a:prstGeom xmlns:a="http://schemas.openxmlformats.org/drawingml/2006/main" prst="rightArrow">
            <a:avLst/>
          </a:prstGeom>
          <a:solidFill xmlns:a="http://schemas.openxmlformats.org/drawingml/2006/main">
            <a:srgbClr val="D5663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A12D9AC-B2AB-410A-BE17-2E79F7406D5A}"/>
              </a:ext>
            </a:extLst>
          </p:cNvPr>
          <p:cNvSpPr>
            <a:spLocks xmlns:a="http://schemas.openxmlformats.org/drawingml/2006/main" noGrp="1"/>
          </p:cNvSpPr>
          <p:nvPr/>
        </p:nvSpPr>
        <p:spPr>
          <a:xfrm xmlns:a="http://schemas.openxmlformats.org/drawingml/2006/main">
            <a:off x="7048500" y="5048250"/>
            <a:ext cx="438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C42"/>
                </a:solidFill>
                <a:latin typeface="Liberation Sans"/>
                <a:ea typeface="Liberation Sans"/>
                <a:cs typeface="Liberation Sans"/>
              </a:defRPr>
            </a:defPPr>
            <a:lvl1pPr>
              <a:defRPr sz="2175" b="0">
                <a:solidFill>
                  <a:srgbClr val="172C42"/>
                </a:solidFill>
                <a:latin typeface="Liberation Sans"/>
                <a:ea typeface="Liberation Sans"/>
                <a:cs typeface="Liberation Sans"/>
              </a:defRPr>
            </a:lvl1pPr>
            <a:lvl2pPr>
              <a:defRPr sz="2175" b="0">
                <a:solidFill>
                  <a:srgbClr val="172C42"/>
                </a:solidFill>
                <a:latin typeface="Liberation Sans"/>
                <a:ea typeface="Liberation Sans"/>
                <a:cs typeface="Liberation Sans"/>
              </a:defRPr>
            </a:lvl2pPr>
            <a:lvl3pPr>
              <a:defRPr sz="2175" b="0">
                <a:solidFill>
                  <a:srgbClr val="172C42"/>
                </a:solidFill>
                <a:latin typeface="Liberation Sans"/>
                <a:ea typeface="Liberation Sans"/>
                <a:cs typeface="Liberation Sans"/>
              </a:defRPr>
            </a:lvl3pPr>
            <a:lvl4pPr>
              <a:defRPr sz="2175" b="0">
                <a:solidFill>
                  <a:srgbClr val="172C42"/>
                </a:solidFill>
                <a:latin typeface="Liberation Sans"/>
                <a:ea typeface="Liberation Sans"/>
                <a:cs typeface="Liberation Sans"/>
              </a:defRPr>
            </a:lvl4pPr>
            <a:lvl5pPr>
              <a:defRPr sz="2175" b="0">
                <a:solidFill>
                  <a:srgbClr val="172C42"/>
                </a:solidFill>
                <a:latin typeface="Liberation Sans"/>
                <a:ea typeface="Liberation Sans"/>
                <a:cs typeface="Liberation Sans"/>
              </a:defRPr>
            </a:lvl5pPr>
            <a:lvl6pPr>
              <a:defRPr sz="2175" b="0">
                <a:solidFill>
                  <a:srgbClr val="172C42"/>
                </a:solidFill>
                <a:latin typeface="Liberation Sans"/>
                <a:ea typeface="Liberation Sans"/>
                <a:cs typeface="Liberation Sans"/>
              </a:defRPr>
            </a:lvl6pPr>
            <a:lvl7pPr>
              <a:defRPr sz="2175" b="0">
                <a:solidFill>
                  <a:srgbClr val="172C42"/>
                </a:solidFill>
                <a:latin typeface="Liberation Sans"/>
                <a:ea typeface="Liberation Sans"/>
                <a:cs typeface="Liberation Sans"/>
              </a:defRPr>
            </a:lvl7pPr>
            <a:lvl8pPr>
              <a:defRPr sz="2175" b="0">
                <a:solidFill>
                  <a:srgbClr val="172C42"/>
                </a:solidFill>
                <a:latin typeface="Liberation Sans"/>
                <a:ea typeface="Liberation Sans"/>
                <a:cs typeface="Liberation Sans"/>
              </a:defRPr>
            </a:lvl8pPr>
            <a:lvl9pPr>
              <a:defRPr sz="2175" b="0">
                <a:solidFill>
                  <a:srgbClr val="172C42"/>
                </a:solidFill>
                <a:latin typeface="Liberation Sans"/>
                <a:ea typeface="Liberation Sans"/>
                <a:cs typeface="Liberation Sans"/>
              </a:defRPr>
            </a:lvl9pPr>
          </a:lstStyle>
          <a:p xmlns:a="http://schemas.openxmlformats.org/drawingml/2006/main">
            <a:pPr>
              <a:defRPr sz="2175" b="0">
                <a:solidFill>
                  <a:srgbClr val="172C42"/>
                </a:solidFill>
                <a:latin typeface="Liberation Sans"/>
                <a:ea typeface="Liberation Sans"/>
                <a:cs typeface="Liberation Sans"/>
              </a:defRPr>
            </a:pPr>
            <a:r>
              <a:rPr sz="2175" b="0">
                <a:solidFill>
                  <a:srgbClr val="172C42"/>
                </a:solidFill>
                <a:latin typeface="Liberation Sans"/>
                <a:ea typeface="Liberation Sans"/>
                <a:cs typeface="Liberation Sans"/>
              </a:rPr>
              <a:t>Fine-resolution retrieval</a:t>
            </a:r>
          </a:p>
        </p:txBody>
      </p:sp>
    </p:spTree>
    <p:extLst>
      <p:ext uri="{BB962C8B-B14F-4D97-AF65-F5344CB8AC3E}">
        <p14:creationId xmlns:p14="http://schemas.microsoft.com/office/powerpoint/2010/main" val="311443304"/>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959DE1-52AB-4032-80DF-88324BE7BF03}"/>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2C42"/>
                </a:solidFill>
                <a:latin typeface="Liberation Sans"/>
                <a:ea typeface="Liberation Sans"/>
                <a:cs typeface="Liberation Sans"/>
              </a:defRPr>
            </a:defPPr>
            <a:lvl1pPr>
              <a:defRPr sz="3600" b="1">
                <a:solidFill>
                  <a:srgbClr val="172C42"/>
                </a:solidFill>
                <a:latin typeface="Liberation Sans"/>
                <a:ea typeface="Liberation Sans"/>
                <a:cs typeface="Liberation Sans"/>
              </a:defRPr>
            </a:lvl1pPr>
            <a:lvl2pPr>
              <a:defRPr sz="3600" b="1">
                <a:solidFill>
                  <a:srgbClr val="172C42"/>
                </a:solidFill>
                <a:latin typeface="Liberation Sans"/>
                <a:ea typeface="Liberation Sans"/>
                <a:cs typeface="Liberation Sans"/>
              </a:defRPr>
            </a:lvl2pPr>
            <a:lvl3pPr>
              <a:defRPr sz="3600" b="1">
                <a:solidFill>
                  <a:srgbClr val="172C42"/>
                </a:solidFill>
                <a:latin typeface="Liberation Sans"/>
                <a:ea typeface="Liberation Sans"/>
                <a:cs typeface="Liberation Sans"/>
              </a:defRPr>
            </a:lvl3pPr>
            <a:lvl4pPr>
              <a:defRPr sz="3600" b="1">
                <a:solidFill>
                  <a:srgbClr val="172C42"/>
                </a:solidFill>
                <a:latin typeface="Liberation Sans"/>
                <a:ea typeface="Liberation Sans"/>
                <a:cs typeface="Liberation Sans"/>
              </a:defRPr>
            </a:lvl4pPr>
            <a:lvl5pPr>
              <a:defRPr sz="3600" b="1">
                <a:solidFill>
                  <a:srgbClr val="172C42"/>
                </a:solidFill>
                <a:latin typeface="Liberation Sans"/>
                <a:ea typeface="Liberation Sans"/>
                <a:cs typeface="Liberation Sans"/>
              </a:defRPr>
            </a:lvl5pPr>
            <a:lvl6pPr>
              <a:defRPr sz="3600" b="1">
                <a:solidFill>
                  <a:srgbClr val="172C42"/>
                </a:solidFill>
                <a:latin typeface="Liberation Sans"/>
                <a:ea typeface="Liberation Sans"/>
                <a:cs typeface="Liberation Sans"/>
              </a:defRPr>
            </a:lvl6pPr>
            <a:lvl7pPr>
              <a:defRPr sz="3600" b="1">
                <a:solidFill>
                  <a:srgbClr val="172C42"/>
                </a:solidFill>
                <a:latin typeface="Liberation Sans"/>
                <a:ea typeface="Liberation Sans"/>
                <a:cs typeface="Liberation Sans"/>
              </a:defRPr>
            </a:lvl7pPr>
            <a:lvl8pPr>
              <a:defRPr sz="3600" b="1">
                <a:solidFill>
                  <a:srgbClr val="172C42"/>
                </a:solidFill>
                <a:latin typeface="Liberation Sans"/>
                <a:ea typeface="Liberation Sans"/>
                <a:cs typeface="Liberation Sans"/>
              </a:defRPr>
            </a:lvl8pPr>
            <a:lvl9pPr>
              <a:defRPr sz="3600" b="1">
                <a:solidFill>
                  <a:srgbClr val="172C42"/>
                </a:solidFill>
                <a:latin typeface="Liberation Sans"/>
                <a:ea typeface="Liberation Sans"/>
                <a:cs typeface="Liberation Sans"/>
              </a:defRPr>
            </a:lvl9pPr>
          </a:lstStyle>
          <a:p xmlns:a="http://schemas.openxmlformats.org/drawingml/2006/main">
            <a:pPr>
              <a:defRPr sz="3600" b="1">
                <a:solidFill>
                  <a:srgbClr val="172C42"/>
                </a:solidFill>
                <a:latin typeface="Liberation Sans"/>
                <a:ea typeface="Liberation Sans"/>
                <a:cs typeface="Liberation Sans"/>
              </a:defRPr>
            </a:pPr>
            <a:r>
              <a:rPr sz="3600" b="1">
                <a:solidFill>
                  <a:srgbClr val="172C42"/>
                </a:solidFill>
                <a:latin typeface="Liberation Sans"/>
                <a:ea typeface="Liberation Sans"/>
                <a:cs typeface="Liberation Sans"/>
              </a:rPr>
              <a:t>The live demo displays a regional estimate</a:t>
            </a:r>
          </a:p>
        </p:txBody>
      </p:sp>
      <p:sp>
        <p:nvSpPr>
          <p:cNvPr id="2" name="">
            <a:extLst xmlns:a="http://schemas.openxmlformats.org/drawingml/2006/main">
              <a:ext uri="{FF2B5EF4-FFF2-40B4-BE49-F238E27FC236}">
                <a16:creationId xmlns:a16="http://schemas.microsoft.com/office/drawing/2014/main" id="{20ACE67F-1CBC-4C0B-8C8F-D0959FBABA26}"/>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D8D0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A763BE7-C4D8-4A82-A995-E956E990ED2F}"/>
              </a:ext>
            </a:extLst>
          </p:cNvPr>
          <p:cNvSpPr>
            <a:spLocks xmlns:a="http://schemas.openxmlformats.org/drawingml/2006/main" noGrp="1"/>
          </p:cNvSpPr>
          <p:nvPr/>
        </p:nvSpPr>
        <p:spPr>
          <a:xfrm xmlns:a="http://schemas.openxmlformats.org/drawingml/2006/main">
            <a:off x="60960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OSV-5M image 1083931132408866, official test. CC-BY-SA-4.0.</a:t>
            </a:r>
          </a:p>
        </p:txBody>
      </p:sp>
      <p:sp>
        <p:nvSpPr>
          <p:cNvPr id="4" name="">
            <a:extLst xmlns:a="http://schemas.openxmlformats.org/drawingml/2006/main">
              <a:ext uri="{FF2B5EF4-FFF2-40B4-BE49-F238E27FC236}">
                <a16:creationId xmlns:a16="http://schemas.microsoft.com/office/drawing/2014/main" id="{8BAFE56F-2956-4133-B2A4-E5E00628255A}"/>
              </a:ext>
            </a:extLst>
          </p:cNvPr>
          <p:cNvSpPr>
            <a:spLocks xmlns:a="http://schemas.openxmlformats.org/drawingml/2006/main" noGrp="1"/>
          </p:cNvSpPr>
          <p:nvPr/>
        </p:nvSpPr>
        <p:spPr>
          <a:xfrm xmlns:a="http://schemas.openxmlformats.org/drawingml/2006/main">
            <a:off x="11191875"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11</a:t>
            </a:r>
          </a:p>
        </p:txBody>
      </p:sp>
      <p:pic>
        <p:nvPicPr>
          <p:cNvPr id="5" name="">
            <a:extLst xmlns:a="http://schemas.openxmlformats.org/drawingml/2006/main">
              <a:ext uri="{FF2B5EF4-FFF2-40B4-BE49-F238E27FC236}">
                <a16:creationId xmlns:a16="http://schemas.microsoft.com/office/drawing/2014/main" id="{3BF906A8-7842-4AF1-9615-53BFEF009DC0}"/>
              </a:ext>
            </a:extLst>
          </p:cNvPr>
          <p:cNvPicPr>
            <a:picLocks xmlns:a="http://schemas.openxmlformats.org/drawingml/2006/main" noChangeAspect="1"/>
          </p:cNvPicPr>
          <p:nvPr/>
        </p:nvPicPr>
        <p:blipFill>
          <a:blip xmlns:r="http://schemas.openxmlformats.org/officeDocument/2006/relationships" xmlns:a="http://schemas.openxmlformats.org/drawingml/2006/main" r:embed="Rf6edce29c3224435"/>
          <a:srcRect xmlns:a="http://schemas.openxmlformats.org/drawingml/2006/main" l="16257" t="0" r="16257" b="0"/>
          <a:stretch xmlns:a="http://schemas.openxmlformats.org/drawingml/2006/main">
            <a:fillRect l="0" t="0" r="0" b="0"/>
          </a:stretch>
        </p:blipFill>
        <p:spPr>
          <a:xfrm xmlns:a="http://schemas.openxmlformats.org/drawingml/2006/main">
            <a:off x="609600" y="1619250"/>
            <a:ext cx="614362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074D208-F9D7-41DD-B44A-CC945B345E29}"/>
              </a:ext>
            </a:extLst>
          </p:cNvPr>
          <p:cNvSpPr>
            <a:spLocks xmlns:a="http://schemas.openxmlformats.org/drawingml/2006/main" noGrp="1"/>
          </p:cNvSpPr>
          <p:nvPr/>
        </p:nvSpPr>
        <p:spPr>
          <a:xfrm xmlns:a="http://schemas.openxmlformats.org/drawingml/2006/main">
            <a:off x="7334250" y="1809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2C42"/>
                </a:solidFill>
                <a:latin typeface="Liberation Sans"/>
                <a:ea typeface="Liberation Sans"/>
                <a:cs typeface="Liberation Sans"/>
              </a:defRPr>
            </a:defPPr>
            <a:lvl1pPr>
              <a:defRPr sz="2550" b="1">
                <a:solidFill>
                  <a:srgbClr val="172C42"/>
                </a:solidFill>
                <a:latin typeface="Liberation Sans"/>
                <a:ea typeface="Liberation Sans"/>
                <a:cs typeface="Liberation Sans"/>
              </a:defRPr>
            </a:lvl1pPr>
            <a:lvl2pPr>
              <a:defRPr sz="2550" b="1">
                <a:solidFill>
                  <a:srgbClr val="172C42"/>
                </a:solidFill>
                <a:latin typeface="Liberation Sans"/>
                <a:ea typeface="Liberation Sans"/>
                <a:cs typeface="Liberation Sans"/>
              </a:defRPr>
            </a:lvl2pPr>
            <a:lvl3pPr>
              <a:defRPr sz="2550" b="1">
                <a:solidFill>
                  <a:srgbClr val="172C42"/>
                </a:solidFill>
                <a:latin typeface="Liberation Sans"/>
                <a:ea typeface="Liberation Sans"/>
                <a:cs typeface="Liberation Sans"/>
              </a:defRPr>
            </a:lvl3pPr>
            <a:lvl4pPr>
              <a:defRPr sz="2550" b="1">
                <a:solidFill>
                  <a:srgbClr val="172C42"/>
                </a:solidFill>
                <a:latin typeface="Liberation Sans"/>
                <a:ea typeface="Liberation Sans"/>
                <a:cs typeface="Liberation Sans"/>
              </a:defRPr>
            </a:lvl4pPr>
            <a:lvl5pPr>
              <a:defRPr sz="2550" b="1">
                <a:solidFill>
                  <a:srgbClr val="172C42"/>
                </a:solidFill>
                <a:latin typeface="Liberation Sans"/>
                <a:ea typeface="Liberation Sans"/>
                <a:cs typeface="Liberation Sans"/>
              </a:defRPr>
            </a:lvl5pPr>
            <a:lvl6pPr>
              <a:defRPr sz="2550" b="1">
                <a:solidFill>
                  <a:srgbClr val="172C42"/>
                </a:solidFill>
                <a:latin typeface="Liberation Sans"/>
                <a:ea typeface="Liberation Sans"/>
                <a:cs typeface="Liberation Sans"/>
              </a:defRPr>
            </a:lvl6pPr>
            <a:lvl7pPr>
              <a:defRPr sz="2550" b="1">
                <a:solidFill>
                  <a:srgbClr val="172C42"/>
                </a:solidFill>
                <a:latin typeface="Liberation Sans"/>
                <a:ea typeface="Liberation Sans"/>
                <a:cs typeface="Liberation Sans"/>
              </a:defRPr>
            </a:lvl7pPr>
            <a:lvl8pPr>
              <a:defRPr sz="2550" b="1">
                <a:solidFill>
                  <a:srgbClr val="172C42"/>
                </a:solidFill>
                <a:latin typeface="Liberation Sans"/>
                <a:ea typeface="Liberation Sans"/>
                <a:cs typeface="Liberation Sans"/>
              </a:defRPr>
            </a:lvl8pPr>
            <a:lvl9pPr>
              <a:defRPr sz="2550" b="1">
                <a:solidFill>
                  <a:srgbClr val="172C42"/>
                </a:solidFill>
                <a:latin typeface="Liberation Sans"/>
                <a:ea typeface="Liberation Sans"/>
                <a:cs typeface="Liberation Sans"/>
              </a:defRPr>
            </a:lvl9pPr>
          </a:lstStyle>
          <a:p xmlns:a="http://schemas.openxmlformats.org/drawingml/2006/main">
            <a:pPr>
              <a:defRPr sz="2550" b="1">
                <a:solidFill>
                  <a:srgbClr val="172C42"/>
                </a:solidFill>
                <a:latin typeface="Liberation Sans"/>
                <a:ea typeface="Liberation Sans"/>
                <a:cs typeface="Liberation Sans"/>
              </a:defRPr>
            </a:pPr>
            <a:r>
              <a:rPr sz="2550" b="1">
                <a:solidFill>
                  <a:srgbClr val="172C42"/>
                </a:solidFill>
                <a:latin typeface="Liberation Sans"/>
                <a:ea typeface="Liberation Sans"/>
                <a:cs typeface="Liberation Sans"/>
              </a:rPr>
              <a:t>Predicted cell 196</a:t>
            </a:r>
          </a:p>
        </p:txBody>
      </p:sp>
      <p:sp>
        <p:nvSpPr>
          <p:cNvPr id="7" name="">
            <a:extLst xmlns:a="http://schemas.openxmlformats.org/drawingml/2006/main">
              <a:ext uri="{FF2B5EF4-FFF2-40B4-BE49-F238E27FC236}">
                <a16:creationId xmlns:a16="http://schemas.microsoft.com/office/drawing/2014/main" id="{99701E4A-1DD4-45CB-9FD7-4ECCB60A6AF5}"/>
              </a:ext>
            </a:extLst>
          </p:cNvPr>
          <p:cNvSpPr>
            <a:spLocks xmlns:a="http://schemas.openxmlformats.org/drawingml/2006/main" noGrp="1"/>
          </p:cNvSpPr>
          <p:nvPr/>
        </p:nvSpPr>
        <p:spPr>
          <a:xfrm xmlns:a="http://schemas.openxmlformats.org/drawingml/2006/main">
            <a:off x="7334250" y="2762250"/>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2C42"/>
                </a:solidFill>
                <a:latin typeface="Liberation Sans"/>
                <a:ea typeface="Liberation Sans"/>
                <a:cs typeface="Liberation Sans"/>
              </a:defRPr>
            </a:defPPr>
            <a:lvl1pPr>
              <a:defRPr sz="3450" b="1">
                <a:solidFill>
                  <a:srgbClr val="172C42"/>
                </a:solidFill>
                <a:latin typeface="Liberation Sans"/>
                <a:ea typeface="Liberation Sans"/>
                <a:cs typeface="Liberation Sans"/>
              </a:defRPr>
            </a:lvl1pPr>
            <a:lvl2pPr>
              <a:defRPr sz="3450" b="1">
                <a:solidFill>
                  <a:srgbClr val="172C42"/>
                </a:solidFill>
                <a:latin typeface="Liberation Sans"/>
                <a:ea typeface="Liberation Sans"/>
                <a:cs typeface="Liberation Sans"/>
              </a:defRPr>
            </a:lvl2pPr>
            <a:lvl3pPr>
              <a:defRPr sz="3450" b="1">
                <a:solidFill>
                  <a:srgbClr val="172C42"/>
                </a:solidFill>
                <a:latin typeface="Liberation Sans"/>
                <a:ea typeface="Liberation Sans"/>
                <a:cs typeface="Liberation Sans"/>
              </a:defRPr>
            </a:lvl3pPr>
            <a:lvl4pPr>
              <a:defRPr sz="3450" b="1">
                <a:solidFill>
                  <a:srgbClr val="172C42"/>
                </a:solidFill>
                <a:latin typeface="Liberation Sans"/>
                <a:ea typeface="Liberation Sans"/>
                <a:cs typeface="Liberation Sans"/>
              </a:defRPr>
            </a:lvl4pPr>
            <a:lvl5pPr>
              <a:defRPr sz="3450" b="1">
                <a:solidFill>
                  <a:srgbClr val="172C42"/>
                </a:solidFill>
                <a:latin typeface="Liberation Sans"/>
                <a:ea typeface="Liberation Sans"/>
                <a:cs typeface="Liberation Sans"/>
              </a:defRPr>
            </a:lvl5pPr>
            <a:lvl6pPr>
              <a:defRPr sz="3450" b="1">
                <a:solidFill>
                  <a:srgbClr val="172C42"/>
                </a:solidFill>
                <a:latin typeface="Liberation Sans"/>
                <a:ea typeface="Liberation Sans"/>
                <a:cs typeface="Liberation Sans"/>
              </a:defRPr>
            </a:lvl6pPr>
            <a:lvl7pPr>
              <a:defRPr sz="3450" b="1">
                <a:solidFill>
                  <a:srgbClr val="172C42"/>
                </a:solidFill>
                <a:latin typeface="Liberation Sans"/>
                <a:ea typeface="Liberation Sans"/>
                <a:cs typeface="Liberation Sans"/>
              </a:defRPr>
            </a:lvl7pPr>
            <a:lvl8pPr>
              <a:defRPr sz="3450" b="1">
                <a:solidFill>
                  <a:srgbClr val="172C42"/>
                </a:solidFill>
                <a:latin typeface="Liberation Sans"/>
                <a:ea typeface="Liberation Sans"/>
                <a:cs typeface="Liberation Sans"/>
              </a:defRPr>
            </a:lvl8pPr>
            <a:lvl9pPr>
              <a:defRPr sz="3450" b="1">
                <a:solidFill>
                  <a:srgbClr val="172C42"/>
                </a:solidFill>
                <a:latin typeface="Liberation Sans"/>
                <a:ea typeface="Liberation Sans"/>
                <a:cs typeface="Liberation Sans"/>
              </a:defRPr>
            </a:lvl9pPr>
          </a:lstStyle>
          <a:p xmlns:a="http://schemas.openxmlformats.org/drawingml/2006/main">
            <a:pPr>
              <a:defRPr sz="3450" b="1">
                <a:solidFill>
                  <a:srgbClr val="172C42"/>
                </a:solidFill>
                <a:latin typeface="Liberation Sans"/>
                <a:ea typeface="Liberation Sans"/>
                <a:cs typeface="Liberation Sans"/>
              </a:defRPr>
            </a:pPr>
            <a:r>
              <a:rPr sz="3450" b="1">
                <a:solidFill>
                  <a:srgbClr val="172C42"/>
                </a:solidFill>
                <a:latin typeface="Liberation Sans"/>
                <a:ea typeface="Liberation Sans"/>
                <a:cs typeface="Liberation Sans"/>
              </a:rPr>
              <a:t>9.6761° N</a:t>
            </a:r>
          </a:p>
          <a:p xmlns:a="http://schemas.openxmlformats.org/drawingml/2006/main">
            <a:pPr>
              <a:defRPr sz="3450" b="1">
                <a:solidFill>
                  <a:srgbClr val="172C42"/>
                </a:solidFill>
                <a:latin typeface="Liberation Sans"/>
                <a:ea typeface="Liberation Sans"/>
                <a:cs typeface="Liberation Sans"/>
              </a:defRPr>
            </a:pPr>
            <a:r>
              <a:rPr sz="3450" b="1">
                <a:solidFill>
                  <a:srgbClr val="172C42"/>
                </a:solidFill>
                <a:latin typeface="Liberation Sans"/>
                <a:ea typeface="Liberation Sans"/>
                <a:cs typeface="Liberation Sans"/>
              </a:rPr>
              <a:t>76.4041° E</a:t>
            </a:r>
          </a:p>
        </p:txBody>
      </p:sp>
      <p:sp>
        <p:nvSpPr>
          <p:cNvPr id="8" name="">
            <a:extLst xmlns:a="http://schemas.openxmlformats.org/drawingml/2006/main">
              <a:ext uri="{FF2B5EF4-FFF2-40B4-BE49-F238E27FC236}">
                <a16:creationId xmlns:a16="http://schemas.microsoft.com/office/drawing/2014/main" id="{AEE997F2-6BCE-4C69-9507-BD4FCCEBB6FA}"/>
              </a:ext>
            </a:extLst>
          </p:cNvPr>
          <p:cNvSpPr>
            <a:spLocks xmlns:a="http://schemas.openxmlformats.org/drawingml/2006/main" noGrp="1"/>
          </p:cNvSpPr>
          <p:nvPr/>
        </p:nvSpPr>
        <p:spPr>
          <a:xfrm xmlns:a="http://schemas.openxmlformats.org/drawingml/2006/main">
            <a:off x="7334250" y="47148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D5663F"/>
                </a:solidFill>
                <a:latin typeface="Liberation Sans"/>
                <a:ea typeface="Liberation Sans"/>
                <a:cs typeface="Liberation Sans"/>
              </a:defRPr>
            </a:defPPr>
            <a:lvl1pPr>
              <a:defRPr sz="2250" b="0">
                <a:solidFill>
                  <a:srgbClr val="D5663F"/>
                </a:solidFill>
                <a:latin typeface="Liberation Sans"/>
                <a:ea typeface="Liberation Sans"/>
                <a:cs typeface="Liberation Sans"/>
              </a:defRPr>
            </a:lvl1pPr>
            <a:lvl2pPr>
              <a:defRPr sz="2250" b="0">
                <a:solidFill>
                  <a:srgbClr val="D5663F"/>
                </a:solidFill>
                <a:latin typeface="Liberation Sans"/>
                <a:ea typeface="Liberation Sans"/>
                <a:cs typeface="Liberation Sans"/>
              </a:defRPr>
            </a:lvl2pPr>
            <a:lvl3pPr>
              <a:defRPr sz="2250" b="0">
                <a:solidFill>
                  <a:srgbClr val="D5663F"/>
                </a:solidFill>
                <a:latin typeface="Liberation Sans"/>
                <a:ea typeface="Liberation Sans"/>
                <a:cs typeface="Liberation Sans"/>
              </a:defRPr>
            </a:lvl3pPr>
            <a:lvl4pPr>
              <a:defRPr sz="2250" b="0">
                <a:solidFill>
                  <a:srgbClr val="D5663F"/>
                </a:solidFill>
                <a:latin typeface="Liberation Sans"/>
                <a:ea typeface="Liberation Sans"/>
                <a:cs typeface="Liberation Sans"/>
              </a:defRPr>
            </a:lvl4pPr>
            <a:lvl5pPr>
              <a:defRPr sz="2250" b="0">
                <a:solidFill>
                  <a:srgbClr val="D5663F"/>
                </a:solidFill>
                <a:latin typeface="Liberation Sans"/>
                <a:ea typeface="Liberation Sans"/>
                <a:cs typeface="Liberation Sans"/>
              </a:defRPr>
            </a:lvl5pPr>
            <a:lvl6pPr>
              <a:defRPr sz="2250" b="0">
                <a:solidFill>
                  <a:srgbClr val="D5663F"/>
                </a:solidFill>
                <a:latin typeface="Liberation Sans"/>
                <a:ea typeface="Liberation Sans"/>
                <a:cs typeface="Liberation Sans"/>
              </a:defRPr>
            </a:lvl6pPr>
            <a:lvl7pPr>
              <a:defRPr sz="2250" b="0">
                <a:solidFill>
                  <a:srgbClr val="D5663F"/>
                </a:solidFill>
                <a:latin typeface="Liberation Sans"/>
                <a:ea typeface="Liberation Sans"/>
                <a:cs typeface="Liberation Sans"/>
              </a:defRPr>
            </a:lvl7pPr>
            <a:lvl8pPr>
              <a:defRPr sz="2250" b="0">
                <a:solidFill>
                  <a:srgbClr val="D5663F"/>
                </a:solidFill>
                <a:latin typeface="Liberation Sans"/>
                <a:ea typeface="Liberation Sans"/>
                <a:cs typeface="Liberation Sans"/>
              </a:defRPr>
            </a:lvl8pPr>
            <a:lvl9pPr>
              <a:defRPr sz="2250" b="0">
                <a:solidFill>
                  <a:srgbClr val="D5663F"/>
                </a:solidFill>
                <a:latin typeface="Liberation Sans"/>
                <a:ea typeface="Liberation Sans"/>
                <a:cs typeface="Liberation Sans"/>
              </a:defRPr>
            </a:lvl9pPr>
          </a:lstStyle>
          <a:p xmlns:a="http://schemas.openxmlformats.org/drawingml/2006/main">
            <a:pPr>
              <a:defRPr sz="2250" b="0">
                <a:solidFill>
                  <a:srgbClr val="D5663F"/>
                </a:solidFill>
                <a:latin typeface="Liberation Sans"/>
                <a:ea typeface="Liberation Sans"/>
                <a:cs typeface="Liberation Sans"/>
              </a:defRPr>
            </a:pPr>
            <a:r>
              <a:rPr sz="2250" b="0">
                <a:solidFill>
                  <a:srgbClr val="D5663F"/>
                </a:solidFill>
                <a:latin typeface="Liberation Sans"/>
                <a:ea typeface="Liberation Sans"/>
                <a:cs typeface="Liberation Sans"/>
              </a:rPr>
              <a:t>Open the coordinate</a:t>
            </a:r>
          </a:p>
          <a:p xmlns:a="http://schemas.openxmlformats.org/drawingml/2006/main">
            <a:pPr>
              <a:defRPr sz="2250" b="0">
                <a:solidFill>
                  <a:srgbClr val="D5663F"/>
                </a:solidFill>
                <a:latin typeface="Liberation Sans"/>
                <a:ea typeface="Liberation Sans"/>
                <a:cs typeface="Liberation Sans"/>
              </a:defRPr>
            </a:pPr>
            <a:r>
              <a:rPr sz="2250" b="0">
                <a:solidFill>
                  <a:srgbClr val="D5663F"/>
                </a:solidFill>
                <a:latin typeface="Liberation Sans"/>
                <a:ea typeface="Liberation Sans"/>
                <a:cs typeface="Liberation Sans"/>
              </a:rPr>
              <a:t>in Google Maps</a:t>
            </a:r>
          </a:p>
        </p:txBody>
      </p:sp>
    </p:spTree>
    <p:extLst>
      <p:ext uri="{BB962C8B-B14F-4D97-AF65-F5344CB8AC3E}">
        <p14:creationId xmlns:p14="http://schemas.microsoft.com/office/powerpoint/2010/main" val="258906176"/>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1B7BCCF-5356-4117-84DD-53AEE95F0328}"/>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2C42"/>
                </a:solidFill>
                <a:latin typeface="Liberation Sans"/>
                <a:ea typeface="Liberation Sans"/>
                <a:cs typeface="Liberation Sans"/>
              </a:defRPr>
            </a:defPPr>
            <a:lvl1pPr>
              <a:defRPr sz="3600" b="1">
                <a:solidFill>
                  <a:srgbClr val="172C42"/>
                </a:solidFill>
                <a:latin typeface="Liberation Sans"/>
                <a:ea typeface="Liberation Sans"/>
                <a:cs typeface="Liberation Sans"/>
              </a:defRPr>
            </a:lvl1pPr>
            <a:lvl2pPr>
              <a:defRPr sz="3600" b="1">
                <a:solidFill>
                  <a:srgbClr val="172C42"/>
                </a:solidFill>
                <a:latin typeface="Liberation Sans"/>
                <a:ea typeface="Liberation Sans"/>
                <a:cs typeface="Liberation Sans"/>
              </a:defRPr>
            </a:lvl2pPr>
            <a:lvl3pPr>
              <a:defRPr sz="3600" b="1">
                <a:solidFill>
                  <a:srgbClr val="172C42"/>
                </a:solidFill>
                <a:latin typeface="Liberation Sans"/>
                <a:ea typeface="Liberation Sans"/>
                <a:cs typeface="Liberation Sans"/>
              </a:defRPr>
            </a:lvl3pPr>
            <a:lvl4pPr>
              <a:defRPr sz="3600" b="1">
                <a:solidFill>
                  <a:srgbClr val="172C42"/>
                </a:solidFill>
                <a:latin typeface="Liberation Sans"/>
                <a:ea typeface="Liberation Sans"/>
                <a:cs typeface="Liberation Sans"/>
              </a:defRPr>
            </a:lvl4pPr>
            <a:lvl5pPr>
              <a:defRPr sz="3600" b="1">
                <a:solidFill>
                  <a:srgbClr val="172C42"/>
                </a:solidFill>
                <a:latin typeface="Liberation Sans"/>
                <a:ea typeface="Liberation Sans"/>
                <a:cs typeface="Liberation Sans"/>
              </a:defRPr>
            </a:lvl5pPr>
            <a:lvl6pPr>
              <a:defRPr sz="3600" b="1">
                <a:solidFill>
                  <a:srgbClr val="172C42"/>
                </a:solidFill>
                <a:latin typeface="Liberation Sans"/>
                <a:ea typeface="Liberation Sans"/>
                <a:cs typeface="Liberation Sans"/>
              </a:defRPr>
            </a:lvl6pPr>
            <a:lvl7pPr>
              <a:defRPr sz="3600" b="1">
                <a:solidFill>
                  <a:srgbClr val="172C42"/>
                </a:solidFill>
                <a:latin typeface="Liberation Sans"/>
                <a:ea typeface="Liberation Sans"/>
                <a:cs typeface="Liberation Sans"/>
              </a:defRPr>
            </a:lvl7pPr>
            <a:lvl8pPr>
              <a:defRPr sz="3600" b="1">
                <a:solidFill>
                  <a:srgbClr val="172C42"/>
                </a:solidFill>
                <a:latin typeface="Liberation Sans"/>
                <a:ea typeface="Liberation Sans"/>
                <a:cs typeface="Liberation Sans"/>
              </a:defRPr>
            </a:lvl8pPr>
            <a:lvl9pPr>
              <a:defRPr sz="3600" b="1">
                <a:solidFill>
                  <a:srgbClr val="172C42"/>
                </a:solidFill>
                <a:latin typeface="Liberation Sans"/>
                <a:ea typeface="Liberation Sans"/>
                <a:cs typeface="Liberation Sans"/>
              </a:defRPr>
            </a:lvl9pPr>
          </a:lstStyle>
          <a:p xmlns:a="http://schemas.openxmlformats.org/drawingml/2006/main">
            <a:pPr>
              <a:defRPr sz="3600" b="1">
                <a:solidFill>
                  <a:srgbClr val="172C42"/>
                </a:solidFill>
                <a:latin typeface="Liberation Sans"/>
                <a:ea typeface="Liberation Sans"/>
                <a:cs typeface="Liberation Sans"/>
              </a:defRPr>
            </a:pPr>
            <a:r>
              <a:rPr sz="3600" b="1">
                <a:solidFill>
                  <a:srgbClr val="172C42"/>
                </a:solidFill>
                <a:latin typeface="Liberation Sans"/>
                <a:ea typeface="Liberation Sans"/>
                <a:cs typeface="Liberation Sans"/>
              </a:rPr>
              <a:t>Better data is the next improvement</a:t>
            </a:r>
          </a:p>
        </p:txBody>
      </p:sp>
      <p:sp>
        <p:nvSpPr>
          <p:cNvPr id="2" name="">
            <a:extLst xmlns:a="http://schemas.openxmlformats.org/drawingml/2006/main">
              <a:ext uri="{FF2B5EF4-FFF2-40B4-BE49-F238E27FC236}">
                <a16:creationId xmlns:a16="http://schemas.microsoft.com/office/drawing/2014/main" id="{BE0F6A9F-0590-4F55-A4CF-B20920539E52}"/>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D8D0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F7E18DA-13A8-4418-BC55-5E36B655624B}"/>
              </a:ext>
            </a:extLst>
          </p:cNvPr>
          <p:cNvSpPr>
            <a:spLocks xmlns:a="http://schemas.openxmlformats.org/drawingml/2006/main" noGrp="1"/>
          </p:cNvSpPr>
          <p:nvPr/>
        </p:nvSpPr>
        <p:spPr>
          <a:xfrm xmlns:a="http://schemas.openxmlformats.org/drawingml/2006/main">
            <a:off x="60960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Source: Wikimedia Commons candidate manifest and L6 limitations</a:t>
            </a:r>
          </a:p>
        </p:txBody>
      </p:sp>
      <p:sp>
        <p:nvSpPr>
          <p:cNvPr id="4" name="">
            <a:extLst xmlns:a="http://schemas.openxmlformats.org/drawingml/2006/main">
              <a:ext uri="{FF2B5EF4-FFF2-40B4-BE49-F238E27FC236}">
                <a16:creationId xmlns:a16="http://schemas.microsoft.com/office/drawing/2014/main" id="{F0E4DF10-8B5F-4D23-BF8B-280503962B75}"/>
              </a:ext>
            </a:extLst>
          </p:cNvPr>
          <p:cNvSpPr>
            <a:spLocks xmlns:a="http://schemas.openxmlformats.org/drawingml/2006/main" noGrp="1"/>
          </p:cNvSpPr>
          <p:nvPr/>
        </p:nvSpPr>
        <p:spPr>
          <a:xfrm xmlns:a="http://schemas.openxmlformats.org/drawingml/2006/main">
            <a:off x="11191875"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12</a:t>
            </a:r>
          </a:p>
        </p:txBody>
      </p:sp>
      <p:sp>
        <p:nvSpPr>
          <p:cNvPr id="5" name="">
            <a:extLst xmlns:a="http://schemas.openxmlformats.org/drawingml/2006/main">
              <a:ext uri="{FF2B5EF4-FFF2-40B4-BE49-F238E27FC236}">
                <a16:creationId xmlns:a16="http://schemas.microsoft.com/office/drawing/2014/main" id="{8F349A33-62D2-4F6A-81E1-9E0AD7EC0C59}"/>
              </a:ext>
            </a:extLst>
          </p:cNvPr>
          <p:cNvSpPr>
            <a:spLocks xmlns:a="http://schemas.openxmlformats.org/drawingml/2006/main" noGrp="1"/>
          </p:cNvSpPr>
          <p:nvPr/>
        </p:nvSpPr>
        <p:spPr>
          <a:xfrm xmlns:a="http://schemas.openxmlformats.org/drawingml/2006/main">
            <a:off x="609600" y="1762125"/>
            <a:ext cx="4572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0" b="1">
                <a:solidFill>
                  <a:srgbClr val="D5663F"/>
                </a:solidFill>
                <a:latin typeface="Liberation Sans"/>
                <a:ea typeface="Liberation Sans"/>
                <a:cs typeface="Liberation Sans"/>
              </a:defRPr>
            </a:defPPr>
            <a:lvl1pPr>
              <a:defRPr sz="9750" b="1">
                <a:solidFill>
                  <a:srgbClr val="D5663F"/>
                </a:solidFill>
                <a:latin typeface="Liberation Sans"/>
                <a:ea typeface="Liberation Sans"/>
                <a:cs typeface="Liberation Sans"/>
              </a:defRPr>
            </a:lvl1pPr>
            <a:lvl2pPr>
              <a:defRPr sz="9750" b="1">
                <a:solidFill>
                  <a:srgbClr val="D5663F"/>
                </a:solidFill>
                <a:latin typeface="Liberation Sans"/>
                <a:ea typeface="Liberation Sans"/>
                <a:cs typeface="Liberation Sans"/>
              </a:defRPr>
            </a:lvl2pPr>
            <a:lvl3pPr>
              <a:defRPr sz="9750" b="1">
                <a:solidFill>
                  <a:srgbClr val="D5663F"/>
                </a:solidFill>
                <a:latin typeface="Liberation Sans"/>
                <a:ea typeface="Liberation Sans"/>
                <a:cs typeface="Liberation Sans"/>
              </a:defRPr>
            </a:lvl3pPr>
            <a:lvl4pPr>
              <a:defRPr sz="9750" b="1">
                <a:solidFill>
                  <a:srgbClr val="D5663F"/>
                </a:solidFill>
                <a:latin typeface="Liberation Sans"/>
                <a:ea typeface="Liberation Sans"/>
                <a:cs typeface="Liberation Sans"/>
              </a:defRPr>
            </a:lvl4pPr>
            <a:lvl5pPr>
              <a:defRPr sz="9750" b="1">
                <a:solidFill>
                  <a:srgbClr val="D5663F"/>
                </a:solidFill>
                <a:latin typeface="Liberation Sans"/>
                <a:ea typeface="Liberation Sans"/>
                <a:cs typeface="Liberation Sans"/>
              </a:defRPr>
            </a:lvl5pPr>
            <a:lvl6pPr>
              <a:defRPr sz="9750" b="1">
                <a:solidFill>
                  <a:srgbClr val="D5663F"/>
                </a:solidFill>
                <a:latin typeface="Liberation Sans"/>
                <a:ea typeface="Liberation Sans"/>
                <a:cs typeface="Liberation Sans"/>
              </a:defRPr>
            </a:lvl6pPr>
            <a:lvl7pPr>
              <a:defRPr sz="9750" b="1">
                <a:solidFill>
                  <a:srgbClr val="D5663F"/>
                </a:solidFill>
                <a:latin typeface="Liberation Sans"/>
                <a:ea typeface="Liberation Sans"/>
                <a:cs typeface="Liberation Sans"/>
              </a:defRPr>
            </a:lvl7pPr>
            <a:lvl8pPr>
              <a:defRPr sz="9750" b="1">
                <a:solidFill>
                  <a:srgbClr val="D5663F"/>
                </a:solidFill>
                <a:latin typeface="Liberation Sans"/>
                <a:ea typeface="Liberation Sans"/>
                <a:cs typeface="Liberation Sans"/>
              </a:defRPr>
            </a:lvl8pPr>
            <a:lvl9pPr>
              <a:defRPr sz="9750" b="1">
                <a:solidFill>
                  <a:srgbClr val="D5663F"/>
                </a:solidFill>
                <a:latin typeface="Liberation Sans"/>
                <a:ea typeface="Liberation Sans"/>
                <a:cs typeface="Liberation Sans"/>
              </a:defRPr>
            </a:lvl9pPr>
          </a:lstStyle>
          <a:p xmlns:a="http://schemas.openxmlformats.org/drawingml/2006/main">
            <a:pPr>
              <a:defRPr sz="9750" b="1">
                <a:solidFill>
                  <a:srgbClr val="D5663F"/>
                </a:solidFill>
                <a:latin typeface="Liberation Sans"/>
                <a:ea typeface="Liberation Sans"/>
                <a:cs typeface="Liberation Sans"/>
              </a:defRPr>
            </a:pPr>
            <a:r>
              <a:rPr sz="9750" b="1">
                <a:solidFill>
                  <a:srgbClr val="D5663F"/>
                </a:solidFill>
                <a:latin typeface="Liberation Sans"/>
                <a:ea typeface="Liberation Sans"/>
                <a:cs typeface="Liberation Sans"/>
              </a:rPr>
              <a:t>350</a:t>
            </a:r>
          </a:p>
        </p:txBody>
      </p:sp>
      <p:sp>
        <p:nvSpPr>
          <p:cNvPr id="6" name="">
            <a:extLst xmlns:a="http://schemas.openxmlformats.org/drawingml/2006/main">
              <a:ext uri="{FF2B5EF4-FFF2-40B4-BE49-F238E27FC236}">
                <a16:creationId xmlns:a16="http://schemas.microsoft.com/office/drawing/2014/main" id="{3C9193B6-C15E-4E82-B115-6022E897732A}"/>
              </a:ext>
            </a:extLst>
          </p:cNvPr>
          <p:cNvSpPr>
            <a:spLocks xmlns:a="http://schemas.openxmlformats.org/drawingml/2006/main" noGrp="1"/>
          </p:cNvSpPr>
          <p:nvPr/>
        </p:nvSpPr>
        <p:spPr>
          <a:xfrm xmlns:a="http://schemas.openxmlformats.org/drawingml/2006/main">
            <a:off x="609600" y="37147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72C42"/>
                </a:solidFill>
                <a:latin typeface="Liberation Sans"/>
                <a:ea typeface="Liberation Sans"/>
                <a:cs typeface="Liberation Sans"/>
              </a:defRPr>
            </a:defPPr>
            <a:lvl1pPr>
              <a:defRPr sz="3000" b="1">
                <a:solidFill>
                  <a:srgbClr val="172C42"/>
                </a:solidFill>
                <a:latin typeface="Liberation Sans"/>
                <a:ea typeface="Liberation Sans"/>
                <a:cs typeface="Liberation Sans"/>
              </a:defRPr>
            </a:lvl1pPr>
            <a:lvl2pPr>
              <a:defRPr sz="3000" b="1">
                <a:solidFill>
                  <a:srgbClr val="172C42"/>
                </a:solidFill>
                <a:latin typeface="Liberation Sans"/>
                <a:ea typeface="Liberation Sans"/>
                <a:cs typeface="Liberation Sans"/>
              </a:defRPr>
            </a:lvl2pPr>
            <a:lvl3pPr>
              <a:defRPr sz="3000" b="1">
                <a:solidFill>
                  <a:srgbClr val="172C42"/>
                </a:solidFill>
                <a:latin typeface="Liberation Sans"/>
                <a:ea typeface="Liberation Sans"/>
                <a:cs typeface="Liberation Sans"/>
              </a:defRPr>
            </a:lvl3pPr>
            <a:lvl4pPr>
              <a:defRPr sz="3000" b="1">
                <a:solidFill>
                  <a:srgbClr val="172C42"/>
                </a:solidFill>
                <a:latin typeface="Liberation Sans"/>
                <a:ea typeface="Liberation Sans"/>
                <a:cs typeface="Liberation Sans"/>
              </a:defRPr>
            </a:lvl4pPr>
            <a:lvl5pPr>
              <a:defRPr sz="3000" b="1">
                <a:solidFill>
                  <a:srgbClr val="172C42"/>
                </a:solidFill>
                <a:latin typeface="Liberation Sans"/>
                <a:ea typeface="Liberation Sans"/>
                <a:cs typeface="Liberation Sans"/>
              </a:defRPr>
            </a:lvl5pPr>
            <a:lvl6pPr>
              <a:defRPr sz="3000" b="1">
                <a:solidFill>
                  <a:srgbClr val="172C42"/>
                </a:solidFill>
                <a:latin typeface="Liberation Sans"/>
                <a:ea typeface="Liberation Sans"/>
                <a:cs typeface="Liberation Sans"/>
              </a:defRPr>
            </a:lvl6pPr>
            <a:lvl7pPr>
              <a:defRPr sz="3000" b="1">
                <a:solidFill>
                  <a:srgbClr val="172C42"/>
                </a:solidFill>
                <a:latin typeface="Liberation Sans"/>
                <a:ea typeface="Liberation Sans"/>
                <a:cs typeface="Liberation Sans"/>
              </a:defRPr>
            </a:lvl7pPr>
            <a:lvl8pPr>
              <a:defRPr sz="3000" b="1">
                <a:solidFill>
                  <a:srgbClr val="172C42"/>
                </a:solidFill>
                <a:latin typeface="Liberation Sans"/>
                <a:ea typeface="Liberation Sans"/>
                <a:cs typeface="Liberation Sans"/>
              </a:defRPr>
            </a:lvl8pPr>
            <a:lvl9pPr>
              <a:defRPr sz="3000" b="1">
                <a:solidFill>
                  <a:srgbClr val="172C42"/>
                </a:solidFill>
                <a:latin typeface="Liberation Sans"/>
                <a:ea typeface="Liberation Sans"/>
                <a:cs typeface="Liberation Sans"/>
              </a:defRPr>
            </a:lvl9pPr>
          </a:lstStyle>
          <a:p xmlns:a="http://schemas.openxmlformats.org/drawingml/2006/main">
            <a:pPr>
              <a:defRPr sz="3000" b="1">
                <a:solidFill>
                  <a:srgbClr val="172C42"/>
                </a:solidFill>
                <a:latin typeface="Liberation Sans"/>
                <a:ea typeface="Liberation Sans"/>
                <a:cs typeface="Liberation Sans"/>
              </a:defRPr>
            </a:pPr>
            <a:r>
              <a:rPr sz="3000" b="1">
                <a:solidFill>
                  <a:srgbClr val="172C42"/>
                </a:solidFill>
                <a:latin typeface="Liberation Sans"/>
                <a:ea typeface="Liberation Sans"/>
                <a:cs typeface="Liberation Sans"/>
              </a:rPr>
              <a:t>geotagged candidate records</a:t>
            </a:r>
          </a:p>
        </p:txBody>
      </p:sp>
      <p:sp>
        <p:nvSpPr>
          <p:cNvPr id="7" name="">
            <a:extLst xmlns:a="http://schemas.openxmlformats.org/drawingml/2006/main">
              <a:ext uri="{FF2B5EF4-FFF2-40B4-BE49-F238E27FC236}">
                <a16:creationId xmlns:a16="http://schemas.microsoft.com/office/drawing/2014/main" id="{29AE3D7B-1D55-4885-80F1-69C6EE52C758}"/>
              </a:ext>
            </a:extLst>
          </p:cNvPr>
          <p:cNvSpPr>
            <a:spLocks xmlns:a="http://schemas.openxmlformats.org/drawingml/2006/main" noGrp="1"/>
          </p:cNvSpPr>
          <p:nvPr/>
        </p:nvSpPr>
        <p:spPr>
          <a:xfrm xmlns:a="http://schemas.openxmlformats.org/drawingml/2006/main">
            <a:off x="609600" y="48101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C42"/>
                </a:solidFill>
                <a:latin typeface="Liberation Sans"/>
                <a:ea typeface="Liberation Sans"/>
                <a:cs typeface="Liberation Sans"/>
              </a:defRPr>
            </a:defPPr>
            <a:lvl1pPr>
              <a:defRPr sz="2325" b="0">
                <a:solidFill>
                  <a:srgbClr val="172C42"/>
                </a:solidFill>
                <a:latin typeface="Liberation Sans"/>
                <a:ea typeface="Liberation Sans"/>
                <a:cs typeface="Liberation Sans"/>
              </a:defRPr>
            </a:lvl1pPr>
            <a:lvl2pPr>
              <a:defRPr sz="2325" b="0">
                <a:solidFill>
                  <a:srgbClr val="172C42"/>
                </a:solidFill>
                <a:latin typeface="Liberation Sans"/>
                <a:ea typeface="Liberation Sans"/>
                <a:cs typeface="Liberation Sans"/>
              </a:defRPr>
            </a:lvl2pPr>
            <a:lvl3pPr>
              <a:defRPr sz="2325" b="0">
                <a:solidFill>
                  <a:srgbClr val="172C42"/>
                </a:solidFill>
                <a:latin typeface="Liberation Sans"/>
                <a:ea typeface="Liberation Sans"/>
                <a:cs typeface="Liberation Sans"/>
              </a:defRPr>
            </a:lvl3pPr>
            <a:lvl4pPr>
              <a:defRPr sz="2325" b="0">
                <a:solidFill>
                  <a:srgbClr val="172C42"/>
                </a:solidFill>
                <a:latin typeface="Liberation Sans"/>
                <a:ea typeface="Liberation Sans"/>
                <a:cs typeface="Liberation Sans"/>
              </a:defRPr>
            </a:lvl4pPr>
            <a:lvl5pPr>
              <a:defRPr sz="2325" b="0">
                <a:solidFill>
                  <a:srgbClr val="172C42"/>
                </a:solidFill>
                <a:latin typeface="Liberation Sans"/>
                <a:ea typeface="Liberation Sans"/>
                <a:cs typeface="Liberation Sans"/>
              </a:defRPr>
            </a:lvl5pPr>
            <a:lvl6pPr>
              <a:defRPr sz="2325" b="0">
                <a:solidFill>
                  <a:srgbClr val="172C42"/>
                </a:solidFill>
                <a:latin typeface="Liberation Sans"/>
                <a:ea typeface="Liberation Sans"/>
                <a:cs typeface="Liberation Sans"/>
              </a:defRPr>
            </a:lvl6pPr>
            <a:lvl7pPr>
              <a:defRPr sz="2325" b="0">
                <a:solidFill>
                  <a:srgbClr val="172C42"/>
                </a:solidFill>
                <a:latin typeface="Liberation Sans"/>
                <a:ea typeface="Liberation Sans"/>
                <a:cs typeface="Liberation Sans"/>
              </a:defRPr>
            </a:lvl7pPr>
            <a:lvl8pPr>
              <a:defRPr sz="2325" b="0">
                <a:solidFill>
                  <a:srgbClr val="172C42"/>
                </a:solidFill>
                <a:latin typeface="Liberation Sans"/>
                <a:ea typeface="Liberation Sans"/>
                <a:cs typeface="Liberation Sans"/>
              </a:defRPr>
            </a:lvl8pPr>
            <a:lvl9pPr>
              <a:defRPr sz="2325" b="0">
                <a:solidFill>
                  <a:srgbClr val="172C42"/>
                </a:solidFill>
                <a:latin typeface="Liberation Sans"/>
                <a:ea typeface="Liberation Sans"/>
                <a:cs typeface="Liberation Sans"/>
              </a:defRPr>
            </a:lvl9pPr>
          </a:lstStyle>
          <a:p xmlns:a="http://schemas.openxmlformats.org/drawingml/2006/main">
            <a:pPr>
              <a:defRPr sz="2325" b="0">
                <a:solidFill>
                  <a:srgbClr val="172C42"/>
                </a:solidFill>
                <a:latin typeface="Liberation Sans"/>
                <a:ea typeface="Liberation Sans"/>
                <a:cs typeface="Liberation Sans"/>
              </a:defRPr>
            </a:pPr>
            <a:r>
              <a:rPr sz="2325" b="0">
                <a:solidFill>
                  <a:srgbClr val="172C42"/>
                </a:solidFill>
                <a:latin typeface="Liberation Sans"/>
                <a:ea typeface="Liberation Sans"/>
                <a:cs typeface="Liberation Sans"/>
              </a:rPr>
              <a:t>Coordinates, licenses and duplicates need review</a:t>
            </a:r>
          </a:p>
          <a:p xmlns:a="http://schemas.openxmlformats.org/drawingml/2006/main">
            <a:pPr>
              <a:defRPr sz="2325" b="0">
                <a:solidFill>
                  <a:srgbClr val="172C42"/>
                </a:solidFill>
                <a:latin typeface="Liberation Sans"/>
                <a:ea typeface="Liberation Sans"/>
                <a:cs typeface="Liberation Sans"/>
              </a:defRPr>
            </a:pPr>
            <a:r>
              <a:rPr sz="2325" b="0">
                <a:solidFill>
                  <a:srgbClr val="172C42"/>
                </a:solidFill>
                <a:latin typeface="Liberation Sans"/>
                <a:ea typeface="Liberation Sans"/>
                <a:cs typeface="Liberation Sans"/>
              </a:rPr>
              <a:t>before the next training split.</a:t>
            </a:r>
          </a:p>
        </p:txBody>
      </p:sp>
    </p:spTree>
    <p:extLst>
      <p:ext uri="{BB962C8B-B14F-4D97-AF65-F5344CB8AC3E}">
        <p14:creationId xmlns:p14="http://schemas.microsoft.com/office/powerpoint/2010/main" val="1364361624"/>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337559-C13C-4290-8F86-2B292E66746B}"/>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2C42"/>
                </a:solidFill>
                <a:latin typeface="Liberation Sans"/>
                <a:ea typeface="Liberation Sans"/>
                <a:cs typeface="Liberation Sans"/>
              </a:defRPr>
            </a:defPPr>
            <a:lvl1pPr>
              <a:defRPr sz="3600" b="1">
                <a:solidFill>
                  <a:srgbClr val="172C42"/>
                </a:solidFill>
                <a:latin typeface="Liberation Sans"/>
                <a:ea typeface="Liberation Sans"/>
                <a:cs typeface="Liberation Sans"/>
              </a:defRPr>
            </a:lvl1pPr>
            <a:lvl2pPr>
              <a:defRPr sz="3600" b="1">
                <a:solidFill>
                  <a:srgbClr val="172C42"/>
                </a:solidFill>
                <a:latin typeface="Liberation Sans"/>
                <a:ea typeface="Liberation Sans"/>
                <a:cs typeface="Liberation Sans"/>
              </a:defRPr>
            </a:lvl2pPr>
            <a:lvl3pPr>
              <a:defRPr sz="3600" b="1">
                <a:solidFill>
                  <a:srgbClr val="172C42"/>
                </a:solidFill>
                <a:latin typeface="Liberation Sans"/>
                <a:ea typeface="Liberation Sans"/>
                <a:cs typeface="Liberation Sans"/>
              </a:defRPr>
            </a:lvl3pPr>
            <a:lvl4pPr>
              <a:defRPr sz="3600" b="1">
                <a:solidFill>
                  <a:srgbClr val="172C42"/>
                </a:solidFill>
                <a:latin typeface="Liberation Sans"/>
                <a:ea typeface="Liberation Sans"/>
                <a:cs typeface="Liberation Sans"/>
              </a:defRPr>
            </a:lvl4pPr>
            <a:lvl5pPr>
              <a:defRPr sz="3600" b="1">
                <a:solidFill>
                  <a:srgbClr val="172C42"/>
                </a:solidFill>
                <a:latin typeface="Liberation Sans"/>
                <a:ea typeface="Liberation Sans"/>
                <a:cs typeface="Liberation Sans"/>
              </a:defRPr>
            </a:lvl5pPr>
            <a:lvl6pPr>
              <a:defRPr sz="3600" b="1">
                <a:solidFill>
                  <a:srgbClr val="172C42"/>
                </a:solidFill>
                <a:latin typeface="Liberation Sans"/>
                <a:ea typeface="Liberation Sans"/>
                <a:cs typeface="Liberation Sans"/>
              </a:defRPr>
            </a:lvl6pPr>
            <a:lvl7pPr>
              <a:defRPr sz="3600" b="1">
                <a:solidFill>
                  <a:srgbClr val="172C42"/>
                </a:solidFill>
                <a:latin typeface="Liberation Sans"/>
                <a:ea typeface="Liberation Sans"/>
                <a:cs typeface="Liberation Sans"/>
              </a:defRPr>
            </a:lvl7pPr>
            <a:lvl8pPr>
              <a:defRPr sz="3600" b="1">
                <a:solidFill>
                  <a:srgbClr val="172C42"/>
                </a:solidFill>
                <a:latin typeface="Liberation Sans"/>
                <a:ea typeface="Liberation Sans"/>
                <a:cs typeface="Liberation Sans"/>
              </a:defRPr>
            </a:lvl8pPr>
            <a:lvl9pPr>
              <a:defRPr sz="3600" b="1">
                <a:solidFill>
                  <a:srgbClr val="172C42"/>
                </a:solidFill>
                <a:latin typeface="Liberation Sans"/>
                <a:ea typeface="Liberation Sans"/>
                <a:cs typeface="Liberation Sans"/>
              </a:defRPr>
            </a:lvl9pPr>
          </a:lstStyle>
          <a:p xmlns:a="http://schemas.openxmlformats.org/drawingml/2006/main">
            <a:pPr>
              <a:defRPr sz="3600" b="1">
                <a:solidFill>
                  <a:srgbClr val="172C42"/>
                </a:solidFill>
                <a:latin typeface="Liberation Sans"/>
                <a:ea typeface="Liberation Sans"/>
                <a:cs typeface="Liberation Sans"/>
              </a:defRPr>
            </a:pPr>
            <a:r>
              <a:rPr sz="3600" b="1">
                <a:solidFill>
                  <a:srgbClr val="172C42"/>
                </a:solidFill>
                <a:latin typeface="Liberation Sans"/>
                <a:ea typeface="Liberation Sans"/>
                <a:cs typeface="Liberation Sans"/>
              </a:rPr>
              <a:t>Training-photo neighbors refine the guess</a:t>
            </a:r>
          </a:p>
        </p:txBody>
      </p:sp>
      <p:sp>
        <p:nvSpPr>
          <p:cNvPr id="2" name="">
            <a:extLst xmlns:a="http://schemas.openxmlformats.org/drawingml/2006/main">
              <a:ext uri="{FF2B5EF4-FFF2-40B4-BE49-F238E27FC236}">
                <a16:creationId xmlns:a16="http://schemas.microsoft.com/office/drawing/2014/main" id="{2FA5281A-997B-47D7-BEE8-9F2295F9BC2C}"/>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D8D0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8747780-294A-4CFD-8816-14C7D05921E4}"/>
              </a:ext>
            </a:extLst>
          </p:cNvPr>
          <p:cNvSpPr>
            <a:spLocks xmlns:a="http://schemas.openxmlformats.org/drawingml/2006/main" noGrp="1"/>
          </p:cNvSpPr>
          <p:nvPr/>
        </p:nvSpPr>
        <p:spPr>
          <a:xfrm xmlns:a="http://schemas.openxmlformats.org/drawingml/2006/main">
            <a:off x="60960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Source: fixed L7 protocol; training-only bank; reused official test benchmark.</a:t>
            </a:r>
          </a:p>
        </p:txBody>
      </p:sp>
      <p:sp>
        <p:nvSpPr>
          <p:cNvPr id="4" name="">
            <a:extLst xmlns:a="http://schemas.openxmlformats.org/drawingml/2006/main">
              <a:ext uri="{FF2B5EF4-FFF2-40B4-BE49-F238E27FC236}">
                <a16:creationId xmlns:a16="http://schemas.microsoft.com/office/drawing/2014/main" id="{C32772DC-E073-43A7-9542-4DAA019BD460}"/>
              </a:ext>
            </a:extLst>
          </p:cNvPr>
          <p:cNvSpPr>
            <a:spLocks xmlns:a="http://schemas.openxmlformats.org/drawingml/2006/main" noGrp="1"/>
          </p:cNvSpPr>
          <p:nvPr/>
        </p:nvSpPr>
        <p:spPr>
          <a:xfrm xmlns:a="http://schemas.openxmlformats.org/drawingml/2006/main">
            <a:off x="11191875"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13</a:t>
            </a:r>
          </a:p>
        </p:txBody>
      </p:sp>
      <p:sp>
        <p:nvSpPr>
          <p:cNvPr id="5" name="">
            <a:extLst xmlns:a="http://schemas.openxmlformats.org/drawingml/2006/main">
              <a:ext uri="{FF2B5EF4-FFF2-40B4-BE49-F238E27FC236}">
                <a16:creationId xmlns:a16="http://schemas.microsoft.com/office/drawing/2014/main" id="{95DB3EE9-7CBC-49A9-8089-08CEA193CF99}"/>
              </a:ext>
            </a:extLst>
          </p:cNvPr>
          <p:cNvSpPr>
            <a:spLocks xmlns:a="http://schemas.openxmlformats.org/drawingml/2006/main" noGrp="1"/>
          </p:cNvSpPr>
          <p:nvPr/>
        </p:nvSpPr>
        <p:spPr>
          <a:xfrm xmlns:a="http://schemas.openxmlformats.org/drawingml/2006/main">
            <a:off x="609600" y="18097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172C42"/>
                </a:solidFill>
                <a:latin typeface="Liberation Sans"/>
                <a:ea typeface="Liberation Sans"/>
                <a:cs typeface="Liberation Sans"/>
              </a:defRPr>
            </a:defPPr>
            <a:lvl1pPr>
              <a:defRPr sz="4275" b="1">
                <a:solidFill>
                  <a:srgbClr val="172C42"/>
                </a:solidFill>
                <a:latin typeface="Liberation Sans"/>
                <a:ea typeface="Liberation Sans"/>
                <a:cs typeface="Liberation Sans"/>
              </a:defRPr>
            </a:lvl1pPr>
            <a:lvl2pPr>
              <a:defRPr sz="4275" b="1">
                <a:solidFill>
                  <a:srgbClr val="172C42"/>
                </a:solidFill>
                <a:latin typeface="Liberation Sans"/>
                <a:ea typeface="Liberation Sans"/>
                <a:cs typeface="Liberation Sans"/>
              </a:defRPr>
            </a:lvl2pPr>
            <a:lvl3pPr>
              <a:defRPr sz="4275" b="1">
                <a:solidFill>
                  <a:srgbClr val="172C42"/>
                </a:solidFill>
                <a:latin typeface="Liberation Sans"/>
                <a:ea typeface="Liberation Sans"/>
                <a:cs typeface="Liberation Sans"/>
              </a:defRPr>
            </a:lvl3pPr>
            <a:lvl4pPr>
              <a:defRPr sz="4275" b="1">
                <a:solidFill>
                  <a:srgbClr val="172C42"/>
                </a:solidFill>
                <a:latin typeface="Liberation Sans"/>
                <a:ea typeface="Liberation Sans"/>
                <a:cs typeface="Liberation Sans"/>
              </a:defRPr>
            </a:lvl4pPr>
            <a:lvl5pPr>
              <a:defRPr sz="4275" b="1">
                <a:solidFill>
                  <a:srgbClr val="172C42"/>
                </a:solidFill>
                <a:latin typeface="Liberation Sans"/>
                <a:ea typeface="Liberation Sans"/>
                <a:cs typeface="Liberation Sans"/>
              </a:defRPr>
            </a:lvl5pPr>
            <a:lvl6pPr>
              <a:defRPr sz="4275" b="1">
                <a:solidFill>
                  <a:srgbClr val="172C42"/>
                </a:solidFill>
                <a:latin typeface="Liberation Sans"/>
                <a:ea typeface="Liberation Sans"/>
                <a:cs typeface="Liberation Sans"/>
              </a:defRPr>
            </a:lvl6pPr>
            <a:lvl7pPr>
              <a:defRPr sz="4275" b="1">
                <a:solidFill>
                  <a:srgbClr val="172C42"/>
                </a:solidFill>
                <a:latin typeface="Liberation Sans"/>
                <a:ea typeface="Liberation Sans"/>
                <a:cs typeface="Liberation Sans"/>
              </a:defRPr>
            </a:lvl7pPr>
            <a:lvl8pPr>
              <a:defRPr sz="4275" b="1">
                <a:solidFill>
                  <a:srgbClr val="172C42"/>
                </a:solidFill>
                <a:latin typeface="Liberation Sans"/>
                <a:ea typeface="Liberation Sans"/>
                <a:cs typeface="Liberation Sans"/>
              </a:defRPr>
            </a:lvl8pPr>
            <a:lvl9pPr>
              <a:defRPr sz="4275" b="1">
                <a:solidFill>
                  <a:srgbClr val="172C42"/>
                </a:solidFill>
                <a:latin typeface="Liberation Sans"/>
                <a:ea typeface="Liberation Sans"/>
                <a:cs typeface="Liberation Sans"/>
              </a:defRPr>
            </a:lvl9pPr>
          </a:lstStyle>
          <a:p xmlns:a="http://schemas.openxmlformats.org/drawingml/2006/main">
            <a:pPr>
              <a:defRPr sz="4275" b="1">
                <a:solidFill>
                  <a:srgbClr val="172C42"/>
                </a:solidFill>
                <a:latin typeface="Liberation Sans"/>
                <a:ea typeface="Liberation Sans"/>
                <a:cs typeface="Liberation Sans"/>
              </a:defRPr>
            </a:pPr>
            <a:r>
              <a:rPr sz="4275" b="1">
                <a:solidFill>
                  <a:srgbClr val="172C42"/>
                </a:solidFill>
                <a:latin typeface="Liberation Sans"/>
                <a:ea typeface="Liberation Sans"/>
                <a:cs typeface="Liberation Sans"/>
              </a:rPr>
              <a:t>80% classifier</a:t>
            </a:r>
          </a:p>
        </p:txBody>
      </p:sp>
      <p:sp>
        <p:nvSpPr>
          <p:cNvPr id="6" name="">
            <a:extLst xmlns:a="http://schemas.openxmlformats.org/drawingml/2006/main">
              <a:ext uri="{FF2B5EF4-FFF2-40B4-BE49-F238E27FC236}">
                <a16:creationId xmlns:a16="http://schemas.microsoft.com/office/drawing/2014/main" id="{8B4D471B-0255-4A34-9F12-F4C8575423A7}"/>
              </a:ext>
            </a:extLst>
          </p:cNvPr>
          <p:cNvSpPr>
            <a:spLocks xmlns:a="http://schemas.openxmlformats.org/drawingml/2006/main" noGrp="1"/>
          </p:cNvSpPr>
          <p:nvPr/>
        </p:nvSpPr>
        <p:spPr>
          <a:xfrm xmlns:a="http://schemas.openxmlformats.org/drawingml/2006/main">
            <a:off x="609600" y="30956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D5663F"/>
                </a:solidFill>
                <a:latin typeface="Liberation Sans"/>
                <a:ea typeface="Liberation Sans"/>
                <a:cs typeface="Liberation Sans"/>
              </a:defRPr>
            </a:defPPr>
            <a:lvl1pPr>
              <a:defRPr sz="4275" b="1">
                <a:solidFill>
                  <a:srgbClr val="D5663F"/>
                </a:solidFill>
                <a:latin typeface="Liberation Sans"/>
                <a:ea typeface="Liberation Sans"/>
                <a:cs typeface="Liberation Sans"/>
              </a:defRPr>
            </a:lvl1pPr>
            <a:lvl2pPr>
              <a:defRPr sz="4275" b="1">
                <a:solidFill>
                  <a:srgbClr val="D5663F"/>
                </a:solidFill>
                <a:latin typeface="Liberation Sans"/>
                <a:ea typeface="Liberation Sans"/>
                <a:cs typeface="Liberation Sans"/>
              </a:defRPr>
            </a:lvl2pPr>
            <a:lvl3pPr>
              <a:defRPr sz="4275" b="1">
                <a:solidFill>
                  <a:srgbClr val="D5663F"/>
                </a:solidFill>
                <a:latin typeface="Liberation Sans"/>
                <a:ea typeface="Liberation Sans"/>
                <a:cs typeface="Liberation Sans"/>
              </a:defRPr>
            </a:lvl3pPr>
            <a:lvl4pPr>
              <a:defRPr sz="4275" b="1">
                <a:solidFill>
                  <a:srgbClr val="D5663F"/>
                </a:solidFill>
                <a:latin typeface="Liberation Sans"/>
                <a:ea typeface="Liberation Sans"/>
                <a:cs typeface="Liberation Sans"/>
              </a:defRPr>
            </a:lvl4pPr>
            <a:lvl5pPr>
              <a:defRPr sz="4275" b="1">
                <a:solidFill>
                  <a:srgbClr val="D5663F"/>
                </a:solidFill>
                <a:latin typeface="Liberation Sans"/>
                <a:ea typeface="Liberation Sans"/>
                <a:cs typeface="Liberation Sans"/>
              </a:defRPr>
            </a:lvl5pPr>
            <a:lvl6pPr>
              <a:defRPr sz="4275" b="1">
                <a:solidFill>
                  <a:srgbClr val="D5663F"/>
                </a:solidFill>
                <a:latin typeface="Liberation Sans"/>
                <a:ea typeface="Liberation Sans"/>
                <a:cs typeface="Liberation Sans"/>
              </a:defRPr>
            </a:lvl6pPr>
            <a:lvl7pPr>
              <a:defRPr sz="4275" b="1">
                <a:solidFill>
                  <a:srgbClr val="D5663F"/>
                </a:solidFill>
                <a:latin typeface="Liberation Sans"/>
                <a:ea typeface="Liberation Sans"/>
                <a:cs typeface="Liberation Sans"/>
              </a:defRPr>
            </a:lvl7pPr>
            <a:lvl8pPr>
              <a:defRPr sz="4275" b="1">
                <a:solidFill>
                  <a:srgbClr val="D5663F"/>
                </a:solidFill>
                <a:latin typeface="Liberation Sans"/>
                <a:ea typeface="Liberation Sans"/>
                <a:cs typeface="Liberation Sans"/>
              </a:defRPr>
            </a:lvl8pPr>
            <a:lvl9pPr>
              <a:defRPr sz="4275" b="1">
                <a:solidFill>
                  <a:srgbClr val="D5663F"/>
                </a:solidFill>
                <a:latin typeface="Liberation Sans"/>
                <a:ea typeface="Liberation Sans"/>
                <a:cs typeface="Liberation Sans"/>
              </a:defRPr>
            </a:lvl9pPr>
          </a:lstStyle>
          <a:p xmlns:a="http://schemas.openxmlformats.org/drawingml/2006/main">
            <a:pPr>
              <a:defRPr sz="4275" b="1">
                <a:solidFill>
                  <a:srgbClr val="D5663F"/>
                </a:solidFill>
                <a:latin typeface="Liberation Sans"/>
                <a:ea typeface="Liberation Sans"/>
                <a:cs typeface="Liberation Sans"/>
              </a:defRPr>
            </a:pPr>
            <a:r>
              <a:rPr sz="4275" b="1">
                <a:solidFill>
                  <a:srgbClr val="D5663F"/>
                </a:solidFill>
                <a:latin typeface="Liberation Sans"/>
                <a:ea typeface="Liberation Sans"/>
                <a:cs typeface="Liberation Sans"/>
              </a:rPr>
              <a:t>+ 20% neighbor votes</a:t>
            </a:r>
          </a:p>
        </p:txBody>
      </p:sp>
      <p:sp>
        <p:nvSpPr>
          <p:cNvPr id="7" name="">
            <a:extLst xmlns:a="http://schemas.openxmlformats.org/drawingml/2006/main">
              <a:ext uri="{FF2B5EF4-FFF2-40B4-BE49-F238E27FC236}">
                <a16:creationId xmlns:a16="http://schemas.microsoft.com/office/drawing/2014/main" id="{85205B8F-2A87-446B-BF46-CB73CF054663}"/>
              </a:ext>
            </a:extLst>
          </p:cNvPr>
          <p:cNvSpPr>
            <a:spLocks xmlns:a="http://schemas.openxmlformats.org/drawingml/2006/main" noGrp="1"/>
          </p:cNvSpPr>
          <p:nvPr/>
        </p:nvSpPr>
        <p:spPr>
          <a:xfrm xmlns:a="http://schemas.openxmlformats.org/drawingml/2006/main">
            <a:off x="609600" y="45243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72C42"/>
                </a:solidFill>
                <a:latin typeface="Liberation Sans"/>
                <a:ea typeface="Liberation Sans"/>
                <a:cs typeface="Liberation Sans"/>
              </a:defRPr>
            </a:defPPr>
            <a:lvl1pPr>
              <a:defRPr sz="2400" b="0">
                <a:solidFill>
                  <a:srgbClr val="172C42"/>
                </a:solidFill>
                <a:latin typeface="Liberation Sans"/>
                <a:ea typeface="Liberation Sans"/>
                <a:cs typeface="Liberation Sans"/>
              </a:defRPr>
            </a:lvl1pPr>
            <a:lvl2pPr>
              <a:defRPr sz="2400" b="0">
                <a:solidFill>
                  <a:srgbClr val="172C42"/>
                </a:solidFill>
                <a:latin typeface="Liberation Sans"/>
                <a:ea typeface="Liberation Sans"/>
                <a:cs typeface="Liberation Sans"/>
              </a:defRPr>
            </a:lvl2pPr>
            <a:lvl3pPr>
              <a:defRPr sz="2400" b="0">
                <a:solidFill>
                  <a:srgbClr val="172C42"/>
                </a:solidFill>
                <a:latin typeface="Liberation Sans"/>
                <a:ea typeface="Liberation Sans"/>
                <a:cs typeface="Liberation Sans"/>
              </a:defRPr>
            </a:lvl3pPr>
            <a:lvl4pPr>
              <a:defRPr sz="2400" b="0">
                <a:solidFill>
                  <a:srgbClr val="172C42"/>
                </a:solidFill>
                <a:latin typeface="Liberation Sans"/>
                <a:ea typeface="Liberation Sans"/>
                <a:cs typeface="Liberation Sans"/>
              </a:defRPr>
            </a:lvl4pPr>
            <a:lvl5pPr>
              <a:defRPr sz="2400" b="0">
                <a:solidFill>
                  <a:srgbClr val="172C42"/>
                </a:solidFill>
                <a:latin typeface="Liberation Sans"/>
                <a:ea typeface="Liberation Sans"/>
                <a:cs typeface="Liberation Sans"/>
              </a:defRPr>
            </a:lvl5pPr>
            <a:lvl6pPr>
              <a:defRPr sz="2400" b="0">
                <a:solidFill>
                  <a:srgbClr val="172C42"/>
                </a:solidFill>
                <a:latin typeface="Liberation Sans"/>
                <a:ea typeface="Liberation Sans"/>
                <a:cs typeface="Liberation Sans"/>
              </a:defRPr>
            </a:lvl6pPr>
            <a:lvl7pPr>
              <a:defRPr sz="2400" b="0">
                <a:solidFill>
                  <a:srgbClr val="172C42"/>
                </a:solidFill>
                <a:latin typeface="Liberation Sans"/>
                <a:ea typeface="Liberation Sans"/>
                <a:cs typeface="Liberation Sans"/>
              </a:defRPr>
            </a:lvl7pPr>
            <a:lvl8pPr>
              <a:defRPr sz="2400" b="0">
                <a:solidFill>
                  <a:srgbClr val="172C42"/>
                </a:solidFill>
                <a:latin typeface="Liberation Sans"/>
                <a:ea typeface="Liberation Sans"/>
                <a:cs typeface="Liberation Sans"/>
              </a:defRPr>
            </a:lvl8pPr>
            <a:lvl9pPr>
              <a:defRPr sz="2400" b="0">
                <a:solidFill>
                  <a:srgbClr val="172C42"/>
                </a:solidFill>
                <a:latin typeface="Liberation Sans"/>
                <a:ea typeface="Liberation Sans"/>
                <a:cs typeface="Liberation Sans"/>
              </a:defRPr>
            </a:lvl9pPr>
          </a:lstStyle>
          <a:p xmlns:a="http://schemas.openxmlformats.org/drawingml/2006/main">
            <a:pPr>
              <a:defRPr sz="2400" b="0">
                <a:solidFill>
                  <a:srgbClr val="172C42"/>
                </a:solidFill>
                <a:latin typeface="Liberation Sans"/>
                <a:ea typeface="Liberation Sans"/>
                <a:cs typeface="Liberation Sans"/>
              </a:defRPr>
            </a:pPr>
            <a:r>
              <a:rPr sz="2400" b="0">
                <a:solidFill>
                  <a:srgbClr val="172C42"/>
                </a:solidFill>
                <a:latin typeface="Liberation Sans"/>
                <a:ea typeface="Liberation Sans"/>
                <a:cs typeface="Liberation Sans"/>
              </a:rPr>
              <a:t>Five cosine-nearest ResNet features</a:t>
            </a:r>
          </a:p>
          <a:p xmlns:a="http://schemas.openxmlformats.org/drawingml/2006/main">
            <a:pPr>
              <a:defRPr sz="2400" b="0">
                <a:solidFill>
                  <a:srgbClr val="172C42"/>
                </a:solidFill>
                <a:latin typeface="Liberation Sans"/>
                <a:ea typeface="Liberation Sans"/>
                <a:cs typeface="Liberation Sans"/>
              </a:defRPr>
            </a:pPr>
            <a:r>
              <a:rPr sz="2400" b="0">
                <a:solidFill>
                  <a:srgbClr val="172C42"/>
                </a:solidFill>
                <a:latin typeface="Liberation Sans"/>
                <a:ea typeface="Liberation Sans"/>
                <a:cs typeface="Liberation Sans"/>
              </a:rPr>
              <a:t>from training photographs only</a:t>
            </a:r>
          </a:p>
        </p:txBody>
      </p:sp>
      <p:sp>
        <p:nvSpPr>
          <p:cNvPr id="8" name="">
            <a:extLst xmlns:a="http://schemas.openxmlformats.org/drawingml/2006/main">
              <a:ext uri="{FF2B5EF4-FFF2-40B4-BE49-F238E27FC236}">
                <a16:creationId xmlns:a16="http://schemas.microsoft.com/office/drawing/2014/main" id="{C62B4F6C-08C6-4B32-A166-C8CCBF13EEFC}"/>
              </a:ext>
            </a:extLst>
          </p:cNvPr>
          <p:cNvSpPr>
            <a:spLocks xmlns:a="http://schemas.openxmlformats.org/drawingml/2006/main" noGrp="1"/>
          </p:cNvSpPr>
          <p:nvPr/>
        </p:nvSpPr>
        <p:spPr>
          <a:xfrm xmlns:a="http://schemas.openxmlformats.org/drawingml/2006/main">
            <a:off x="6096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26A70"/>
                </a:solidFill>
                <a:latin typeface="Liberation Sans"/>
                <a:ea typeface="Liberation Sans"/>
                <a:cs typeface="Liberation Sans"/>
              </a:defRPr>
            </a:defPPr>
            <a:lvl1pPr>
              <a:defRPr sz="1800" b="0">
                <a:solidFill>
                  <a:srgbClr val="626A70"/>
                </a:solidFill>
                <a:latin typeface="Liberation Sans"/>
                <a:ea typeface="Liberation Sans"/>
                <a:cs typeface="Liberation Sans"/>
              </a:defRPr>
            </a:lvl1pPr>
            <a:lvl2pPr>
              <a:defRPr sz="1800" b="0">
                <a:solidFill>
                  <a:srgbClr val="626A70"/>
                </a:solidFill>
                <a:latin typeface="Liberation Sans"/>
                <a:ea typeface="Liberation Sans"/>
                <a:cs typeface="Liberation Sans"/>
              </a:defRPr>
            </a:lvl2pPr>
            <a:lvl3pPr>
              <a:defRPr sz="1800" b="0">
                <a:solidFill>
                  <a:srgbClr val="626A70"/>
                </a:solidFill>
                <a:latin typeface="Liberation Sans"/>
                <a:ea typeface="Liberation Sans"/>
                <a:cs typeface="Liberation Sans"/>
              </a:defRPr>
            </a:lvl3pPr>
            <a:lvl4pPr>
              <a:defRPr sz="1800" b="0">
                <a:solidFill>
                  <a:srgbClr val="626A70"/>
                </a:solidFill>
                <a:latin typeface="Liberation Sans"/>
                <a:ea typeface="Liberation Sans"/>
                <a:cs typeface="Liberation Sans"/>
              </a:defRPr>
            </a:lvl4pPr>
            <a:lvl5pPr>
              <a:defRPr sz="1800" b="0">
                <a:solidFill>
                  <a:srgbClr val="626A70"/>
                </a:solidFill>
                <a:latin typeface="Liberation Sans"/>
                <a:ea typeface="Liberation Sans"/>
                <a:cs typeface="Liberation Sans"/>
              </a:defRPr>
            </a:lvl5pPr>
            <a:lvl6pPr>
              <a:defRPr sz="1800" b="0">
                <a:solidFill>
                  <a:srgbClr val="626A70"/>
                </a:solidFill>
                <a:latin typeface="Liberation Sans"/>
                <a:ea typeface="Liberation Sans"/>
                <a:cs typeface="Liberation Sans"/>
              </a:defRPr>
            </a:lvl6pPr>
            <a:lvl7pPr>
              <a:defRPr sz="1800" b="0">
                <a:solidFill>
                  <a:srgbClr val="626A70"/>
                </a:solidFill>
                <a:latin typeface="Liberation Sans"/>
                <a:ea typeface="Liberation Sans"/>
                <a:cs typeface="Liberation Sans"/>
              </a:defRPr>
            </a:lvl7pPr>
            <a:lvl8pPr>
              <a:defRPr sz="1800" b="0">
                <a:solidFill>
                  <a:srgbClr val="626A70"/>
                </a:solidFill>
                <a:latin typeface="Liberation Sans"/>
                <a:ea typeface="Liberation Sans"/>
                <a:cs typeface="Liberation Sans"/>
              </a:defRPr>
            </a:lvl8pPr>
            <a:lvl9pPr>
              <a:defRPr sz="1800" b="0">
                <a:solidFill>
                  <a:srgbClr val="626A70"/>
                </a:solidFill>
                <a:latin typeface="Liberation Sans"/>
                <a:ea typeface="Liberation Sans"/>
                <a:cs typeface="Liberation Sans"/>
              </a:defRPr>
            </a:lvl9pPr>
          </a:lstStyle>
          <a:p xmlns:a="http://schemas.openxmlformats.org/drawingml/2006/main">
            <a:pPr>
              <a:defRPr sz="1800" b="0">
                <a:solidFill>
                  <a:srgbClr val="626A70"/>
                </a:solidFill>
                <a:latin typeface="Liberation Sans"/>
                <a:ea typeface="Liberation Sans"/>
                <a:cs typeface="Liberation Sans"/>
              </a:defRPr>
            </a:pPr>
            <a:r>
              <a:rPr sz="1800" b="0">
                <a:solidFill>
                  <a:srgbClr val="626A70"/>
                </a:solidFill>
                <a:latin typeface="Liberation Sans"/>
                <a:ea typeface="Liberation Sans"/>
                <a:cs typeface="Liberation Sans"/>
              </a:rPr>
              <a:t>Retrieval improves this benchmark; it cannot verify the input region.</a:t>
            </a:r>
          </a:p>
        </p:txBody>
      </p:sp>
    </p:spTree>
    <p:extLst>
      <p:ext uri="{BB962C8B-B14F-4D97-AF65-F5344CB8AC3E}">
        <p14:creationId xmlns:p14="http://schemas.microsoft.com/office/powerpoint/2010/main" val="1773338222"/>
      </p:ext>
    </p:extLst>
  </p:cSld>
</p:sld>
</file>

<file path=ppt/slides/slide1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67C018-0C5D-40B8-8241-A5C3CAD5EEDD}"/>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2C42"/>
                </a:solidFill>
                <a:latin typeface="Liberation Sans"/>
                <a:ea typeface="Liberation Sans"/>
                <a:cs typeface="Liberation Sans"/>
              </a:defRPr>
            </a:defPPr>
            <a:lvl1pPr>
              <a:defRPr sz="3600" b="1">
                <a:solidFill>
                  <a:srgbClr val="172C42"/>
                </a:solidFill>
                <a:latin typeface="Liberation Sans"/>
                <a:ea typeface="Liberation Sans"/>
                <a:cs typeface="Liberation Sans"/>
              </a:defRPr>
            </a:lvl1pPr>
            <a:lvl2pPr>
              <a:defRPr sz="3600" b="1">
                <a:solidFill>
                  <a:srgbClr val="172C42"/>
                </a:solidFill>
                <a:latin typeface="Liberation Sans"/>
                <a:ea typeface="Liberation Sans"/>
                <a:cs typeface="Liberation Sans"/>
              </a:defRPr>
            </a:lvl2pPr>
            <a:lvl3pPr>
              <a:defRPr sz="3600" b="1">
                <a:solidFill>
                  <a:srgbClr val="172C42"/>
                </a:solidFill>
                <a:latin typeface="Liberation Sans"/>
                <a:ea typeface="Liberation Sans"/>
                <a:cs typeface="Liberation Sans"/>
              </a:defRPr>
            </a:lvl3pPr>
            <a:lvl4pPr>
              <a:defRPr sz="3600" b="1">
                <a:solidFill>
                  <a:srgbClr val="172C42"/>
                </a:solidFill>
                <a:latin typeface="Liberation Sans"/>
                <a:ea typeface="Liberation Sans"/>
                <a:cs typeface="Liberation Sans"/>
              </a:defRPr>
            </a:lvl4pPr>
            <a:lvl5pPr>
              <a:defRPr sz="3600" b="1">
                <a:solidFill>
                  <a:srgbClr val="172C42"/>
                </a:solidFill>
                <a:latin typeface="Liberation Sans"/>
                <a:ea typeface="Liberation Sans"/>
                <a:cs typeface="Liberation Sans"/>
              </a:defRPr>
            </a:lvl5pPr>
            <a:lvl6pPr>
              <a:defRPr sz="3600" b="1">
                <a:solidFill>
                  <a:srgbClr val="172C42"/>
                </a:solidFill>
                <a:latin typeface="Liberation Sans"/>
                <a:ea typeface="Liberation Sans"/>
                <a:cs typeface="Liberation Sans"/>
              </a:defRPr>
            </a:lvl6pPr>
            <a:lvl7pPr>
              <a:defRPr sz="3600" b="1">
                <a:solidFill>
                  <a:srgbClr val="172C42"/>
                </a:solidFill>
                <a:latin typeface="Liberation Sans"/>
                <a:ea typeface="Liberation Sans"/>
                <a:cs typeface="Liberation Sans"/>
              </a:defRPr>
            </a:lvl7pPr>
            <a:lvl8pPr>
              <a:defRPr sz="3600" b="1">
                <a:solidFill>
                  <a:srgbClr val="172C42"/>
                </a:solidFill>
                <a:latin typeface="Liberation Sans"/>
                <a:ea typeface="Liberation Sans"/>
                <a:cs typeface="Liberation Sans"/>
              </a:defRPr>
            </a:lvl8pPr>
            <a:lvl9pPr>
              <a:defRPr sz="3600" b="1">
                <a:solidFill>
                  <a:srgbClr val="172C42"/>
                </a:solidFill>
                <a:latin typeface="Liberation Sans"/>
                <a:ea typeface="Liberation Sans"/>
                <a:cs typeface="Liberation Sans"/>
              </a:defRPr>
            </a:lvl9pPr>
          </a:lstStyle>
          <a:p xmlns:a="http://schemas.openxmlformats.org/drawingml/2006/main">
            <a:pPr>
              <a:defRPr sz="3600" b="1">
                <a:solidFill>
                  <a:srgbClr val="172C42"/>
                </a:solidFill>
                <a:latin typeface="Liberation Sans"/>
                <a:ea typeface="Liberation Sans"/>
                <a:cs typeface="Liberation Sans"/>
              </a:defRPr>
            </a:pPr>
            <a:r>
              <a:rPr sz="3600" b="1">
                <a:solidFill>
                  <a:srgbClr val="172C42"/>
                </a:solidFill>
                <a:latin typeface="Liberation Sans"/>
                <a:ea typeface="Liberation Sans"/>
                <a:cs typeface="Liberation Sans"/>
              </a:rPr>
              <a:t>Appendix: the controlled global data-scale study</a:t>
            </a:r>
          </a:p>
        </p:txBody>
      </p:sp>
      <p:sp>
        <p:nvSpPr>
          <p:cNvPr id="2" name="">
            <a:extLst xmlns:a="http://schemas.openxmlformats.org/drawingml/2006/main">
              <a:ext uri="{FF2B5EF4-FFF2-40B4-BE49-F238E27FC236}">
                <a16:creationId xmlns:a16="http://schemas.microsoft.com/office/drawing/2014/main" id="{DB6BB9A0-1083-467A-896D-283DED904D69}"/>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D8D0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C2B026-93F7-4B5E-8DD7-B6C2881B361D}"/>
              </a:ext>
            </a:extLst>
          </p:cNvPr>
          <p:cNvSpPr>
            <a:spLocks xmlns:a="http://schemas.openxmlformats.org/drawingml/2006/main" noGrp="1"/>
          </p:cNvSpPr>
          <p:nvPr/>
        </p:nvSpPr>
        <p:spPr>
          <a:xfrm xmlns:a="http://schemas.openxmlformats.org/drawingml/2006/main">
            <a:off x="60960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Source: three paired seeds, fixed 300 cells, recorded 9 October study</a:t>
            </a:r>
          </a:p>
        </p:txBody>
      </p:sp>
      <p:sp>
        <p:nvSpPr>
          <p:cNvPr id="4" name="">
            <a:extLst xmlns:a="http://schemas.openxmlformats.org/drawingml/2006/main">
              <a:ext uri="{FF2B5EF4-FFF2-40B4-BE49-F238E27FC236}">
                <a16:creationId xmlns:a16="http://schemas.microsoft.com/office/drawing/2014/main" id="{90B27D30-AD29-458A-8322-31500C8A4733}"/>
              </a:ext>
            </a:extLst>
          </p:cNvPr>
          <p:cNvSpPr>
            <a:spLocks xmlns:a="http://schemas.openxmlformats.org/drawingml/2006/main" noGrp="1"/>
          </p:cNvSpPr>
          <p:nvPr/>
        </p:nvSpPr>
        <p:spPr>
          <a:xfrm xmlns:a="http://schemas.openxmlformats.org/drawingml/2006/main">
            <a:off x="11191875"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14</a:t>
            </a:r>
          </a:p>
        </p:txBody>
      </p:sp>
      <p:graphicFrame>
        <p:nvGraphicFramePr>
          <p:cNvPr id="5" name="Chart">
            <a:extLst xmlns:a="http://schemas.openxmlformats.org/drawingml/2006/main">
              <a:ext uri="{FF2B5EF4-FFF2-40B4-BE49-F238E27FC236}">
                <a16:creationId xmlns:a16="http://schemas.microsoft.com/office/drawing/2014/main" id="{74E6DAE1-6A6F-4B04-8D14-20387C40F4FF}"/>
              </a:ext>
            </a:extLst>
          </p:cNvPr>
          <p:cNvGraphicFramePr/>
          <p:nvPr/>
        </p:nvGraphicFramePr>
        <p:xfrm>
          <a:off xmlns:a="http://schemas.openxmlformats.org/drawingml/2006/main" x="609600" y="1619250"/>
          <a:ext xmlns:a="http://schemas.openxmlformats.org/drawingml/2006/main" cx="10820400" cy="3857625"/>
        </p:xfrm>
        <a:graphic xmlns:a="http://schemas.openxmlformats.org/drawingml/2006/main">
          <a:graphicData uri="http://schemas.openxmlformats.org/drawingml/2006/chart">
            <c:chart xmlns:r="http://schemas.openxmlformats.org/officeDocument/2006/relationships" xmlns:c="http://schemas.openxmlformats.org/drawingml/2006/chart" r:id="Rb0b4b6d783754e4d"/>
          </a:graphicData>
        </a:graphic>
      </p:graphicFrame>
      <p:sp>
        <p:nvSpPr>
          <p:cNvPr id="6" name="">
            <a:extLst xmlns:a="http://schemas.openxmlformats.org/drawingml/2006/main">
              <a:ext uri="{FF2B5EF4-FFF2-40B4-BE49-F238E27FC236}">
                <a16:creationId xmlns:a16="http://schemas.microsoft.com/office/drawing/2014/main" id="{C62A9C98-904C-40ED-A5A6-5EBD1205A85F}"/>
              </a:ext>
            </a:extLst>
          </p:cNvPr>
          <p:cNvSpPr>
            <a:spLocks xmlns:a="http://schemas.openxmlformats.org/drawingml/2006/main" noGrp="1"/>
          </p:cNvSpPr>
          <p:nvPr/>
        </p:nvSpPr>
        <p:spPr>
          <a:xfrm xmlns:a="http://schemas.openxmlformats.org/drawingml/2006/main">
            <a:off x="609600" y="57150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C42"/>
                </a:solidFill>
                <a:latin typeface="Liberation Sans"/>
                <a:ea typeface="Liberation Sans"/>
                <a:cs typeface="Liberation Sans"/>
              </a:defRPr>
            </a:defPPr>
            <a:lvl1pPr>
              <a:defRPr sz="2025" b="0">
                <a:solidFill>
                  <a:srgbClr val="172C42"/>
                </a:solidFill>
                <a:latin typeface="Liberation Sans"/>
                <a:ea typeface="Liberation Sans"/>
                <a:cs typeface="Liberation Sans"/>
              </a:defRPr>
            </a:lvl1pPr>
            <a:lvl2pPr>
              <a:defRPr sz="2025" b="0">
                <a:solidFill>
                  <a:srgbClr val="172C42"/>
                </a:solidFill>
                <a:latin typeface="Liberation Sans"/>
                <a:ea typeface="Liberation Sans"/>
                <a:cs typeface="Liberation Sans"/>
              </a:defRPr>
            </a:lvl2pPr>
            <a:lvl3pPr>
              <a:defRPr sz="2025" b="0">
                <a:solidFill>
                  <a:srgbClr val="172C42"/>
                </a:solidFill>
                <a:latin typeface="Liberation Sans"/>
                <a:ea typeface="Liberation Sans"/>
                <a:cs typeface="Liberation Sans"/>
              </a:defRPr>
            </a:lvl3pPr>
            <a:lvl4pPr>
              <a:defRPr sz="2025" b="0">
                <a:solidFill>
                  <a:srgbClr val="172C42"/>
                </a:solidFill>
                <a:latin typeface="Liberation Sans"/>
                <a:ea typeface="Liberation Sans"/>
                <a:cs typeface="Liberation Sans"/>
              </a:defRPr>
            </a:lvl4pPr>
            <a:lvl5pPr>
              <a:defRPr sz="2025" b="0">
                <a:solidFill>
                  <a:srgbClr val="172C42"/>
                </a:solidFill>
                <a:latin typeface="Liberation Sans"/>
                <a:ea typeface="Liberation Sans"/>
                <a:cs typeface="Liberation Sans"/>
              </a:defRPr>
            </a:lvl5pPr>
            <a:lvl6pPr>
              <a:defRPr sz="2025" b="0">
                <a:solidFill>
                  <a:srgbClr val="172C42"/>
                </a:solidFill>
                <a:latin typeface="Liberation Sans"/>
                <a:ea typeface="Liberation Sans"/>
                <a:cs typeface="Liberation Sans"/>
              </a:defRPr>
            </a:lvl6pPr>
            <a:lvl7pPr>
              <a:defRPr sz="2025" b="0">
                <a:solidFill>
                  <a:srgbClr val="172C42"/>
                </a:solidFill>
                <a:latin typeface="Liberation Sans"/>
                <a:ea typeface="Liberation Sans"/>
                <a:cs typeface="Liberation Sans"/>
              </a:defRPr>
            </a:lvl7pPr>
            <a:lvl8pPr>
              <a:defRPr sz="2025" b="0">
                <a:solidFill>
                  <a:srgbClr val="172C42"/>
                </a:solidFill>
                <a:latin typeface="Liberation Sans"/>
                <a:ea typeface="Liberation Sans"/>
                <a:cs typeface="Liberation Sans"/>
              </a:defRPr>
            </a:lvl8pPr>
            <a:lvl9pPr>
              <a:defRPr sz="2025" b="0">
                <a:solidFill>
                  <a:srgbClr val="172C42"/>
                </a:solidFill>
                <a:latin typeface="Liberation Sans"/>
                <a:ea typeface="Liberation Sans"/>
                <a:cs typeface="Liberation Sans"/>
              </a:defRPr>
            </a:lvl9pPr>
          </a:lstStyle>
          <a:p xmlns:a="http://schemas.openxmlformats.org/drawingml/2006/main">
            <a:pPr>
              <a:defRPr sz="2025" b="0">
                <a:solidFill>
                  <a:srgbClr val="172C42"/>
                </a:solidFill>
                <a:latin typeface="Liberation Sans"/>
                <a:ea typeface="Liberation Sans"/>
                <a:cs typeface="Liberation Sans"/>
              </a:defRPr>
            </a:pPr>
            <a:r>
              <a:rPr sz="2025" b="0">
                <a:solidFill>
                  <a:srgbClr val="172C42"/>
                </a:solidFill>
                <a:latin typeface="Liberation Sans"/>
                <a:ea typeface="Liberation Sans"/>
                <a:cs typeface="Liberation Sans"/>
              </a:rPr>
              <a:t>Within 200 km, averaged over three paired seeds</a:t>
            </a:r>
          </a:p>
        </p:txBody>
      </p:sp>
    </p:spTree>
    <p:extLst>
      <p:ext uri="{BB962C8B-B14F-4D97-AF65-F5344CB8AC3E}">
        <p14:creationId xmlns:p14="http://schemas.microsoft.com/office/powerpoint/2010/main" val="1811348389"/>
      </p:ext>
    </p:extLst>
  </p:cSld>
</p:sld>
</file>

<file path=ppt/slides/slide1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4289B3-C180-4E01-BDAB-1B9DEDD50564}"/>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2C42"/>
                </a:solidFill>
                <a:latin typeface="Liberation Sans"/>
                <a:ea typeface="Liberation Sans"/>
                <a:cs typeface="Liberation Sans"/>
              </a:defRPr>
            </a:defPPr>
            <a:lvl1pPr>
              <a:defRPr sz="3600" b="1">
                <a:solidFill>
                  <a:srgbClr val="172C42"/>
                </a:solidFill>
                <a:latin typeface="Liberation Sans"/>
                <a:ea typeface="Liberation Sans"/>
                <a:cs typeface="Liberation Sans"/>
              </a:defRPr>
            </a:lvl1pPr>
            <a:lvl2pPr>
              <a:defRPr sz="3600" b="1">
                <a:solidFill>
                  <a:srgbClr val="172C42"/>
                </a:solidFill>
                <a:latin typeface="Liberation Sans"/>
                <a:ea typeface="Liberation Sans"/>
                <a:cs typeface="Liberation Sans"/>
              </a:defRPr>
            </a:lvl2pPr>
            <a:lvl3pPr>
              <a:defRPr sz="3600" b="1">
                <a:solidFill>
                  <a:srgbClr val="172C42"/>
                </a:solidFill>
                <a:latin typeface="Liberation Sans"/>
                <a:ea typeface="Liberation Sans"/>
                <a:cs typeface="Liberation Sans"/>
              </a:defRPr>
            </a:lvl3pPr>
            <a:lvl4pPr>
              <a:defRPr sz="3600" b="1">
                <a:solidFill>
                  <a:srgbClr val="172C42"/>
                </a:solidFill>
                <a:latin typeface="Liberation Sans"/>
                <a:ea typeface="Liberation Sans"/>
                <a:cs typeface="Liberation Sans"/>
              </a:defRPr>
            </a:lvl4pPr>
            <a:lvl5pPr>
              <a:defRPr sz="3600" b="1">
                <a:solidFill>
                  <a:srgbClr val="172C42"/>
                </a:solidFill>
                <a:latin typeface="Liberation Sans"/>
                <a:ea typeface="Liberation Sans"/>
                <a:cs typeface="Liberation Sans"/>
              </a:defRPr>
            </a:lvl5pPr>
            <a:lvl6pPr>
              <a:defRPr sz="3600" b="1">
                <a:solidFill>
                  <a:srgbClr val="172C42"/>
                </a:solidFill>
                <a:latin typeface="Liberation Sans"/>
                <a:ea typeface="Liberation Sans"/>
                <a:cs typeface="Liberation Sans"/>
              </a:defRPr>
            </a:lvl6pPr>
            <a:lvl7pPr>
              <a:defRPr sz="3600" b="1">
                <a:solidFill>
                  <a:srgbClr val="172C42"/>
                </a:solidFill>
                <a:latin typeface="Liberation Sans"/>
                <a:ea typeface="Liberation Sans"/>
                <a:cs typeface="Liberation Sans"/>
              </a:defRPr>
            </a:lvl7pPr>
            <a:lvl8pPr>
              <a:defRPr sz="3600" b="1">
                <a:solidFill>
                  <a:srgbClr val="172C42"/>
                </a:solidFill>
                <a:latin typeface="Liberation Sans"/>
                <a:ea typeface="Liberation Sans"/>
                <a:cs typeface="Liberation Sans"/>
              </a:defRPr>
            </a:lvl8pPr>
            <a:lvl9pPr>
              <a:defRPr sz="3600" b="1">
                <a:solidFill>
                  <a:srgbClr val="172C42"/>
                </a:solidFill>
                <a:latin typeface="Liberation Sans"/>
                <a:ea typeface="Liberation Sans"/>
                <a:cs typeface="Liberation Sans"/>
              </a:defRPr>
            </a:lvl9pPr>
          </a:lstStyle>
          <a:p xmlns:a="http://schemas.openxmlformats.org/drawingml/2006/main">
            <a:pPr>
              <a:defRPr sz="3600" b="1">
                <a:solidFill>
                  <a:srgbClr val="172C42"/>
                </a:solidFill>
                <a:latin typeface="Liberation Sans"/>
                <a:ea typeface="Liberation Sans"/>
                <a:cs typeface="Liberation Sans"/>
              </a:defRPr>
            </a:pPr>
            <a:r>
              <a:rPr sz="3600" b="1">
                <a:solidFill>
                  <a:srgbClr val="172C42"/>
                </a:solidFill>
                <a:latin typeface="Liberation Sans"/>
                <a:ea typeface="Liberation Sans"/>
                <a:cs typeface="Liberation Sans"/>
              </a:rPr>
              <a:t>Appendix: the finite-sample conformal cutoff</a:t>
            </a:r>
          </a:p>
        </p:txBody>
      </p:sp>
      <p:sp>
        <p:nvSpPr>
          <p:cNvPr id="2" name="">
            <a:extLst xmlns:a="http://schemas.openxmlformats.org/drawingml/2006/main">
              <a:ext uri="{FF2B5EF4-FFF2-40B4-BE49-F238E27FC236}">
                <a16:creationId xmlns:a16="http://schemas.microsoft.com/office/drawing/2014/main" id="{72D9CDDA-FC49-475D-B56D-598EB8B341CB}"/>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D8D0C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1084C79-EAF5-443F-9C77-27F02C18476D}"/>
              </a:ext>
            </a:extLst>
          </p:cNvPr>
          <p:cNvSpPr>
            <a:spLocks xmlns:a="http://schemas.openxmlformats.org/drawingml/2006/main" noGrp="1"/>
          </p:cNvSpPr>
          <p:nvPr/>
        </p:nvSpPr>
        <p:spPr>
          <a:xfrm xmlns:a="http://schemas.openxmlformats.org/drawingml/2006/main">
            <a:off x="60960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Source: src/uncertainty.py. Worked example, not model results.</a:t>
            </a:r>
          </a:p>
        </p:txBody>
      </p:sp>
      <p:sp>
        <p:nvSpPr>
          <p:cNvPr id="4" name="">
            <a:extLst xmlns:a="http://schemas.openxmlformats.org/drawingml/2006/main">
              <a:ext uri="{FF2B5EF4-FFF2-40B4-BE49-F238E27FC236}">
                <a16:creationId xmlns:a16="http://schemas.microsoft.com/office/drawing/2014/main" id="{B2EC3498-BE08-4562-B258-D1768DDE7CF5}"/>
              </a:ext>
            </a:extLst>
          </p:cNvPr>
          <p:cNvSpPr>
            <a:spLocks xmlns:a="http://schemas.openxmlformats.org/drawingml/2006/main" noGrp="1"/>
          </p:cNvSpPr>
          <p:nvPr/>
        </p:nvSpPr>
        <p:spPr>
          <a:xfrm xmlns:a="http://schemas.openxmlformats.org/drawingml/2006/main">
            <a:off x="11191875"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26A70"/>
                </a:solidFill>
                <a:latin typeface="Liberation Sans"/>
                <a:ea typeface="Liberation Sans"/>
                <a:cs typeface="Liberation Sans"/>
              </a:defRPr>
            </a:defPPr>
            <a:lvl1pPr>
              <a:defRPr sz="1050" b="0">
                <a:solidFill>
                  <a:srgbClr val="626A70"/>
                </a:solidFill>
                <a:latin typeface="Liberation Sans"/>
                <a:ea typeface="Liberation Sans"/>
                <a:cs typeface="Liberation Sans"/>
              </a:defRPr>
            </a:lvl1pPr>
            <a:lvl2pPr>
              <a:defRPr sz="1050" b="0">
                <a:solidFill>
                  <a:srgbClr val="626A70"/>
                </a:solidFill>
                <a:latin typeface="Liberation Sans"/>
                <a:ea typeface="Liberation Sans"/>
                <a:cs typeface="Liberation Sans"/>
              </a:defRPr>
            </a:lvl2pPr>
            <a:lvl3pPr>
              <a:defRPr sz="1050" b="0">
                <a:solidFill>
                  <a:srgbClr val="626A70"/>
                </a:solidFill>
                <a:latin typeface="Liberation Sans"/>
                <a:ea typeface="Liberation Sans"/>
                <a:cs typeface="Liberation Sans"/>
              </a:defRPr>
            </a:lvl3pPr>
            <a:lvl4pPr>
              <a:defRPr sz="1050" b="0">
                <a:solidFill>
                  <a:srgbClr val="626A70"/>
                </a:solidFill>
                <a:latin typeface="Liberation Sans"/>
                <a:ea typeface="Liberation Sans"/>
                <a:cs typeface="Liberation Sans"/>
              </a:defRPr>
            </a:lvl4pPr>
            <a:lvl5pPr>
              <a:defRPr sz="1050" b="0">
                <a:solidFill>
                  <a:srgbClr val="626A70"/>
                </a:solidFill>
                <a:latin typeface="Liberation Sans"/>
                <a:ea typeface="Liberation Sans"/>
                <a:cs typeface="Liberation Sans"/>
              </a:defRPr>
            </a:lvl5pPr>
            <a:lvl6pPr>
              <a:defRPr sz="1050" b="0">
                <a:solidFill>
                  <a:srgbClr val="626A70"/>
                </a:solidFill>
                <a:latin typeface="Liberation Sans"/>
                <a:ea typeface="Liberation Sans"/>
                <a:cs typeface="Liberation Sans"/>
              </a:defRPr>
            </a:lvl6pPr>
            <a:lvl7pPr>
              <a:defRPr sz="1050" b="0">
                <a:solidFill>
                  <a:srgbClr val="626A70"/>
                </a:solidFill>
                <a:latin typeface="Liberation Sans"/>
                <a:ea typeface="Liberation Sans"/>
                <a:cs typeface="Liberation Sans"/>
              </a:defRPr>
            </a:lvl7pPr>
            <a:lvl8pPr>
              <a:defRPr sz="1050" b="0">
                <a:solidFill>
                  <a:srgbClr val="626A70"/>
                </a:solidFill>
                <a:latin typeface="Liberation Sans"/>
                <a:ea typeface="Liberation Sans"/>
                <a:cs typeface="Liberation Sans"/>
              </a:defRPr>
            </a:lvl8pPr>
            <a:lvl9pPr>
              <a:defRPr sz="1050" b="0">
                <a:solidFill>
                  <a:srgbClr val="626A70"/>
                </a:solidFill>
                <a:latin typeface="Liberation Sans"/>
                <a:ea typeface="Liberation Sans"/>
                <a:cs typeface="Liberation Sans"/>
              </a:defRPr>
            </a:lvl9pPr>
          </a:lstStyle>
          <a:p xmlns:a="http://schemas.openxmlformats.org/drawingml/2006/main">
            <a:pPr>
              <a:defRPr sz="1050" b="0">
                <a:solidFill>
                  <a:srgbClr val="626A70"/>
                </a:solidFill>
                <a:latin typeface="Liberation Sans"/>
                <a:ea typeface="Liberation Sans"/>
                <a:cs typeface="Liberation Sans"/>
              </a:defRPr>
            </a:pPr>
            <a:r>
              <a:rPr sz="1050" b="0">
                <a:solidFill>
                  <a:srgbClr val="626A70"/>
                </a:solidFill>
                <a:latin typeface="Liberation Sans"/>
                <a:ea typeface="Liberation Sans"/>
                <a:cs typeface="Liberation Sans"/>
              </a:rPr>
              <a:t>15</a:t>
            </a:r>
          </a:p>
        </p:txBody>
      </p:sp>
      <p:sp>
        <p:nvSpPr>
          <p:cNvPr id="5" name="">
            <a:extLst xmlns:a="http://schemas.openxmlformats.org/drawingml/2006/main">
              <a:ext uri="{FF2B5EF4-FFF2-40B4-BE49-F238E27FC236}">
                <a16:creationId xmlns:a16="http://schemas.microsoft.com/office/drawing/2014/main" id="{425AD3FA-E097-4FAE-BE7F-22001CDC08A0}"/>
              </a:ext>
            </a:extLst>
          </p:cNvPr>
          <p:cNvSpPr>
            <a:spLocks xmlns:a="http://schemas.openxmlformats.org/drawingml/2006/main" noGrp="1"/>
          </p:cNvSpPr>
          <p:nvPr/>
        </p:nvSpPr>
        <p:spPr>
          <a:xfrm xmlns:a="http://schemas.openxmlformats.org/drawingml/2006/main">
            <a:off x="609600" y="18573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172C42"/>
                </a:solidFill>
                <a:latin typeface="Liberation Sans"/>
                <a:ea typeface="Liberation Sans"/>
                <a:cs typeface="Liberation Sans"/>
              </a:defRPr>
            </a:defPPr>
            <a:lvl1pPr>
              <a:defRPr sz="4125" b="1">
                <a:solidFill>
                  <a:srgbClr val="172C42"/>
                </a:solidFill>
                <a:latin typeface="Liberation Sans"/>
                <a:ea typeface="Liberation Sans"/>
                <a:cs typeface="Liberation Sans"/>
              </a:defRPr>
            </a:lvl1pPr>
            <a:lvl2pPr>
              <a:defRPr sz="4125" b="1">
                <a:solidFill>
                  <a:srgbClr val="172C42"/>
                </a:solidFill>
                <a:latin typeface="Liberation Sans"/>
                <a:ea typeface="Liberation Sans"/>
                <a:cs typeface="Liberation Sans"/>
              </a:defRPr>
            </a:lvl2pPr>
            <a:lvl3pPr>
              <a:defRPr sz="4125" b="1">
                <a:solidFill>
                  <a:srgbClr val="172C42"/>
                </a:solidFill>
                <a:latin typeface="Liberation Sans"/>
                <a:ea typeface="Liberation Sans"/>
                <a:cs typeface="Liberation Sans"/>
              </a:defRPr>
            </a:lvl3pPr>
            <a:lvl4pPr>
              <a:defRPr sz="4125" b="1">
                <a:solidFill>
                  <a:srgbClr val="172C42"/>
                </a:solidFill>
                <a:latin typeface="Liberation Sans"/>
                <a:ea typeface="Liberation Sans"/>
                <a:cs typeface="Liberation Sans"/>
              </a:defRPr>
            </a:lvl4pPr>
            <a:lvl5pPr>
              <a:defRPr sz="4125" b="1">
                <a:solidFill>
                  <a:srgbClr val="172C42"/>
                </a:solidFill>
                <a:latin typeface="Liberation Sans"/>
                <a:ea typeface="Liberation Sans"/>
                <a:cs typeface="Liberation Sans"/>
              </a:defRPr>
            </a:lvl5pPr>
            <a:lvl6pPr>
              <a:defRPr sz="4125" b="1">
                <a:solidFill>
                  <a:srgbClr val="172C42"/>
                </a:solidFill>
                <a:latin typeface="Liberation Sans"/>
                <a:ea typeface="Liberation Sans"/>
                <a:cs typeface="Liberation Sans"/>
              </a:defRPr>
            </a:lvl6pPr>
            <a:lvl7pPr>
              <a:defRPr sz="4125" b="1">
                <a:solidFill>
                  <a:srgbClr val="172C42"/>
                </a:solidFill>
                <a:latin typeface="Liberation Sans"/>
                <a:ea typeface="Liberation Sans"/>
                <a:cs typeface="Liberation Sans"/>
              </a:defRPr>
            </a:lvl7pPr>
            <a:lvl8pPr>
              <a:defRPr sz="4125" b="1">
                <a:solidFill>
                  <a:srgbClr val="172C42"/>
                </a:solidFill>
                <a:latin typeface="Liberation Sans"/>
                <a:ea typeface="Liberation Sans"/>
                <a:cs typeface="Liberation Sans"/>
              </a:defRPr>
            </a:lvl8pPr>
            <a:lvl9pPr>
              <a:defRPr sz="4125" b="1">
                <a:solidFill>
                  <a:srgbClr val="172C42"/>
                </a:solidFill>
                <a:latin typeface="Liberation Sans"/>
                <a:ea typeface="Liberation Sans"/>
                <a:cs typeface="Liberation Sans"/>
              </a:defRPr>
            </a:lvl9pPr>
          </a:lstStyle>
          <a:p xmlns:a="http://schemas.openxmlformats.org/drawingml/2006/main">
            <a:pPr>
              <a:defRPr sz="4125" b="1">
                <a:solidFill>
                  <a:srgbClr val="172C42"/>
                </a:solidFill>
                <a:latin typeface="Liberation Sans"/>
                <a:ea typeface="Liberation Sans"/>
                <a:cs typeface="Liberation Sans"/>
              </a:defRPr>
            </a:pPr>
            <a:r>
              <a:rPr sz="4125" b="1">
                <a:solidFill>
                  <a:srgbClr val="172C42"/>
                </a:solidFill>
                <a:latin typeface="Liberation Sans"/>
                <a:ea typeface="Liberation Sans"/>
                <a:cs typeface="Liberation Sans"/>
              </a:rPr>
              <a:t>k = ceil((n + 1)(1 - alpha))</a:t>
            </a:r>
          </a:p>
        </p:txBody>
      </p:sp>
      <p:sp>
        <p:nvSpPr>
          <p:cNvPr id="6" name="">
            <a:extLst xmlns:a="http://schemas.openxmlformats.org/drawingml/2006/main">
              <a:ext uri="{FF2B5EF4-FFF2-40B4-BE49-F238E27FC236}">
                <a16:creationId xmlns:a16="http://schemas.microsoft.com/office/drawing/2014/main" id="{84FE6B65-B4A8-4866-A480-2508DB4940D2}"/>
              </a:ext>
            </a:extLst>
          </p:cNvPr>
          <p:cNvSpPr>
            <a:spLocks xmlns:a="http://schemas.openxmlformats.org/drawingml/2006/main" noGrp="1"/>
          </p:cNvSpPr>
          <p:nvPr/>
        </p:nvSpPr>
        <p:spPr>
          <a:xfrm xmlns:a="http://schemas.openxmlformats.org/drawingml/2006/main">
            <a:off x="609600" y="3333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0">
                <a:solidFill>
                  <a:srgbClr val="172C42"/>
                </a:solidFill>
                <a:latin typeface="Liberation Sans"/>
                <a:ea typeface="Liberation Sans"/>
                <a:cs typeface="Liberation Sans"/>
              </a:defRPr>
            </a:defPPr>
            <a:lvl1pPr>
              <a:defRPr sz="2775" b="0">
                <a:solidFill>
                  <a:srgbClr val="172C42"/>
                </a:solidFill>
                <a:latin typeface="Liberation Sans"/>
                <a:ea typeface="Liberation Sans"/>
                <a:cs typeface="Liberation Sans"/>
              </a:defRPr>
            </a:lvl1pPr>
            <a:lvl2pPr>
              <a:defRPr sz="2775" b="0">
                <a:solidFill>
                  <a:srgbClr val="172C42"/>
                </a:solidFill>
                <a:latin typeface="Liberation Sans"/>
                <a:ea typeface="Liberation Sans"/>
                <a:cs typeface="Liberation Sans"/>
              </a:defRPr>
            </a:lvl2pPr>
            <a:lvl3pPr>
              <a:defRPr sz="2775" b="0">
                <a:solidFill>
                  <a:srgbClr val="172C42"/>
                </a:solidFill>
                <a:latin typeface="Liberation Sans"/>
                <a:ea typeface="Liberation Sans"/>
                <a:cs typeface="Liberation Sans"/>
              </a:defRPr>
            </a:lvl3pPr>
            <a:lvl4pPr>
              <a:defRPr sz="2775" b="0">
                <a:solidFill>
                  <a:srgbClr val="172C42"/>
                </a:solidFill>
                <a:latin typeface="Liberation Sans"/>
                <a:ea typeface="Liberation Sans"/>
                <a:cs typeface="Liberation Sans"/>
              </a:defRPr>
            </a:lvl4pPr>
            <a:lvl5pPr>
              <a:defRPr sz="2775" b="0">
                <a:solidFill>
                  <a:srgbClr val="172C42"/>
                </a:solidFill>
                <a:latin typeface="Liberation Sans"/>
                <a:ea typeface="Liberation Sans"/>
                <a:cs typeface="Liberation Sans"/>
              </a:defRPr>
            </a:lvl5pPr>
            <a:lvl6pPr>
              <a:defRPr sz="2775" b="0">
                <a:solidFill>
                  <a:srgbClr val="172C42"/>
                </a:solidFill>
                <a:latin typeface="Liberation Sans"/>
                <a:ea typeface="Liberation Sans"/>
                <a:cs typeface="Liberation Sans"/>
              </a:defRPr>
            </a:lvl6pPr>
            <a:lvl7pPr>
              <a:defRPr sz="2775" b="0">
                <a:solidFill>
                  <a:srgbClr val="172C42"/>
                </a:solidFill>
                <a:latin typeface="Liberation Sans"/>
                <a:ea typeface="Liberation Sans"/>
                <a:cs typeface="Liberation Sans"/>
              </a:defRPr>
            </a:lvl7pPr>
            <a:lvl8pPr>
              <a:defRPr sz="2775" b="0">
                <a:solidFill>
                  <a:srgbClr val="172C42"/>
                </a:solidFill>
                <a:latin typeface="Liberation Sans"/>
                <a:ea typeface="Liberation Sans"/>
                <a:cs typeface="Liberation Sans"/>
              </a:defRPr>
            </a:lvl8pPr>
            <a:lvl9pPr>
              <a:defRPr sz="2775" b="0">
                <a:solidFill>
                  <a:srgbClr val="172C42"/>
                </a:solidFill>
                <a:latin typeface="Liberation Sans"/>
                <a:ea typeface="Liberation Sans"/>
                <a:cs typeface="Liberation Sans"/>
              </a:defRPr>
            </a:lvl9pPr>
          </a:lstStyle>
          <a:p xmlns:a="http://schemas.openxmlformats.org/drawingml/2006/main">
            <a:pPr>
              <a:defRPr sz="2775" b="0">
                <a:solidFill>
                  <a:srgbClr val="172C42"/>
                </a:solidFill>
                <a:latin typeface="Liberation Sans"/>
                <a:ea typeface="Liberation Sans"/>
                <a:cs typeface="Liberation Sans"/>
              </a:defRPr>
            </a:pPr>
            <a:r>
              <a:rPr sz="2775" b="0">
                <a:solidFill>
                  <a:srgbClr val="172C42"/>
                </a:solidFill>
                <a:latin typeface="Liberation Sans"/>
                <a:ea typeface="Liberation Sans"/>
                <a:cs typeface="Liberation Sans"/>
              </a:rPr>
              <a:t>Four scores:  0.1    0.2    0.4    0.8</a:t>
            </a:r>
          </a:p>
        </p:txBody>
      </p:sp>
      <p:sp>
        <p:nvSpPr>
          <p:cNvPr id="7" name="">
            <a:extLst xmlns:a="http://schemas.openxmlformats.org/drawingml/2006/main">
              <a:ext uri="{FF2B5EF4-FFF2-40B4-BE49-F238E27FC236}">
                <a16:creationId xmlns:a16="http://schemas.microsoft.com/office/drawing/2014/main" id="{4C2F693C-3C8E-4513-9F37-BEDC870D1689}"/>
              </a:ext>
            </a:extLst>
          </p:cNvPr>
          <p:cNvSpPr>
            <a:spLocks xmlns:a="http://schemas.openxmlformats.org/drawingml/2006/main" noGrp="1"/>
          </p:cNvSpPr>
          <p:nvPr/>
        </p:nvSpPr>
        <p:spPr>
          <a:xfrm xmlns:a="http://schemas.openxmlformats.org/drawingml/2006/main">
            <a:off x="609600" y="44291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72C42"/>
                </a:solidFill>
                <a:latin typeface="Liberation Sans"/>
                <a:ea typeface="Liberation Sans"/>
                <a:cs typeface="Liberation Sans"/>
              </a:defRPr>
            </a:defPPr>
            <a:lvl1pPr>
              <a:defRPr sz="2400" b="0">
                <a:solidFill>
                  <a:srgbClr val="172C42"/>
                </a:solidFill>
                <a:latin typeface="Liberation Sans"/>
                <a:ea typeface="Liberation Sans"/>
                <a:cs typeface="Liberation Sans"/>
              </a:defRPr>
            </a:lvl1pPr>
            <a:lvl2pPr>
              <a:defRPr sz="2400" b="0">
                <a:solidFill>
                  <a:srgbClr val="172C42"/>
                </a:solidFill>
                <a:latin typeface="Liberation Sans"/>
                <a:ea typeface="Liberation Sans"/>
                <a:cs typeface="Liberation Sans"/>
              </a:defRPr>
            </a:lvl2pPr>
            <a:lvl3pPr>
              <a:defRPr sz="2400" b="0">
                <a:solidFill>
                  <a:srgbClr val="172C42"/>
                </a:solidFill>
                <a:latin typeface="Liberation Sans"/>
                <a:ea typeface="Liberation Sans"/>
                <a:cs typeface="Liberation Sans"/>
              </a:defRPr>
            </a:lvl3pPr>
            <a:lvl4pPr>
              <a:defRPr sz="2400" b="0">
                <a:solidFill>
                  <a:srgbClr val="172C42"/>
                </a:solidFill>
                <a:latin typeface="Liberation Sans"/>
                <a:ea typeface="Liberation Sans"/>
                <a:cs typeface="Liberation Sans"/>
              </a:defRPr>
            </a:lvl4pPr>
            <a:lvl5pPr>
              <a:defRPr sz="2400" b="0">
                <a:solidFill>
                  <a:srgbClr val="172C42"/>
                </a:solidFill>
                <a:latin typeface="Liberation Sans"/>
                <a:ea typeface="Liberation Sans"/>
                <a:cs typeface="Liberation Sans"/>
              </a:defRPr>
            </a:lvl5pPr>
            <a:lvl6pPr>
              <a:defRPr sz="2400" b="0">
                <a:solidFill>
                  <a:srgbClr val="172C42"/>
                </a:solidFill>
                <a:latin typeface="Liberation Sans"/>
                <a:ea typeface="Liberation Sans"/>
                <a:cs typeface="Liberation Sans"/>
              </a:defRPr>
            </a:lvl6pPr>
            <a:lvl7pPr>
              <a:defRPr sz="2400" b="0">
                <a:solidFill>
                  <a:srgbClr val="172C42"/>
                </a:solidFill>
                <a:latin typeface="Liberation Sans"/>
                <a:ea typeface="Liberation Sans"/>
                <a:cs typeface="Liberation Sans"/>
              </a:defRPr>
            </a:lvl7pPr>
            <a:lvl8pPr>
              <a:defRPr sz="2400" b="0">
                <a:solidFill>
                  <a:srgbClr val="172C42"/>
                </a:solidFill>
                <a:latin typeface="Liberation Sans"/>
                <a:ea typeface="Liberation Sans"/>
                <a:cs typeface="Liberation Sans"/>
              </a:defRPr>
            </a:lvl8pPr>
            <a:lvl9pPr>
              <a:defRPr sz="2400" b="0">
                <a:solidFill>
                  <a:srgbClr val="172C42"/>
                </a:solidFill>
                <a:latin typeface="Liberation Sans"/>
                <a:ea typeface="Liberation Sans"/>
                <a:cs typeface="Liberation Sans"/>
              </a:defRPr>
            </a:lvl9pPr>
          </a:lstStyle>
          <a:p xmlns:a="http://schemas.openxmlformats.org/drawingml/2006/main">
            <a:pPr>
              <a:defRPr sz="2400" b="0">
                <a:solidFill>
                  <a:srgbClr val="172C42"/>
                </a:solidFill>
                <a:latin typeface="Liberation Sans"/>
                <a:ea typeface="Liberation Sans"/>
                <a:cs typeface="Liberation Sans"/>
              </a:defRPr>
            </a:pPr>
            <a:r>
              <a:rPr sz="2400" b="0">
                <a:solidFill>
                  <a:srgbClr val="172C42"/>
                </a:solidFill>
                <a:latin typeface="Liberation Sans"/>
                <a:ea typeface="Liberation Sans"/>
                <a:cs typeface="Liberation Sans"/>
              </a:rPr>
              <a:t>alpha = 0.2 gives k = 4 and cutoff = 0.8</a:t>
            </a:r>
          </a:p>
        </p:txBody>
      </p:sp>
      <p:sp>
        <p:nvSpPr>
          <p:cNvPr id="8" name="">
            <a:extLst xmlns:a="http://schemas.openxmlformats.org/drawingml/2006/main">
              <a:ext uri="{FF2B5EF4-FFF2-40B4-BE49-F238E27FC236}">
                <a16:creationId xmlns:a16="http://schemas.microsoft.com/office/drawing/2014/main" id="{5D803302-D3D7-48D3-812B-62232030045B}"/>
              </a:ext>
            </a:extLst>
          </p:cNvPr>
          <p:cNvSpPr>
            <a:spLocks xmlns:a="http://schemas.openxmlformats.org/drawingml/2006/main" noGrp="1"/>
          </p:cNvSpPr>
          <p:nvPr/>
        </p:nvSpPr>
        <p:spPr>
          <a:xfrm xmlns:a="http://schemas.openxmlformats.org/drawingml/2006/main">
            <a:off x="609600" y="53816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26A70"/>
                </a:solidFill>
                <a:latin typeface="Liberation Sans"/>
                <a:ea typeface="Liberation Sans"/>
                <a:cs typeface="Liberation Sans"/>
              </a:defRPr>
            </a:defPPr>
            <a:lvl1pPr>
              <a:defRPr sz="2025" b="0">
                <a:solidFill>
                  <a:srgbClr val="626A70"/>
                </a:solidFill>
                <a:latin typeface="Liberation Sans"/>
                <a:ea typeface="Liberation Sans"/>
                <a:cs typeface="Liberation Sans"/>
              </a:defRPr>
            </a:lvl1pPr>
            <a:lvl2pPr>
              <a:defRPr sz="2025" b="0">
                <a:solidFill>
                  <a:srgbClr val="626A70"/>
                </a:solidFill>
                <a:latin typeface="Liberation Sans"/>
                <a:ea typeface="Liberation Sans"/>
                <a:cs typeface="Liberation Sans"/>
              </a:defRPr>
            </a:lvl2pPr>
            <a:lvl3pPr>
              <a:defRPr sz="2025" b="0">
                <a:solidFill>
                  <a:srgbClr val="626A70"/>
                </a:solidFill>
                <a:latin typeface="Liberation Sans"/>
                <a:ea typeface="Liberation Sans"/>
                <a:cs typeface="Liberation Sans"/>
              </a:defRPr>
            </a:lvl3pPr>
            <a:lvl4pPr>
              <a:defRPr sz="2025" b="0">
                <a:solidFill>
                  <a:srgbClr val="626A70"/>
                </a:solidFill>
                <a:latin typeface="Liberation Sans"/>
                <a:ea typeface="Liberation Sans"/>
                <a:cs typeface="Liberation Sans"/>
              </a:defRPr>
            </a:lvl4pPr>
            <a:lvl5pPr>
              <a:defRPr sz="2025" b="0">
                <a:solidFill>
                  <a:srgbClr val="626A70"/>
                </a:solidFill>
                <a:latin typeface="Liberation Sans"/>
                <a:ea typeface="Liberation Sans"/>
                <a:cs typeface="Liberation Sans"/>
              </a:defRPr>
            </a:lvl5pPr>
            <a:lvl6pPr>
              <a:defRPr sz="2025" b="0">
                <a:solidFill>
                  <a:srgbClr val="626A70"/>
                </a:solidFill>
                <a:latin typeface="Liberation Sans"/>
                <a:ea typeface="Liberation Sans"/>
                <a:cs typeface="Liberation Sans"/>
              </a:defRPr>
            </a:lvl6pPr>
            <a:lvl7pPr>
              <a:defRPr sz="2025" b="0">
                <a:solidFill>
                  <a:srgbClr val="626A70"/>
                </a:solidFill>
                <a:latin typeface="Liberation Sans"/>
                <a:ea typeface="Liberation Sans"/>
                <a:cs typeface="Liberation Sans"/>
              </a:defRPr>
            </a:lvl7pPr>
            <a:lvl8pPr>
              <a:defRPr sz="2025" b="0">
                <a:solidFill>
                  <a:srgbClr val="626A70"/>
                </a:solidFill>
                <a:latin typeface="Liberation Sans"/>
                <a:ea typeface="Liberation Sans"/>
                <a:cs typeface="Liberation Sans"/>
              </a:defRPr>
            </a:lvl8pPr>
            <a:lvl9pPr>
              <a:defRPr sz="2025" b="0">
                <a:solidFill>
                  <a:srgbClr val="626A70"/>
                </a:solidFill>
                <a:latin typeface="Liberation Sans"/>
                <a:ea typeface="Liberation Sans"/>
                <a:cs typeface="Liberation Sans"/>
              </a:defRPr>
            </a:lvl9pPr>
          </a:lstStyle>
          <a:p xmlns:a="http://schemas.openxmlformats.org/drawingml/2006/main">
            <a:pPr>
              <a:defRPr sz="2025" b="0">
                <a:solidFill>
                  <a:srgbClr val="626A70"/>
                </a:solidFill>
                <a:latin typeface="Liberation Sans"/>
                <a:ea typeface="Liberation Sans"/>
                <a:cs typeface="Liberation Sans"/>
              </a:defRPr>
            </a:pPr>
            <a:r>
              <a:rPr sz="2025" b="0">
                <a:solidFill>
                  <a:srgbClr val="626A70"/>
                </a:solidFill>
                <a:latin typeface="Liberation Sans"/>
                <a:ea typeface="Liberation Sans"/>
                <a:cs typeface="Liberation Sans"/>
              </a:rPr>
              <a:t>If k exceeds n, the conservative cutoff is infinity.</a:t>
            </a:r>
          </a:p>
        </p:txBody>
      </p:sp>
    </p:spTree>
    <p:extLst>
      <p:ext uri="{BB962C8B-B14F-4D97-AF65-F5344CB8AC3E}">
        <p14:creationId xmlns:p14="http://schemas.microsoft.com/office/powerpoint/2010/main" val="9804819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2026-10-20T13:07:14.6870000Z</dcterms:created>
  <dcterms:modified xsi:type="dcterms:W3CDTF">2026-10-20T13:07:14.6870000Z</dcterms:modified>
</coreProperties>
</file>