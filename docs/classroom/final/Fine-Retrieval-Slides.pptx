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e568a3b6b4871" /><Relationship Type="http://schemas.openxmlformats.org/officeDocument/2006/relationships/extended-properties" Target="/docProps/app.xml" Id="R7d92936a96d846c8" /><Relationship Type="http://schemas.openxmlformats.org/officeDocument/2006/relationships/officeDocument" Target="/ppt/presentation.xml" Id="R5ed4f56f0d9f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55788002948c2"/>
  </p:sldMasterIdLst>
  <p:notesMasterIdLst>
    <p:notesMasterId xmlns:r="http://schemas.openxmlformats.org/officeDocument/2006/relationships" r:id="Rbfe1d7d7b3df42a8"/>
  </p:notesMasterIdLst>
  <p:sldIdLst>
    <p:sldId xmlns:r="http://schemas.openxmlformats.org/officeDocument/2006/relationships" id="256" r:id="R7a55187449044872"/>
    <p:sldId xmlns:r="http://schemas.openxmlformats.org/officeDocument/2006/relationships" id="257" r:id="R0030e42aa6904a83"/>
    <p:sldId xmlns:r="http://schemas.openxmlformats.org/officeDocument/2006/relationships" id="258" r:id="Rd88c9c249d274348"/>
    <p:sldId xmlns:r="http://schemas.openxmlformats.org/officeDocument/2006/relationships" id="259" r:id="Rb3567897d4644b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8022793ee4da2" /><Relationship Type="http://schemas.openxmlformats.org/officeDocument/2006/relationships/slideMaster" Target="/ppt/slideMasters/slideMaster1.xml" Id="R81455788002948c2" /><Relationship Type="http://schemas.openxmlformats.org/officeDocument/2006/relationships/notesMaster" Target="/ppt/notesMasters/notesMaster1.xml" Id="Rbfe1d7d7b3df42a8" /><Relationship Type="http://schemas.openxmlformats.org/officeDocument/2006/relationships/presProps" Target="/ppt/presProps.xml" Id="Raa4c5629871a4f67" /><Relationship Type="http://schemas.openxmlformats.org/officeDocument/2006/relationships/tableStyles" Target="/ppt/tableStyles.xml" Id="Rf52f9bd9295a4b60" /><Relationship Type="http://schemas.openxmlformats.org/officeDocument/2006/relationships/slide" Target="/ppt/slides/slide1.xml" Id="R7a55187449044872" /><Relationship Type="http://schemas.openxmlformats.org/officeDocument/2006/relationships/slide" Target="/ppt/slides/slide2.xml" Id="R0030e42aa6904a83" /><Relationship Type="http://schemas.openxmlformats.org/officeDocument/2006/relationships/slide" Target="/ppt/slides/slide3.xml" Id="Rd88c9c249d274348" /><Relationship Type="http://schemas.openxmlformats.org/officeDocument/2006/relationships/slide" Target="/ppt/slides/slide4.xml" Id="Rb3567897d464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316c592aa4d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2f06575454af1" /><Relationship Type="http://schemas.openxmlformats.org/officeDocument/2006/relationships/notesMaster" Target="/ppt/notesMasters/notesMaster1.xml" Id="R0ed94542b799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2e115ce22418b" /><Relationship Type="http://schemas.openxmlformats.org/officeDocument/2006/relationships/notesMaster" Target="/ppt/notesMasters/notesMaster1.xml" Id="R5540c9fa212f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0baea42ce400a" /><Relationship Type="http://schemas.openxmlformats.org/officeDocument/2006/relationships/notesMaster" Target="/ppt/notesMasters/notesMaster1.xml" Id="R1a20703ac1aa43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681a5b73934c66" /><Relationship Type="http://schemas.openxmlformats.org/officeDocument/2006/relationships/notesMaster" Target="/ppt/notesMasters/notesMaster1.xml" Id="R8a28cfe4ccb2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Earlier classifiers return one of300 centroids. L10 instead searches15939 training photos and returns the matched photo coordinate. Some reference coordinates may be repeated. No arbitrary GPS regression or outside-region rejection is claimed. Source: https://github.com/Prajwal-k-tech/KPlaceNet/blob/main/src/fine_inference.py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Resize short edge256, center crop224 and ImageNet normalization. L2 normalize each descriptor; concatenate sqrt(.5) times each. Cosine is the equally weighted encoder cosine. Top1 supplies its stored coordinate. ResNet2048 plus DINO384 gives2432 dimensions. DINO-only did not beat the prior validation baseline; equal mixture k1 won the six-recipe precision-first comparison. No end-to-end DINO fine-tuning was performed. Sources: https://github.com/facebookresearch/dinov2 and repository scripts/evaluate_l10_precision.py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L7:191/357within25km(53.50%),median21.844km,within5km30/357(8.40%). L10:225/357within25km(63.025%),median15.9205km,within5km62/357(17.367%). L10 selected on validation within5km with25km guardrail; evaluated test after selection. Test already used across experiments, not fresh confirmation. None within1km because every test coordinate lies over1km from original reference bank. Source: https://github.com/Prajwal-k-tech/KPlaceNet/blob/main/docs/results/fine_deployment_20261021/verification.json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Panoramax936candidates -&gt;789uniqueencoded; first144reviewed contain menus, indoor views and repeated frames.118outdoorcandidates -&gt;24spatiallyexcluded/thinnednewreferences; validation unchanged so not promoted. Raw photos streamed in memory, no full-image archive retained. ETH/Google combines ground prototypes with aerial embeddings and fine S2 codes, unlike our two-ground-encoder reference search. We have not reproduced or surpassed ETH. Need new routes, independent route/date evaluation, appropriate aerial imagery and local verification. Sources: https://docs.panoramax.fr/ and https://scaling-geoloc.github.io/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a34143c4546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fbddb0f4845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06c900af54d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387e2d2044e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d05e9a5824a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47ac0eb38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DAFF34-8ECB-4D5D-B092-A3B985EF1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EFC51D-58E1-4D33-827E-B0510EFF19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B4F3B6-1257-40B2-B9E6-C1FD5514B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342E65-047C-4DDA-BFD2-58C183774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408B5C-8A01-40EA-BB90-DB713C1FB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0DC606-8D5E-4043-9A51-4D1DBFBB3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29B60-C92A-44D2-A2E5-D6ABCFDA10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9A770D-1698-46E9-9B82-6EFF929F70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FC948B-5272-4D25-8EC4-5BA0F0D53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707142-7B23-49DC-ABEC-74BB810746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1af21e63394795" /><Relationship Type="http://schemas.openxmlformats.org/officeDocument/2006/relationships/slideLayout" Target="/ppt/slideLayouts/slideLayout1.xml" Id="Rd27845bbc7ae40ff" /><Relationship Type="http://schemas.openxmlformats.org/officeDocument/2006/relationships/slideLayout" Target="/ppt/slideLayouts/slideLayout2.xml" Id="R4557d76e33ab4bb9" /><Relationship Type="http://schemas.openxmlformats.org/officeDocument/2006/relationships/slideLayout" Target="/ppt/slideLayouts/slideLayout3.xml" Id="Rc98e4ac278e64e42" /><Relationship Type="http://schemas.openxmlformats.org/officeDocument/2006/relationships/slideLayout" Target="/ppt/slideLayouts/slideLayout4.xml" Id="Ra07fd7c58e84404a" /><Relationship Type="http://schemas.openxmlformats.org/officeDocument/2006/relationships/slideLayout" Target="/ppt/slideLayouts/slideLayout5.xml" Id="Raa49082a9a774761" /><Relationship Type="http://schemas.openxmlformats.org/officeDocument/2006/relationships/slideLayout" Target="/ppt/slideLayouts/slideLayout6.xml" Id="R6c5a5d209ed64e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7845bbc7ae40ff"/>
    <p:sldLayoutId xmlns:r="http://schemas.openxmlformats.org/officeDocument/2006/relationships" id="2147483650" r:id="R4557d76e33ab4bb9"/>
    <p:sldLayoutId xmlns:r="http://schemas.openxmlformats.org/officeDocument/2006/relationships" id="2147483651" r:id="Rc98e4ac278e64e42"/>
    <p:sldLayoutId xmlns:r="http://schemas.openxmlformats.org/officeDocument/2006/relationships" id="2147483652" r:id="Ra07fd7c58e84404a"/>
    <p:sldLayoutId xmlns:r="http://schemas.openxmlformats.org/officeDocument/2006/relationships" id="2147483653" r:id="Raa49082a9a774761"/>
    <p:sldLayoutId xmlns:r="http://schemas.openxmlformats.org/officeDocument/2006/relationships" id="2147483654" r:id="R6c5a5d209ed64e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bd5e195e54d61" /><Relationship Type="http://schemas.openxmlformats.org/officeDocument/2006/relationships/notesSlide" Target="/ppt/notesSlides/notesSlide1.xml" Id="R9e7645fab75c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370e675b44a8c" /><Relationship Type="http://schemas.openxmlformats.org/officeDocument/2006/relationships/notesSlide" Target="/ppt/notesSlides/notesSlide2.xml" Id="R0f62e46c602d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9f10004184d47" /><Relationship Type="http://schemas.openxmlformats.org/officeDocument/2006/relationships/chart" Target="/ppt/slides/charts/chart1.xml" Id="R00cdd53f72484622" /><Relationship Type="http://schemas.openxmlformats.org/officeDocument/2006/relationships/notesSlide" Target="/ppt/notesSlides/notesSlide3.xml" Id="R8a955561cb17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5c0e859b947c3" /><Relationship Type="http://schemas.openxmlformats.org/officeDocument/2006/relationships/notesSlide" Target="/ppt/notesSlides/notesSlide4.xml" Id="R4cfa184c222a4a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Fraction</c:v>
          </c:tx>
          <c:spPr>
            <a:solidFill xmlns:a="http://schemas.openxmlformats.org/drawingml/2006/main">
              <a:srgbClr val="172C4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2C4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5663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L7 cells + KNN</c:v>
                </c:pt>
                <c:pt idx="1">
                  <c:v>L10 fine retrieval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0.535</c:v>
                </c:pt>
                <c:pt idx="1">
                  <c:v>0.6303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172C42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0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0C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1E8"/>
        </a:solidFill>
      </c:spPr>
    </c:plotArea>
    <c:plotVisOnly val="1"/>
  </c:chart>
  <c:spPr>
    <a:solidFill xmlns:a="http://schemas.openxmlformats.org/drawingml/2006/main">
      <a:srgbClr val="F5F1E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FBA56-FAE1-4377-98B2-013AF68B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Fine retrieval removes the 300-center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ED32D-1D56-472B-B350-88EBBE7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784A8-207D-4DF0-A6D2-C216567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Current L10 deployment / 21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70E8A-1471-48DF-B006-009ADF36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03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8E4E-98C6-4E4D-8508-D758043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025" b="1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300 centers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056D3-1208-4405-959F-EDDE2159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52675"/>
            <a:ext cx="12382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66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C915A-E94B-4B99-87D1-B10B4DB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rPr>
              <a:t>15,939 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9B633-3C65-4DAA-BE82-93F4D590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Return the matched training photograph’s coordinate.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CF88F-C6E1-4215-9EB2-894A661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Finer output positions still need relevant geographic coverage.</a:t>
            </a:r>
          </a:p>
        </p:txBody>
      </p:sp>
    </p:spTree>
    <p:extLst>
      <p:ext uri="{BB962C8B-B14F-4D97-AF65-F5344CB8AC3E}">
        <p14:creationId xmlns:p14="http://schemas.microsoft.com/office/powerpoint/2010/main" val="1846168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7A6CF-B6AF-427E-A308-97BA0F49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Two encoders describe the same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329C-1088-4888-8FEC-67CA298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1F265-FCC4-4F38-82BF-4BD2D52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Frozen encoders / equal-weight cosine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A086-A6F2-4A60-BA99-C293E86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03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1BB0B-42F5-4B97-AA8E-D895CF03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ResNet-50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A8D5A-A183-4E09-8399-7C3BA448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2,048 geographic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598C-48E2-4372-B4D4-6F28F65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DINOv2 ViT-S/14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911C5-04D4-44E0-A585-F8F429C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384 visual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BA74B-6324-48D4-8F4A-E7ED8A2B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41AB-1EA7-4BF3-A0E5-D261ECBA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Normalize → equal mixture → nearest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3B177-69FB-4BDF-9339-0717A68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Cosine similarity measures appearance, not probability.</a:t>
            </a:r>
          </a:p>
        </p:txBody>
      </p:sp>
    </p:spTree>
    <p:extLst>
      <p:ext uri="{BB962C8B-B14F-4D97-AF65-F5344CB8AC3E}">
        <p14:creationId xmlns:p14="http://schemas.microsoft.com/office/powerpoint/2010/main" val="1546679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F44F1-A164-4391-ABF9-361F04C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More queries localize within 25 km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9D41-A2FB-4C4C-B478-29B6335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AA353-111C-4DBF-8C4E-558091B6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Reused official benchmark:357 queries / exploratory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FBD2-97CE-4F93-9BEA-BB513F68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03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E377B49-15D7-4036-8F41-72E58B471FC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096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dd53f724846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EA939-3CC9-4988-A911-327CFFF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rPr>
              <a:t>15.9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21FD-36CB-49D3-A435-231F97B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median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FE6CA-3F96-46E7-AA75-84AE9748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17.4% within 5 km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357DB-0448-4DF7-84F2-1FD9CE0B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This is not street-address accuracy.</a:t>
            </a:r>
          </a:p>
        </p:txBody>
      </p:sp>
    </p:spTree>
    <p:extLst>
      <p:ext uri="{BB962C8B-B14F-4D97-AF65-F5344CB8AC3E}">
        <p14:creationId xmlns:p14="http://schemas.microsoft.com/office/powerpoint/2010/main" val="716672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74A1F-3825-43F0-BB01-DC72FEF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Coverage is the next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8A809-83DC-45E6-B662-6176985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96508-2646-4462-B867-E7C78A2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Sources: Panoramax review; ETH/Google Scaling Geo-Localization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CEBB6-0458-4961-B787-0986FAEA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03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626A70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AD0E5-7DE2-4A7C-83A7-909B76A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75" b="1">
                <a:solidFill>
                  <a:srgbClr val="D5663F"/>
                </a:solidFill>
                <a:latin typeface="Liberation Sans"/>
                <a:ea typeface="Liberation Sans"/>
                <a:cs typeface="Liberation Sans"/>
              </a:rPr>
              <a:t>789 new images encoded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F075F-5CB7-4169-92CE-9DEF46B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Reviewed expansion did not improve validation.</a:t>
            </a:r>
          </a:p>
          <a:p xmlns:a="http://schemas.openxmlformats.org/drawingml/2006/main">
            <a:pPr>
              <a:def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It stays outside the deployed reference bank.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BCDB-7752-4179-AFA2-265678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179D2-CD1A-47BC-A64E-A3B8F0C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ETH: ground prototypes + aerial embeddings</a:t>
            </a:r>
          </a:p>
          <a:p xmlns:a="http://schemas.openxmlformats.org/drawingml/2006/main">
            <a:pPr>
              <a:def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172C42"/>
                </a:solidFill>
                <a:latin typeface="Liberation Sans"/>
                <a:ea typeface="Liberation Sans"/>
                <a:cs typeface="Liberation Sans"/>
              </a:rPr>
              <a:t>Ours: two ground-image encoders</a:t>
            </a:r>
          </a:p>
        </p:txBody>
      </p:sp>
    </p:spTree>
    <p:extLst>
      <p:ext uri="{BB962C8B-B14F-4D97-AF65-F5344CB8AC3E}">
        <p14:creationId xmlns:p14="http://schemas.microsoft.com/office/powerpoint/2010/main" val="1963713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2026-10-20T19:00:55.6690000Z</dcterms:created>
  <dcterms:modified xsi:type="dcterms:W3CDTF">2026-10-20T19:00:55.6690000Z</dcterms:modified>
</coreProperties>
</file>